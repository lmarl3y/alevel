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78" r:id="rId4"/>
    <p:sldId id="258" r:id="rId5"/>
    <p:sldId id="269" r:id="rId6"/>
    <p:sldId id="259" r:id="rId7"/>
    <p:sldId id="260" r:id="rId8"/>
    <p:sldId id="261" r:id="rId9"/>
    <p:sldId id="262" r:id="rId10"/>
    <p:sldId id="263" r:id="rId11"/>
    <p:sldId id="282" r:id="rId12"/>
    <p:sldId id="283" r:id="rId13"/>
    <p:sldId id="285" r:id="rId14"/>
    <p:sldId id="286" r:id="rId15"/>
    <p:sldId id="264" r:id="rId16"/>
    <p:sldId id="265" r:id="rId17"/>
    <p:sldId id="324" r:id="rId18"/>
    <p:sldId id="266" r:id="rId19"/>
    <p:sldId id="267" r:id="rId20"/>
    <p:sldId id="268" r:id="rId21"/>
    <p:sldId id="270" r:id="rId22"/>
    <p:sldId id="288" r:id="rId23"/>
    <p:sldId id="322" r:id="rId24"/>
    <p:sldId id="319" r:id="rId25"/>
    <p:sldId id="273" r:id="rId26"/>
    <p:sldId id="287" r:id="rId27"/>
    <p:sldId id="289" r:id="rId28"/>
    <p:sldId id="290" r:id="rId29"/>
    <p:sldId id="275" r:id="rId30"/>
    <p:sldId id="291" r:id="rId31"/>
    <p:sldId id="323" r:id="rId32"/>
    <p:sldId id="321" r:id="rId33"/>
    <p:sldId id="328" r:id="rId34"/>
    <p:sldId id="329" r:id="rId35"/>
    <p:sldId id="330" r:id="rId36"/>
    <p:sldId id="331" r:id="rId37"/>
    <p:sldId id="332" r:id="rId38"/>
    <p:sldId id="326" r:id="rId39"/>
    <p:sldId id="327" r:id="rId40"/>
    <p:sldId id="272" r:id="rId41"/>
    <p:sldId id="276" r:id="rId42"/>
    <p:sldId id="277" r:id="rId43"/>
    <p:sldId id="292" r:id="rId44"/>
    <p:sldId id="293" r:id="rId45"/>
    <p:sldId id="294" r:id="rId46"/>
    <p:sldId id="320" r:id="rId47"/>
    <p:sldId id="325" r:id="rId48"/>
    <p:sldId id="335" r:id="rId49"/>
    <p:sldId id="336" r:id="rId50"/>
    <p:sldId id="337" r:id="rId51"/>
    <p:sldId id="338" r:id="rId52"/>
    <p:sldId id="333" r:id="rId53"/>
    <p:sldId id="339" r:id="rId54"/>
    <p:sldId id="295" r:id="rId55"/>
    <p:sldId id="298" r:id="rId56"/>
    <p:sldId id="309" r:id="rId57"/>
    <p:sldId id="299" r:id="rId58"/>
    <p:sldId id="310" r:id="rId59"/>
    <p:sldId id="300" r:id="rId60"/>
    <p:sldId id="311" r:id="rId61"/>
    <p:sldId id="301" r:id="rId62"/>
    <p:sldId id="313" r:id="rId63"/>
    <p:sldId id="312" r:id="rId64"/>
    <p:sldId id="302" r:id="rId65"/>
    <p:sldId id="303" r:id="rId66"/>
    <p:sldId id="304" r:id="rId67"/>
    <p:sldId id="305" r:id="rId68"/>
    <p:sldId id="306"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2" d="100"/>
          <a:sy n="42" d="100"/>
        </p:scale>
        <p:origin x="60" y="5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099EF711-F684-442D-BA31-57F3A41D64C7}" type="datetimeFigureOut">
              <a:rPr lang="en-GB" smtClean="0"/>
              <a:t>09/09/2025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48F9505-BAE7-4602-B0EB-8B8394B09BF3}"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6753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9EF711-F684-442D-BA31-57F3A41D64C7}" type="datetimeFigureOut">
              <a:rPr lang="en-GB" smtClean="0"/>
              <a:t>09/09/2025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48F9505-BAE7-4602-B0EB-8B8394B09BF3}" type="slidenum">
              <a:rPr lang="en-GB" smtClean="0"/>
              <a:t>‹#›</a:t>
            </a:fld>
            <a:endParaRPr lang="en-GB"/>
          </a:p>
        </p:txBody>
      </p:sp>
    </p:spTree>
    <p:extLst>
      <p:ext uri="{BB962C8B-B14F-4D97-AF65-F5344CB8AC3E}">
        <p14:creationId xmlns:p14="http://schemas.microsoft.com/office/powerpoint/2010/main" val="3142852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9EF711-F684-442D-BA31-57F3A41D64C7}" type="datetimeFigureOut">
              <a:rPr lang="en-GB" smtClean="0"/>
              <a:t>09/09/2025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48F9505-BAE7-4602-B0EB-8B8394B09BF3}"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3242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9EF711-F684-442D-BA31-57F3A41D64C7}" type="datetimeFigureOut">
              <a:rPr lang="en-GB" smtClean="0"/>
              <a:t>09/09/2025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48F9505-BAE7-4602-B0EB-8B8394B09BF3}" type="slidenum">
              <a:rPr lang="en-GB" smtClean="0"/>
              <a:t>‹#›</a:t>
            </a:fld>
            <a:endParaRPr lang="en-GB"/>
          </a:p>
        </p:txBody>
      </p:sp>
    </p:spTree>
    <p:extLst>
      <p:ext uri="{BB962C8B-B14F-4D97-AF65-F5344CB8AC3E}">
        <p14:creationId xmlns:p14="http://schemas.microsoft.com/office/powerpoint/2010/main" val="3083203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9EF711-F684-442D-BA31-57F3A41D64C7}" type="datetimeFigureOut">
              <a:rPr lang="en-GB" smtClean="0"/>
              <a:t>09/09/2025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748F9505-BAE7-4602-B0EB-8B8394B09BF3}" type="slidenum">
              <a:rPr lang="en-GB" smtClean="0"/>
              <a:t>‹#›</a:t>
            </a:fld>
            <a:endParaRPr lang="en-GB"/>
          </a:p>
        </p:txBody>
      </p:sp>
    </p:spTree>
    <p:extLst>
      <p:ext uri="{BB962C8B-B14F-4D97-AF65-F5344CB8AC3E}">
        <p14:creationId xmlns:p14="http://schemas.microsoft.com/office/powerpoint/2010/main" val="3427253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9EF711-F684-442D-BA31-57F3A41D64C7}" type="datetimeFigureOut">
              <a:rPr lang="en-GB" smtClean="0"/>
              <a:t>09/09/2025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748F9505-BAE7-4602-B0EB-8B8394B09BF3}" type="slidenum">
              <a:rPr lang="en-GB" smtClean="0"/>
              <a:t>‹#›</a:t>
            </a:fld>
            <a:endParaRPr lang="en-GB"/>
          </a:p>
        </p:txBody>
      </p:sp>
    </p:spTree>
    <p:extLst>
      <p:ext uri="{BB962C8B-B14F-4D97-AF65-F5344CB8AC3E}">
        <p14:creationId xmlns:p14="http://schemas.microsoft.com/office/powerpoint/2010/main" val="95375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9EF711-F684-442D-BA31-57F3A41D64C7}" type="datetimeFigureOut">
              <a:rPr lang="en-GB" smtClean="0"/>
              <a:t>09/09/2025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48F9505-BAE7-4602-B0EB-8B8394B09BF3}" type="slidenum">
              <a:rPr lang="en-GB" smtClean="0"/>
              <a:t>‹#›</a:t>
            </a:fld>
            <a:endParaRPr lang="en-GB"/>
          </a:p>
        </p:txBody>
      </p:sp>
    </p:spTree>
    <p:extLst>
      <p:ext uri="{BB962C8B-B14F-4D97-AF65-F5344CB8AC3E}">
        <p14:creationId xmlns:p14="http://schemas.microsoft.com/office/powerpoint/2010/main" val="2989592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9EF711-F684-442D-BA31-57F3A41D64C7}" type="datetimeFigureOut">
              <a:rPr lang="en-GB" smtClean="0"/>
              <a:t>09/09/2025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48F9505-BAE7-4602-B0EB-8B8394B09BF3}" type="slidenum">
              <a:rPr lang="en-GB" smtClean="0"/>
              <a:t>‹#›</a:t>
            </a:fld>
            <a:endParaRPr lang="en-GB"/>
          </a:p>
        </p:txBody>
      </p:sp>
    </p:spTree>
    <p:extLst>
      <p:ext uri="{BB962C8B-B14F-4D97-AF65-F5344CB8AC3E}">
        <p14:creationId xmlns:p14="http://schemas.microsoft.com/office/powerpoint/2010/main" val="1981593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9EF711-F684-442D-BA31-57F3A41D64C7}" type="datetimeFigureOut">
              <a:rPr lang="en-GB" smtClean="0"/>
              <a:t>09/09/2025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748F9505-BAE7-4602-B0EB-8B8394B09BF3}" type="slidenum">
              <a:rPr lang="en-GB" smtClean="0"/>
              <a:t>‹#›</a:t>
            </a:fld>
            <a:endParaRPr lang="en-GB"/>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4012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9EF711-F684-442D-BA31-57F3A41D64C7}" type="datetimeFigureOut">
              <a:rPr lang="en-GB" smtClean="0"/>
              <a:t>09/09/2025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48F9505-BAE7-4602-B0EB-8B8394B09BF3}" type="slidenum">
              <a:rPr lang="en-GB" smtClean="0"/>
              <a:t>‹#›</a:t>
            </a:fld>
            <a:endParaRPr lang="en-GB"/>
          </a:p>
        </p:txBody>
      </p:sp>
    </p:spTree>
    <p:extLst>
      <p:ext uri="{BB962C8B-B14F-4D97-AF65-F5344CB8AC3E}">
        <p14:creationId xmlns:p14="http://schemas.microsoft.com/office/powerpoint/2010/main" val="3394093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9EF711-F684-442D-BA31-57F3A41D64C7}" type="datetimeFigureOut">
              <a:rPr lang="en-GB" smtClean="0"/>
              <a:t>09/09/2025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748F9505-BAE7-4602-B0EB-8B8394B09BF3}" type="slidenum">
              <a:rPr lang="en-GB" smtClean="0"/>
              <a:t>‹#›</a:t>
            </a:fld>
            <a:endParaRPr lang="en-GB"/>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43142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99EF711-F684-442D-BA31-57F3A41D64C7}" type="datetimeFigureOut">
              <a:rPr lang="en-GB" smtClean="0"/>
              <a:t>09/09/2025</a:t>
            </a:fld>
            <a:endParaRPr lang="en-GB"/>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GB"/>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48F9505-BAE7-4602-B0EB-8B8394B09BF3}" type="slidenum">
              <a:rPr lang="en-GB" smtClean="0"/>
              <a:t>‹#›</a:t>
            </a:fld>
            <a:endParaRPr lang="en-GB"/>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9682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www.w3resource.com/python/python-data-type.ph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4.1.1.1 Data types</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2497136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Specification</a:t>
            </a:r>
          </a:p>
        </p:txBody>
      </p:sp>
      <p:pic>
        <p:nvPicPr>
          <p:cNvPr id="4" name="Picture 3"/>
          <p:cNvPicPr>
            <a:picLocks noChangeAspect="1"/>
          </p:cNvPicPr>
          <p:nvPr/>
        </p:nvPicPr>
        <p:blipFill>
          <a:blip r:embed="rId2"/>
          <a:stretch>
            <a:fillRect/>
          </a:stretch>
        </p:blipFill>
        <p:spPr>
          <a:xfrm>
            <a:off x="926794" y="1989519"/>
            <a:ext cx="7848600" cy="4619625"/>
          </a:xfrm>
          <a:prstGeom prst="rect">
            <a:avLst/>
          </a:prstGeom>
        </p:spPr>
      </p:pic>
    </p:spTree>
    <p:extLst>
      <p:ext uri="{BB962C8B-B14F-4D97-AF65-F5344CB8AC3E}">
        <p14:creationId xmlns:p14="http://schemas.microsoft.com/office/powerpoint/2010/main" val="413949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Learning objectives</a:t>
            </a: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
            </a:pPr>
            <a:r>
              <a:rPr lang="en-GB" dirty="0"/>
              <a:t>To understand the different data types: </a:t>
            </a:r>
          </a:p>
          <a:p>
            <a:pPr lvl="1">
              <a:buFont typeface="Wingdings" panose="05000000000000000000" pitchFamily="2" charset="2"/>
              <a:buChar char="§"/>
            </a:pPr>
            <a:r>
              <a:rPr lang="en-GB" dirty="0"/>
              <a:t>Integer</a:t>
            </a:r>
          </a:p>
          <a:p>
            <a:pPr lvl="1">
              <a:buFont typeface="Wingdings" panose="05000000000000000000" pitchFamily="2" charset="2"/>
              <a:buChar char="§"/>
            </a:pPr>
            <a:r>
              <a:rPr lang="en-GB" dirty="0"/>
              <a:t>Real/float</a:t>
            </a:r>
          </a:p>
          <a:p>
            <a:pPr lvl="1">
              <a:buFont typeface="Wingdings" panose="05000000000000000000" pitchFamily="2" charset="2"/>
              <a:buChar char="§"/>
            </a:pPr>
            <a:r>
              <a:rPr lang="en-GB" dirty="0"/>
              <a:t>Boolean</a:t>
            </a:r>
          </a:p>
          <a:p>
            <a:pPr lvl="1">
              <a:buFont typeface="Wingdings" panose="05000000000000000000" pitchFamily="2" charset="2"/>
              <a:buChar char="§"/>
            </a:pPr>
            <a:r>
              <a:rPr lang="en-GB" dirty="0"/>
              <a:t>Character</a:t>
            </a:r>
          </a:p>
          <a:p>
            <a:pPr lvl="1">
              <a:buFont typeface="Wingdings" panose="05000000000000000000" pitchFamily="2" charset="2"/>
              <a:buChar char="§"/>
            </a:pPr>
            <a:r>
              <a:rPr lang="en-GB" dirty="0"/>
              <a:t>String</a:t>
            </a:r>
          </a:p>
          <a:p>
            <a:pPr lvl="1">
              <a:buFont typeface="Wingdings" panose="05000000000000000000" pitchFamily="2" charset="2"/>
              <a:buChar char="§"/>
            </a:pPr>
            <a:r>
              <a:rPr lang="en-GB" dirty="0"/>
              <a:t>Date/time</a:t>
            </a:r>
          </a:p>
          <a:p>
            <a:pPr lvl="1">
              <a:buFont typeface="Wingdings" panose="05000000000000000000" pitchFamily="2" charset="2"/>
              <a:buChar char="§"/>
            </a:pPr>
            <a:r>
              <a:rPr lang="en-GB" dirty="0"/>
              <a:t>Pointer/reference</a:t>
            </a:r>
          </a:p>
          <a:p>
            <a:pPr lvl="1">
              <a:buFont typeface="Wingdings" panose="05000000000000000000" pitchFamily="2" charset="2"/>
              <a:buChar char="§"/>
            </a:pPr>
            <a:r>
              <a:rPr lang="en-GB" dirty="0"/>
              <a:t>Records (or equivalent)</a:t>
            </a:r>
          </a:p>
          <a:p>
            <a:pPr lvl="1">
              <a:buFont typeface="Wingdings" panose="05000000000000000000" pitchFamily="2" charset="2"/>
              <a:buChar char="§"/>
            </a:pPr>
            <a:r>
              <a:rPr lang="en-GB" dirty="0"/>
              <a:t>Arrays (or equivalent)</a:t>
            </a:r>
          </a:p>
          <a:p>
            <a:pPr>
              <a:buFont typeface="Wingdings" panose="05000000000000000000" pitchFamily="2" charset="2"/>
              <a:buChar char="§"/>
            </a:pPr>
            <a:r>
              <a:rPr lang="en-GB" dirty="0"/>
              <a:t>To be able to program all of the above data types.                                                                 </a:t>
            </a:r>
          </a:p>
          <a:p>
            <a:pPr>
              <a:buFont typeface="Wingdings" panose="05000000000000000000" pitchFamily="2" charset="2"/>
              <a:buChar char="§"/>
            </a:pPr>
            <a:r>
              <a:rPr lang="en-GB" dirty="0"/>
              <a:t>To know when to use each of the above data types. </a:t>
            </a:r>
          </a:p>
        </p:txBody>
      </p:sp>
    </p:spTree>
    <p:extLst>
      <p:ext uri="{BB962C8B-B14F-4D97-AF65-F5344CB8AC3E}">
        <p14:creationId xmlns:p14="http://schemas.microsoft.com/office/powerpoint/2010/main" val="1257361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Do now:</a:t>
            </a:r>
            <a:br>
              <a:rPr lang="en-GB"/>
            </a:br>
            <a:r>
              <a:rPr lang="en-GB"/>
              <a:t>Data </a:t>
            </a:r>
            <a:r>
              <a:rPr lang="en-GB" dirty="0"/>
              <a:t>types</a:t>
            </a:r>
          </a:p>
        </p:txBody>
      </p:sp>
      <p:sp>
        <p:nvSpPr>
          <p:cNvPr id="3" name="Content Placeholder 2"/>
          <p:cNvSpPr>
            <a:spLocks noGrp="1"/>
          </p:cNvSpPr>
          <p:nvPr>
            <p:ph idx="1"/>
          </p:nvPr>
        </p:nvSpPr>
        <p:spPr/>
        <p:txBody>
          <a:bodyPr>
            <a:normAutofit/>
          </a:bodyPr>
          <a:lstStyle/>
          <a:p>
            <a:pPr marL="0" indent="0" algn="ctr">
              <a:buNone/>
            </a:pPr>
            <a:endParaRPr lang="en-GB" sz="3200"/>
          </a:p>
          <a:p>
            <a:pPr marL="0" indent="0" algn="ctr">
              <a:buNone/>
            </a:pPr>
            <a:r>
              <a:rPr lang="en-GB" sz="3200"/>
              <a:t>What data types do you remember from GCSE programming?</a:t>
            </a:r>
            <a:endParaRPr lang="en-GB" sz="3200" dirty="0"/>
          </a:p>
        </p:txBody>
      </p:sp>
    </p:spTree>
    <p:extLst>
      <p:ext uri="{BB962C8B-B14F-4D97-AF65-F5344CB8AC3E}">
        <p14:creationId xmlns:p14="http://schemas.microsoft.com/office/powerpoint/2010/main" val="569156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types – your one note</a:t>
            </a:r>
          </a:p>
        </p:txBody>
      </p:sp>
      <p:graphicFrame>
        <p:nvGraphicFramePr>
          <p:cNvPr id="4" name="Table 3"/>
          <p:cNvGraphicFramePr>
            <a:graphicFrameLocks noGrp="1"/>
          </p:cNvGraphicFramePr>
          <p:nvPr>
            <p:extLst>
              <p:ext uri="{D42A27DB-BD31-4B8C-83A1-F6EECF244321}">
                <p14:modId xmlns:p14="http://schemas.microsoft.com/office/powerpoint/2010/main" val="1758726763"/>
              </p:ext>
            </p:extLst>
          </p:nvPr>
        </p:nvGraphicFramePr>
        <p:xfrm>
          <a:off x="924787" y="2316253"/>
          <a:ext cx="9720072" cy="3095199"/>
        </p:xfrm>
        <a:graphic>
          <a:graphicData uri="http://schemas.openxmlformats.org/drawingml/2006/table">
            <a:tbl>
              <a:tblPr/>
              <a:tblGrid>
                <a:gridCol w="3240024">
                  <a:extLst>
                    <a:ext uri="{9D8B030D-6E8A-4147-A177-3AD203B41FA5}">
                      <a16:colId xmlns:a16="http://schemas.microsoft.com/office/drawing/2014/main" val="20000"/>
                    </a:ext>
                  </a:extLst>
                </a:gridCol>
                <a:gridCol w="3240024">
                  <a:extLst>
                    <a:ext uri="{9D8B030D-6E8A-4147-A177-3AD203B41FA5}">
                      <a16:colId xmlns:a16="http://schemas.microsoft.com/office/drawing/2014/main" val="20001"/>
                    </a:ext>
                  </a:extLst>
                </a:gridCol>
                <a:gridCol w="3240024">
                  <a:extLst>
                    <a:ext uri="{9D8B030D-6E8A-4147-A177-3AD203B41FA5}">
                      <a16:colId xmlns:a16="http://schemas.microsoft.com/office/drawing/2014/main" val="20003"/>
                    </a:ext>
                  </a:extLst>
                </a:gridCol>
              </a:tblGrid>
              <a:tr h="343911">
                <a:tc>
                  <a:txBody>
                    <a:bodyPr/>
                    <a:lstStyle/>
                    <a:p>
                      <a:pPr algn="l" rtl="0" fontAlgn="base"/>
                      <a:r>
                        <a:rPr lang="en-US" sz="1600" b="1" i="0" dirty="0">
                          <a:solidFill>
                            <a:srgbClr val="C00000"/>
                          </a:solidFill>
                          <a:effectLst/>
                          <a:latin typeface="Calibri" panose="020F0502020204030204" pitchFamily="34" charset="0"/>
                        </a:rPr>
                        <a:t>Key term</a:t>
                      </a:r>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1" i="0" dirty="0">
                          <a:solidFill>
                            <a:srgbClr val="C00000"/>
                          </a:solidFill>
                          <a:effectLst/>
                          <a:latin typeface="Calibri" panose="020F0502020204030204" pitchFamily="34" charset="0"/>
                        </a:rPr>
                        <a:t>Explanation</a:t>
                      </a:r>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1" i="0" dirty="0">
                          <a:solidFill>
                            <a:srgbClr val="C00000"/>
                          </a:solidFill>
                          <a:effectLst/>
                          <a:latin typeface="Calibri" panose="020F0502020204030204" pitchFamily="34" charset="0"/>
                        </a:rPr>
                        <a:t>Python example</a:t>
                      </a:r>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43911">
                <a:tc>
                  <a:txBody>
                    <a:bodyPr/>
                    <a:lstStyle/>
                    <a:p>
                      <a:pPr algn="l" rtl="0" fontAlgn="base"/>
                      <a:r>
                        <a:rPr lang="en-US" sz="1600" b="0" i="0" dirty="0">
                          <a:effectLst/>
                          <a:latin typeface="Calibri" panose="020F0502020204030204" pitchFamily="34" charset="0"/>
                        </a:rPr>
                        <a:t>Integer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43911">
                <a:tc>
                  <a:txBody>
                    <a:bodyPr/>
                    <a:lstStyle/>
                    <a:p>
                      <a:pPr algn="l" rtl="0" fontAlgn="base"/>
                      <a:r>
                        <a:rPr lang="en-US" sz="1600" b="0" i="0" dirty="0">
                          <a:effectLst/>
                          <a:latin typeface="Calibri" panose="020F0502020204030204" pitchFamily="34" charset="0"/>
                        </a:rPr>
                        <a:t>Real/float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43911">
                <a:tc>
                  <a:txBody>
                    <a:bodyPr/>
                    <a:lstStyle/>
                    <a:p>
                      <a:pPr algn="l" rtl="0" fontAlgn="base"/>
                      <a:r>
                        <a:rPr lang="en-US" sz="1600" b="0" i="0" dirty="0">
                          <a:effectLst/>
                          <a:latin typeface="Calibri" panose="020F0502020204030204" pitchFamily="34" charset="0"/>
                        </a:rPr>
                        <a:t>Boolean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43911">
                <a:tc>
                  <a:txBody>
                    <a:bodyPr/>
                    <a:lstStyle/>
                    <a:p>
                      <a:pPr algn="l" rtl="0" fontAlgn="base"/>
                      <a:r>
                        <a:rPr lang="en-US" sz="1600" b="0" i="0" dirty="0">
                          <a:effectLst/>
                          <a:latin typeface="Calibri" panose="020F0502020204030204" pitchFamily="34" charset="0"/>
                        </a:rPr>
                        <a:t>Character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43911">
                <a:tc>
                  <a:txBody>
                    <a:bodyPr/>
                    <a:lstStyle/>
                    <a:p>
                      <a:pPr algn="l" rtl="0" fontAlgn="base"/>
                      <a:r>
                        <a:rPr lang="en-US" sz="1600" b="0" i="0" dirty="0">
                          <a:effectLst/>
                          <a:latin typeface="Calibri" panose="020F0502020204030204" pitchFamily="34" charset="0"/>
                        </a:rPr>
                        <a:t>String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43911">
                <a:tc>
                  <a:txBody>
                    <a:bodyPr/>
                    <a:lstStyle/>
                    <a:p>
                      <a:pPr algn="l" rtl="0" fontAlgn="base"/>
                      <a:r>
                        <a:rPr lang="en-US" sz="1600" b="0" i="0" dirty="0">
                          <a:effectLst/>
                          <a:latin typeface="Calibri" panose="020F0502020204030204" pitchFamily="34" charset="0"/>
                        </a:rPr>
                        <a:t>Date/time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43911">
                <a:tc>
                  <a:txBody>
                    <a:bodyPr/>
                    <a:lstStyle/>
                    <a:p>
                      <a:pPr algn="l" rtl="0" fontAlgn="base"/>
                      <a:r>
                        <a:rPr lang="en-US" sz="1600" b="0" i="0" dirty="0">
                          <a:effectLst/>
                          <a:latin typeface="Calibri" panose="020F0502020204030204" pitchFamily="34" charset="0"/>
                        </a:rPr>
                        <a:t>Records (or equivalent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43911">
                <a:tc>
                  <a:txBody>
                    <a:bodyPr/>
                    <a:lstStyle/>
                    <a:p>
                      <a:pPr algn="l" rtl="0" fontAlgn="base"/>
                      <a:r>
                        <a:rPr lang="en-US" sz="1600" b="0" i="0" dirty="0">
                          <a:effectLst/>
                          <a:latin typeface="Calibri" panose="020F0502020204030204" pitchFamily="34" charset="0"/>
                        </a:rPr>
                        <a:t>Arrays (or equivalent)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234854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Integer</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GB" sz="3200" dirty="0"/>
              <a:t>Whole number </a:t>
            </a:r>
          </a:p>
          <a:p>
            <a:pPr>
              <a:buFont typeface="Wingdings" panose="05000000000000000000" pitchFamily="2" charset="2"/>
              <a:buChar char="q"/>
            </a:pPr>
            <a:endParaRPr lang="en-GB" sz="3200" dirty="0"/>
          </a:p>
          <a:p>
            <a:pPr>
              <a:buFont typeface="Wingdings" panose="05000000000000000000" pitchFamily="2" charset="2"/>
              <a:buChar char="q"/>
            </a:pPr>
            <a:r>
              <a:rPr lang="en-GB" sz="3200" dirty="0"/>
              <a:t>No decimal points </a:t>
            </a:r>
          </a:p>
          <a:p>
            <a:pPr>
              <a:buFont typeface="Wingdings" panose="05000000000000000000" pitchFamily="2" charset="2"/>
              <a:buChar char="q"/>
            </a:pPr>
            <a:endParaRPr lang="en-GB" sz="3200" dirty="0"/>
          </a:p>
          <a:p>
            <a:pPr>
              <a:buFont typeface="Wingdings" panose="05000000000000000000" pitchFamily="2" charset="2"/>
              <a:buChar char="q"/>
            </a:pPr>
            <a:r>
              <a:rPr lang="en-GB" sz="3200" dirty="0"/>
              <a:t>Uses </a:t>
            </a:r>
            <a:r>
              <a:rPr lang="en-GB" sz="3200" dirty="0" err="1"/>
              <a:t>int</a:t>
            </a:r>
            <a:r>
              <a:rPr lang="en-GB" sz="3200" dirty="0"/>
              <a:t>() in Python</a:t>
            </a:r>
          </a:p>
        </p:txBody>
      </p:sp>
    </p:spTree>
    <p:extLst>
      <p:ext uri="{BB962C8B-B14F-4D97-AF65-F5344CB8AC3E}">
        <p14:creationId xmlns:p14="http://schemas.microsoft.com/office/powerpoint/2010/main" val="410099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Real/float</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GB" sz="2400" dirty="0"/>
              <a:t>Decimal point number </a:t>
            </a:r>
          </a:p>
          <a:p>
            <a:pPr>
              <a:buFont typeface="Wingdings" panose="05000000000000000000" pitchFamily="2" charset="2"/>
              <a:buChar char="q"/>
            </a:pPr>
            <a:endParaRPr lang="en-GB" sz="2400" dirty="0"/>
          </a:p>
          <a:p>
            <a:pPr>
              <a:buFont typeface="Wingdings" panose="05000000000000000000" pitchFamily="2" charset="2"/>
              <a:buChar char="q"/>
            </a:pPr>
            <a:r>
              <a:rPr lang="en-GB" sz="2400" dirty="0"/>
              <a:t>Still not always accurate due to the amount of bits Python uses to store numbers but more accurate than and Integer as it allows decimal point numbers – you will do a lot of this with Miss Clapham about how numbers are stored in a computer and accuracy </a:t>
            </a:r>
            <a:r>
              <a:rPr lang="en-GB" sz="2400" dirty="0" err="1"/>
              <a:t>etc</a:t>
            </a:r>
            <a:r>
              <a:rPr lang="en-GB" sz="2400" dirty="0"/>
              <a:t>!</a:t>
            </a:r>
          </a:p>
          <a:p>
            <a:pPr>
              <a:buFont typeface="Wingdings" panose="05000000000000000000" pitchFamily="2" charset="2"/>
              <a:buChar char="q"/>
            </a:pPr>
            <a:endParaRPr lang="en-GB" sz="2400" dirty="0"/>
          </a:p>
          <a:p>
            <a:pPr>
              <a:buFont typeface="Wingdings" panose="05000000000000000000" pitchFamily="2" charset="2"/>
              <a:buChar char="q"/>
            </a:pPr>
            <a:r>
              <a:rPr lang="en-GB" sz="2400" dirty="0"/>
              <a:t>Uses float() in Python</a:t>
            </a:r>
          </a:p>
          <a:p>
            <a:endParaRPr lang="en-GB" dirty="0"/>
          </a:p>
        </p:txBody>
      </p:sp>
    </p:spTree>
    <p:extLst>
      <p:ext uri="{BB962C8B-B14F-4D97-AF65-F5344CB8AC3E}">
        <p14:creationId xmlns:p14="http://schemas.microsoft.com/office/powerpoint/2010/main" val="1829999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Boolean</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GB" sz="3200" dirty="0"/>
              <a:t>One of 2 values</a:t>
            </a:r>
          </a:p>
          <a:p>
            <a:pPr>
              <a:buFont typeface="Wingdings" panose="05000000000000000000" pitchFamily="2" charset="2"/>
              <a:buChar char="q"/>
            </a:pPr>
            <a:endParaRPr lang="en-GB" sz="3200" dirty="0"/>
          </a:p>
          <a:p>
            <a:pPr>
              <a:buFont typeface="Wingdings" panose="05000000000000000000" pitchFamily="2" charset="2"/>
              <a:buChar char="q"/>
            </a:pPr>
            <a:r>
              <a:rPr lang="en-GB" sz="3200" dirty="0"/>
              <a:t>Yes/No, True/False, On/Off 1/0 etc.</a:t>
            </a:r>
          </a:p>
          <a:p>
            <a:pPr>
              <a:buFont typeface="Wingdings" panose="05000000000000000000" pitchFamily="2" charset="2"/>
              <a:buChar char="q"/>
            </a:pPr>
            <a:endParaRPr lang="en-GB" sz="3200" dirty="0"/>
          </a:p>
          <a:p>
            <a:pPr>
              <a:buFont typeface="Wingdings" panose="05000000000000000000" pitchFamily="2" charset="2"/>
              <a:buChar char="q"/>
            </a:pPr>
            <a:r>
              <a:rPr lang="en-GB" sz="3200" dirty="0"/>
              <a:t>Usually use True or False (with caps) in Python</a:t>
            </a:r>
          </a:p>
        </p:txBody>
      </p:sp>
    </p:spTree>
    <p:extLst>
      <p:ext uri="{BB962C8B-B14F-4D97-AF65-F5344CB8AC3E}">
        <p14:creationId xmlns:p14="http://schemas.microsoft.com/office/powerpoint/2010/main" val="4145567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character</a:t>
            </a:r>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q"/>
            </a:pPr>
            <a:r>
              <a:rPr lang="en-GB" sz="3200" dirty="0"/>
              <a:t>An individual character – like when you did character sets in KS4</a:t>
            </a:r>
          </a:p>
          <a:p>
            <a:pPr>
              <a:buFont typeface="Wingdings" panose="05000000000000000000" pitchFamily="2" charset="2"/>
              <a:buChar char="q"/>
            </a:pPr>
            <a:endParaRPr lang="en-GB" sz="3200" dirty="0"/>
          </a:p>
          <a:p>
            <a:pPr>
              <a:buFont typeface="Wingdings" panose="05000000000000000000" pitchFamily="2" charset="2"/>
              <a:buChar char="q"/>
            </a:pPr>
            <a:r>
              <a:rPr lang="en-GB" sz="3200" dirty="0"/>
              <a:t>Remember a character can be a symbol, number, space or a letter – any printable character the computer recognises</a:t>
            </a:r>
          </a:p>
          <a:p>
            <a:pPr>
              <a:buFont typeface="Wingdings" panose="05000000000000000000" pitchFamily="2" charset="2"/>
              <a:buChar char="q"/>
            </a:pPr>
            <a:endParaRPr lang="en-GB" sz="3200" dirty="0"/>
          </a:p>
          <a:p>
            <a:pPr>
              <a:buFont typeface="Wingdings" panose="05000000000000000000" pitchFamily="2" charset="2"/>
              <a:buChar char="q"/>
            </a:pPr>
            <a:r>
              <a:rPr lang="en-GB" sz="3200" dirty="0"/>
              <a:t>Can use </a:t>
            </a:r>
            <a:r>
              <a:rPr lang="en-GB" sz="3200" dirty="0" err="1"/>
              <a:t>chr</a:t>
            </a:r>
            <a:r>
              <a:rPr lang="en-GB" sz="3200" dirty="0"/>
              <a:t>() in Python – example </a:t>
            </a:r>
            <a:r>
              <a:rPr lang="en-GB" sz="3200" dirty="0" err="1"/>
              <a:t>chr</a:t>
            </a:r>
            <a:r>
              <a:rPr lang="en-GB" sz="3200" dirty="0"/>
              <a:t>(90) returns A as this is the ASCII value for the number 90</a:t>
            </a:r>
          </a:p>
        </p:txBody>
      </p:sp>
    </p:spTree>
    <p:extLst>
      <p:ext uri="{BB962C8B-B14F-4D97-AF65-F5344CB8AC3E}">
        <p14:creationId xmlns:p14="http://schemas.microsoft.com/office/powerpoint/2010/main" val="361571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string</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GB" sz="3200" dirty="0"/>
              <a:t>Multiple characters together</a:t>
            </a:r>
          </a:p>
          <a:p>
            <a:pPr>
              <a:buFont typeface="Wingdings" panose="05000000000000000000" pitchFamily="2" charset="2"/>
              <a:buChar char="q"/>
            </a:pPr>
            <a:endParaRPr lang="en-GB" sz="3200" dirty="0"/>
          </a:p>
          <a:p>
            <a:pPr>
              <a:buFont typeface="Wingdings" panose="05000000000000000000" pitchFamily="2" charset="2"/>
              <a:buChar char="q"/>
            </a:pPr>
            <a:r>
              <a:rPr lang="en-GB" sz="3200" dirty="0"/>
              <a:t>A word or sentence or multiple numbers and symbols etc. together</a:t>
            </a:r>
          </a:p>
          <a:p>
            <a:pPr>
              <a:buFont typeface="Wingdings" panose="05000000000000000000" pitchFamily="2" charset="2"/>
              <a:buChar char="q"/>
            </a:pPr>
            <a:endParaRPr lang="en-GB" sz="3200" dirty="0"/>
          </a:p>
          <a:p>
            <a:pPr>
              <a:buFont typeface="Wingdings" panose="05000000000000000000" pitchFamily="2" charset="2"/>
              <a:buChar char="q"/>
            </a:pPr>
            <a:r>
              <a:rPr lang="en-GB" sz="3200" dirty="0"/>
              <a:t>Uses </a:t>
            </a:r>
            <a:r>
              <a:rPr lang="en-GB" sz="3200" dirty="0" err="1"/>
              <a:t>str</a:t>
            </a:r>
            <a:r>
              <a:rPr lang="en-GB" sz="3200" dirty="0"/>
              <a:t>() in Python</a:t>
            </a:r>
          </a:p>
        </p:txBody>
      </p:sp>
    </p:spTree>
    <p:extLst>
      <p:ext uri="{BB962C8B-B14F-4D97-AF65-F5344CB8AC3E}">
        <p14:creationId xmlns:p14="http://schemas.microsoft.com/office/powerpoint/2010/main" val="3720869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Strings- print vs concatenate</a:t>
            </a:r>
          </a:p>
        </p:txBody>
      </p:sp>
      <p:sp>
        <p:nvSpPr>
          <p:cNvPr id="3" name="Content Placeholder 2"/>
          <p:cNvSpPr>
            <a:spLocks noGrp="1"/>
          </p:cNvSpPr>
          <p:nvPr>
            <p:ph idx="1"/>
          </p:nvPr>
        </p:nvSpPr>
        <p:spPr/>
        <p:txBody>
          <a:bodyPr/>
          <a:lstStyle/>
          <a:p>
            <a:r>
              <a:rPr lang="en-GB" dirty="0"/>
              <a:t>Which of the below demonstrates printing and which demonstrates concatenation?</a:t>
            </a:r>
          </a:p>
        </p:txBody>
      </p:sp>
      <p:pic>
        <p:nvPicPr>
          <p:cNvPr id="4" name="Picture 3"/>
          <p:cNvPicPr>
            <a:picLocks noChangeAspect="1"/>
          </p:cNvPicPr>
          <p:nvPr/>
        </p:nvPicPr>
        <p:blipFill>
          <a:blip r:embed="rId2"/>
          <a:stretch>
            <a:fillRect/>
          </a:stretch>
        </p:blipFill>
        <p:spPr>
          <a:xfrm>
            <a:off x="1024128" y="3092767"/>
            <a:ext cx="4695825" cy="2409825"/>
          </a:xfrm>
          <a:prstGeom prst="rect">
            <a:avLst/>
          </a:prstGeom>
        </p:spPr>
      </p:pic>
      <p:sp>
        <p:nvSpPr>
          <p:cNvPr id="5" name="Rounded Rectangle 4"/>
          <p:cNvSpPr/>
          <p:nvPr/>
        </p:nvSpPr>
        <p:spPr>
          <a:xfrm>
            <a:off x="5884164" y="3745735"/>
            <a:ext cx="4087257" cy="7381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Printing – just uses a comma in between variables.</a:t>
            </a:r>
          </a:p>
        </p:txBody>
      </p:sp>
      <p:sp>
        <p:nvSpPr>
          <p:cNvPr id="6" name="Rounded Rectangle 5"/>
          <p:cNvSpPr/>
          <p:nvPr/>
        </p:nvSpPr>
        <p:spPr>
          <a:xfrm>
            <a:off x="5884163" y="4685033"/>
            <a:ext cx="4087257" cy="7381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Concatenation – uses a + in between to actually put the variables together</a:t>
            </a:r>
          </a:p>
        </p:txBody>
      </p:sp>
    </p:spTree>
    <p:extLst>
      <p:ext uri="{BB962C8B-B14F-4D97-AF65-F5344CB8AC3E}">
        <p14:creationId xmlns:p14="http://schemas.microsoft.com/office/powerpoint/2010/main" val="2643554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Strings – escape sequences</a:t>
            </a:r>
          </a:p>
        </p:txBody>
      </p:sp>
      <p:sp>
        <p:nvSpPr>
          <p:cNvPr id="3" name="Content Placeholder 2"/>
          <p:cNvSpPr>
            <a:spLocks noGrp="1"/>
          </p:cNvSpPr>
          <p:nvPr>
            <p:ph idx="1"/>
          </p:nvPr>
        </p:nvSpPr>
        <p:spPr/>
        <p:txBody>
          <a:bodyPr>
            <a:normAutofit fontScale="92500" lnSpcReduction="20000"/>
          </a:bodyPr>
          <a:lstStyle/>
          <a:p>
            <a:r>
              <a:rPr lang="en-GB" dirty="0"/>
              <a:t>What is the purpose of the following escape sequences? </a:t>
            </a:r>
          </a:p>
          <a:p>
            <a:endParaRPr lang="en-GB" dirty="0"/>
          </a:p>
          <a:p>
            <a:r>
              <a:rPr lang="en-GB" dirty="0"/>
              <a:t>Print them within a string, in the speech marks and see what each does! </a:t>
            </a:r>
          </a:p>
          <a:p>
            <a:endParaRPr lang="en-GB" dirty="0"/>
          </a:p>
          <a:p>
            <a:r>
              <a:rPr lang="en-GB" dirty="0"/>
              <a:t>\n</a:t>
            </a:r>
          </a:p>
          <a:p>
            <a:r>
              <a:rPr lang="en-GB" dirty="0"/>
              <a:t>\t</a:t>
            </a:r>
          </a:p>
          <a:p>
            <a:r>
              <a:rPr lang="en-GB" dirty="0"/>
              <a:t>\\</a:t>
            </a:r>
          </a:p>
          <a:p>
            <a:r>
              <a:rPr lang="en-GB" dirty="0"/>
              <a:t>\”</a:t>
            </a:r>
          </a:p>
          <a:p>
            <a:r>
              <a:rPr lang="en-GB" dirty="0"/>
              <a:t> “”” text </a:t>
            </a:r>
          </a:p>
          <a:p>
            <a:r>
              <a:rPr lang="en-GB" dirty="0"/>
              <a:t>here “””</a:t>
            </a:r>
          </a:p>
        </p:txBody>
      </p:sp>
    </p:spTree>
    <p:extLst>
      <p:ext uri="{BB962C8B-B14F-4D97-AF65-F5344CB8AC3E}">
        <p14:creationId xmlns:p14="http://schemas.microsoft.com/office/powerpoint/2010/main" val="1020734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Strings – escape sequences</a:t>
            </a:r>
          </a:p>
        </p:txBody>
      </p:sp>
      <p:pic>
        <p:nvPicPr>
          <p:cNvPr id="5" name="Picture 4"/>
          <p:cNvPicPr>
            <a:picLocks noChangeAspect="1"/>
          </p:cNvPicPr>
          <p:nvPr/>
        </p:nvPicPr>
        <p:blipFill>
          <a:blip r:embed="rId2"/>
          <a:stretch>
            <a:fillRect/>
          </a:stretch>
        </p:blipFill>
        <p:spPr>
          <a:xfrm>
            <a:off x="0" y="0"/>
            <a:ext cx="11992131" cy="7237111"/>
          </a:xfrm>
          <a:prstGeom prst="rect">
            <a:avLst/>
          </a:prstGeom>
        </p:spPr>
      </p:pic>
    </p:spTree>
    <p:extLst>
      <p:ext uri="{BB962C8B-B14F-4D97-AF65-F5344CB8AC3E}">
        <p14:creationId xmlns:p14="http://schemas.microsoft.com/office/powerpoint/2010/main" val="1299048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types - casting</a:t>
            </a:r>
          </a:p>
        </p:txBody>
      </p:sp>
      <p:sp>
        <p:nvSpPr>
          <p:cNvPr id="3" name="Content Placeholder 2"/>
          <p:cNvSpPr>
            <a:spLocks noGrp="1"/>
          </p:cNvSpPr>
          <p:nvPr>
            <p:ph idx="1"/>
          </p:nvPr>
        </p:nvSpPr>
        <p:spPr/>
        <p:txBody>
          <a:bodyPr/>
          <a:lstStyle/>
          <a:p>
            <a:r>
              <a:rPr lang="en-GB" dirty="0"/>
              <a:t>Casting just means switching between data types: </a:t>
            </a:r>
          </a:p>
          <a:p>
            <a:endParaRPr lang="en-GB" dirty="0"/>
          </a:p>
          <a:p>
            <a:endParaRPr lang="en-GB" dirty="0"/>
          </a:p>
        </p:txBody>
      </p:sp>
      <p:pic>
        <p:nvPicPr>
          <p:cNvPr id="4" name="Picture 3"/>
          <p:cNvPicPr>
            <a:picLocks noChangeAspect="1"/>
          </p:cNvPicPr>
          <p:nvPr/>
        </p:nvPicPr>
        <p:blipFill>
          <a:blip r:embed="rId2"/>
          <a:stretch>
            <a:fillRect/>
          </a:stretch>
        </p:blipFill>
        <p:spPr>
          <a:xfrm>
            <a:off x="1024128" y="2889885"/>
            <a:ext cx="2590800" cy="3419475"/>
          </a:xfrm>
          <a:prstGeom prst="rect">
            <a:avLst/>
          </a:prstGeom>
        </p:spPr>
      </p:pic>
    </p:spTree>
    <p:extLst>
      <p:ext uri="{BB962C8B-B14F-4D97-AF65-F5344CB8AC3E}">
        <p14:creationId xmlns:p14="http://schemas.microsoft.com/office/powerpoint/2010/main" val="2907871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Date/time</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GB" sz="3200" dirty="0"/>
              <a:t>There are different modules you can use in Python for date time – we will do a little bit of work on one of these modules but there are others.</a:t>
            </a:r>
          </a:p>
          <a:p>
            <a:pPr>
              <a:buFont typeface="Wingdings" panose="05000000000000000000" pitchFamily="2" charset="2"/>
              <a:buChar char="q"/>
            </a:pPr>
            <a:endParaRPr lang="en-GB" sz="3200" dirty="0"/>
          </a:p>
          <a:p>
            <a:pPr>
              <a:buFont typeface="Wingdings" panose="05000000000000000000" pitchFamily="2" charset="2"/>
              <a:buChar char="q"/>
            </a:pPr>
            <a:r>
              <a:rPr lang="en-GB" sz="3200" dirty="0"/>
              <a:t>Essentially, the computer usually stores the current time and date as the amount of seconds that have happened since January 1</a:t>
            </a:r>
            <a:r>
              <a:rPr lang="en-GB" sz="3200" baseline="30000" dirty="0"/>
              <a:t>st</a:t>
            </a:r>
            <a:r>
              <a:rPr lang="en-GB" sz="3200" dirty="0"/>
              <a:t> 1970 and all calculations are done around this. </a:t>
            </a:r>
          </a:p>
        </p:txBody>
      </p:sp>
    </p:spTree>
    <p:extLst>
      <p:ext uri="{BB962C8B-B14F-4D97-AF65-F5344CB8AC3E}">
        <p14:creationId xmlns:p14="http://schemas.microsoft.com/office/powerpoint/2010/main" val="2654755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Date/time examples</a:t>
            </a:r>
          </a:p>
        </p:txBody>
      </p:sp>
      <p:pic>
        <p:nvPicPr>
          <p:cNvPr id="9" name="Picture 8"/>
          <p:cNvPicPr>
            <a:picLocks noChangeAspect="1"/>
          </p:cNvPicPr>
          <p:nvPr/>
        </p:nvPicPr>
        <p:blipFill>
          <a:blip r:embed="rId2"/>
          <a:stretch>
            <a:fillRect/>
          </a:stretch>
        </p:blipFill>
        <p:spPr>
          <a:xfrm>
            <a:off x="1024127" y="2084832"/>
            <a:ext cx="6224971" cy="4387122"/>
          </a:xfrm>
          <a:prstGeom prst="rect">
            <a:avLst/>
          </a:prstGeom>
        </p:spPr>
      </p:pic>
    </p:spTree>
    <p:extLst>
      <p:ext uri="{BB962C8B-B14F-4D97-AF65-F5344CB8AC3E}">
        <p14:creationId xmlns:p14="http://schemas.microsoft.com/office/powerpoint/2010/main" val="2562610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types – your one note</a:t>
            </a:r>
          </a:p>
        </p:txBody>
      </p:sp>
      <p:graphicFrame>
        <p:nvGraphicFramePr>
          <p:cNvPr id="4" name="Table 3"/>
          <p:cNvGraphicFramePr>
            <a:graphicFrameLocks noGrp="1"/>
          </p:cNvGraphicFramePr>
          <p:nvPr>
            <p:extLst>
              <p:ext uri="{D42A27DB-BD31-4B8C-83A1-F6EECF244321}">
                <p14:modId xmlns:p14="http://schemas.microsoft.com/office/powerpoint/2010/main" val="1870578128"/>
              </p:ext>
            </p:extLst>
          </p:nvPr>
        </p:nvGraphicFramePr>
        <p:xfrm>
          <a:off x="336959" y="1935253"/>
          <a:ext cx="11669985" cy="4650606"/>
        </p:xfrm>
        <a:graphic>
          <a:graphicData uri="http://schemas.openxmlformats.org/drawingml/2006/table">
            <a:tbl>
              <a:tblPr/>
              <a:tblGrid>
                <a:gridCol w="2188527">
                  <a:extLst>
                    <a:ext uri="{9D8B030D-6E8A-4147-A177-3AD203B41FA5}">
                      <a16:colId xmlns:a16="http://schemas.microsoft.com/office/drawing/2014/main" val="20000"/>
                    </a:ext>
                  </a:extLst>
                </a:gridCol>
                <a:gridCol w="5591463">
                  <a:extLst>
                    <a:ext uri="{9D8B030D-6E8A-4147-A177-3AD203B41FA5}">
                      <a16:colId xmlns:a16="http://schemas.microsoft.com/office/drawing/2014/main" val="20001"/>
                    </a:ext>
                  </a:extLst>
                </a:gridCol>
                <a:gridCol w="3889995">
                  <a:extLst>
                    <a:ext uri="{9D8B030D-6E8A-4147-A177-3AD203B41FA5}">
                      <a16:colId xmlns:a16="http://schemas.microsoft.com/office/drawing/2014/main" val="20003"/>
                    </a:ext>
                  </a:extLst>
                </a:gridCol>
              </a:tblGrid>
              <a:tr h="516734">
                <a:tc>
                  <a:txBody>
                    <a:bodyPr/>
                    <a:lstStyle/>
                    <a:p>
                      <a:pPr algn="l" rtl="0" fontAlgn="base"/>
                      <a:r>
                        <a:rPr lang="en-US" sz="1600" b="1" i="0" dirty="0">
                          <a:solidFill>
                            <a:srgbClr val="C00000"/>
                          </a:solidFill>
                          <a:effectLst/>
                          <a:latin typeface="Calibri" panose="020F0502020204030204" pitchFamily="34" charset="0"/>
                        </a:rPr>
                        <a:t>Key term</a:t>
                      </a:r>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1" i="0" dirty="0">
                          <a:solidFill>
                            <a:srgbClr val="C00000"/>
                          </a:solidFill>
                          <a:effectLst/>
                          <a:latin typeface="Calibri" panose="020F0502020204030204" pitchFamily="34" charset="0"/>
                        </a:rPr>
                        <a:t>Explanation</a:t>
                      </a:r>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1" i="0" dirty="0">
                          <a:solidFill>
                            <a:srgbClr val="C00000"/>
                          </a:solidFill>
                          <a:effectLst/>
                          <a:latin typeface="Calibri" panose="020F0502020204030204" pitchFamily="34" charset="0"/>
                        </a:rPr>
                        <a:t>Python example</a:t>
                      </a:r>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16734">
                <a:tc>
                  <a:txBody>
                    <a:bodyPr/>
                    <a:lstStyle/>
                    <a:p>
                      <a:pPr algn="l" rtl="0" fontAlgn="base"/>
                      <a:r>
                        <a:rPr lang="en-US" sz="1600" b="0" i="0" dirty="0">
                          <a:effectLst/>
                          <a:latin typeface="Calibri" panose="020F0502020204030204" pitchFamily="34" charset="0"/>
                        </a:rPr>
                        <a:t>Integer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16734">
                <a:tc>
                  <a:txBody>
                    <a:bodyPr/>
                    <a:lstStyle/>
                    <a:p>
                      <a:pPr algn="l" rtl="0" fontAlgn="base"/>
                      <a:r>
                        <a:rPr lang="en-US" sz="1600" b="0" i="0" dirty="0">
                          <a:effectLst/>
                          <a:latin typeface="Calibri" panose="020F0502020204030204" pitchFamily="34" charset="0"/>
                        </a:rPr>
                        <a:t>Real/float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16734">
                <a:tc>
                  <a:txBody>
                    <a:bodyPr/>
                    <a:lstStyle/>
                    <a:p>
                      <a:pPr algn="l" rtl="0" fontAlgn="base"/>
                      <a:r>
                        <a:rPr lang="en-US" sz="1600" b="0" i="0" dirty="0">
                          <a:effectLst/>
                          <a:latin typeface="Calibri" panose="020F0502020204030204" pitchFamily="34" charset="0"/>
                        </a:rPr>
                        <a:t>Boolean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16734">
                <a:tc>
                  <a:txBody>
                    <a:bodyPr/>
                    <a:lstStyle/>
                    <a:p>
                      <a:pPr algn="l" rtl="0" fontAlgn="base"/>
                      <a:r>
                        <a:rPr lang="en-US" sz="1600" b="0" i="0" dirty="0">
                          <a:effectLst/>
                          <a:latin typeface="Calibri" panose="020F0502020204030204" pitchFamily="34" charset="0"/>
                        </a:rPr>
                        <a:t>Character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16734">
                <a:tc>
                  <a:txBody>
                    <a:bodyPr/>
                    <a:lstStyle/>
                    <a:p>
                      <a:pPr algn="l" rtl="0" fontAlgn="base"/>
                      <a:r>
                        <a:rPr lang="en-US" sz="1600" b="0" i="0" dirty="0">
                          <a:effectLst/>
                          <a:latin typeface="Calibri" panose="020F0502020204030204" pitchFamily="34" charset="0"/>
                        </a:rPr>
                        <a:t>String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516734">
                <a:tc>
                  <a:txBody>
                    <a:bodyPr/>
                    <a:lstStyle/>
                    <a:p>
                      <a:pPr algn="l" rtl="0" fontAlgn="base"/>
                      <a:r>
                        <a:rPr lang="en-US" sz="1600" b="0" i="0" dirty="0">
                          <a:effectLst/>
                          <a:latin typeface="Calibri" panose="020F0502020204030204" pitchFamily="34" charset="0"/>
                        </a:rPr>
                        <a:t>Date/time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516734">
                <a:tc>
                  <a:txBody>
                    <a:bodyPr/>
                    <a:lstStyle/>
                    <a:p>
                      <a:pPr algn="l" rtl="0" fontAlgn="base"/>
                      <a:r>
                        <a:rPr lang="en-US" sz="1600" b="0" i="0" dirty="0">
                          <a:effectLst/>
                          <a:latin typeface="Calibri" panose="020F0502020204030204" pitchFamily="34" charset="0"/>
                        </a:rPr>
                        <a:t>Records (or equivalent)</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516734">
                <a:tc>
                  <a:txBody>
                    <a:bodyPr/>
                    <a:lstStyle/>
                    <a:p>
                      <a:pPr algn="l" rtl="0" fontAlgn="base"/>
                      <a:r>
                        <a:rPr lang="en-US" sz="1600" b="0" i="0" dirty="0">
                          <a:effectLst/>
                          <a:latin typeface="Calibri" panose="020F0502020204030204" pitchFamily="34" charset="0"/>
                        </a:rPr>
                        <a:t>Arrays (or equivalent)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
        <p:nvSpPr>
          <p:cNvPr id="5" name="Rectangle 4">
            <a:extLst>
              <a:ext uri="{FF2B5EF4-FFF2-40B4-BE49-F238E27FC236}">
                <a16:creationId xmlns:a16="http://schemas.microsoft.com/office/drawing/2014/main" id="{7137FC13-1CA0-83E5-E74D-5C92A047E9A1}"/>
              </a:ext>
            </a:extLst>
          </p:cNvPr>
          <p:cNvSpPr/>
          <p:nvPr/>
        </p:nvSpPr>
        <p:spPr>
          <a:xfrm>
            <a:off x="2503714" y="2481943"/>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Whole number – no decimal points</a:t>
            </a:r>
          </a:p>
        </p:txBody>
      </p:sp>
      <p:sp>
        <p:nvSpPr>
          <p:cNvPr id="6" name="Rectangle 5">
            <a:extLst>
              <a:ext uri="{FF2B5EF4-FFF2-40B4-BE49-F238E27FC236}">
                <a16:creationId xmlns:a16="http://schemas.microsoft.com/office/drawing/2014/main" id="{045519A7-96E5-536C-ADDF-073D2B2F1976}"/>
              </a:ext>
            </a:extLst>
          </p:cNvPr>
          <p:cNvSpPr/>
          <p:nvPr/>
        </p:nvSpPr>
        <p:spPr>
          <a:xfrm>
            <a:off x="8207829" y="2481943"/>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err="1"/>
              <a:t>num</a:t>
            </a:r>
            <a:r>
              <a:rPr lang="en-GB" dirty="0"/>
              <a:t>=6    </a:t>
            </a:r>
            <a:r>
              <a:rPr lang="en-GB" dirty="0" err="1"/>
              <a:t>num</a:t>
            </a:r>
            <a:r>
              <a:rPr lang="en-GB" dirty="0"/>
              <a:t>=int(6)</a:t>
            </a:r>
          </a:p>
        </p:txBody>
      </p:sp>
      <p:sp>
        <p:nvSpPr>
          <p:cNvPr id="7" name="Rectangle 6">
            <a:extLst>
              <a:ext uri="{FF2B5EF4-FFF2-40B4-BE49-F238E27FC236}">
                <a16:creationId xmlns:a16="http://schemas.microsoft.com/office/drawing/2014/main" id="{8902F482-A5C8-8D32-4F7A-1C7A82406FBE}"/>
              </a:ext>
            </a:extLst>
          </p:cNvPr>
          <p:cNvSpPr/>
          <p:nvPr/>
        </p:nvSpPr>
        <p:spPr>
          <a:xfrm>
            <a:off x="2503714" y="2982686"/>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Decimal point number </a:t>
            </a:r>
          </a:p>
        </p:txBody>
      </p:sp>
      <p:sp>
        <p:nvSpPr>
          <p:cNvPr id="8" name="Rectangle 7">
            <a:extLst>
              <a:ext uri="{FF2B5EF4-FFF2-40B4-BE49-F238E27FC236}">
                <a16:creationId xmlns:a16="http://schemas.microsoft.com/office/drawing/2014/main" id="{F0C225B1-524F-1278-F4DC-0B11D63A3B0D}"/>
              </a:ext>
            </a:extLst>
          </p:cNvPr>
          <p:cNvSpPr/>
          <p:nvPr/>
        </p:nvSpPr>
        <p:spPr>
          <a:xfrm>
            <a:off x="8207829" y="2982686"/>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err="1"/>
              <a:t>num</a:t>
            </a:r>
            <a:r>
              <a:rPr lang="en-GB" dirty="0"/>
              <a:t>=6.4    </a:t>
            </a:r>
            <a:r>
              <a:rPr lang="en-GB" dirty="0" err="1"/>
              <a:t>num</a:t>
            </a:r>
            <a:r>
              <a:rPr lang="en-GB" dirty="0"/>
              <a:t>=float(10.3)</a:t>
            </a:r>
          </a:p>
        </p:txBody>
      </p:sp>
      <p:sp>
        <p:nvSpPr>
          <p:cNvPr id="9" name="Rectangle 8">
            <a:extLst>
              <a:ext uri="{FF2B5EF4-FFF2-40B4-BE49-F238E27FC236}">
                <a16:creationId xmlns:a16="http://schemas.microsoft.com/office/drawing/2014/main" id="{00FD2532-CC41-4292-0483-EDFDFDC1FDE8}"/>
              </a:ext>
            </a:extLst>
          </p:cNvPr>
          <p:cNvSpPr/>
          <p:nvPr/>
        </p:nvSpPr>
        <p:spPr>
          <a:xfrm>
            <a:off x="2503714" y="3516088"/>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One of two values</a:t>
            </a:r>
          </a:p>
        </p:txBody>
      </p:sp>
      <p:sp>
        <p:nvSpPr>
          <p:cNvPr id="10" name="Rectangle 9">
            <a:extLst>
              <a:ext uri="{FF2B5EF4-FFF2-40B4-BE49-F238E27FC236}">
                <a16:creationId xmlns:a16="http://schemas.microsoft.com/office/drawing/2014/main" id="{DB6133E7-E9BD-1DAC-48E3-E157A53DCD81}"/>
              </a:ext>
            </a:extLst>
          </p:cNvPr>
          <p:cNvSpPr/>
          <p:nvPr/>
        </p:nvSpPr>
        <p:spPr>
          <a:xfrm>
            <a:off x="8207829" y="3516088"/>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True         False</a:t>
            </a:r>
          </a:p>
        </p:txBody>
      </p:sp>
      <p:sp>
        <p:nvSpPr>
          <p:cNvPr id="11" name="Rectangle 10">
            <a:extLst>
              <a:ext uri="{FF2B5EF4-FFF2-40B4-BE49-F238E27FC236}">
                <a16:creationId xmlns:a16="http://schemas.microsoft.com/office/drawing/2014/main" id="{9476C261-F842-95CF-4D43-37EED19D8BD9}"/>
              </a:ext>
            </a:extLst>
          </p:cNvPr>
          <p:cNvSpPr/>
          <p:nvPr/>
        </p:nvSpPr>
        <p:spPr>
          <a:xfrm>
            <a:off x="2492829" y="4038604"/>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Single printable element from a keyboard.</a:t>
            </a:r>
          </a:p>
        </p:txBody>
      </p:sp>
      <p:sp>
        <p:nvSpPr>
          <p:cNvPr id="12" name="Rectangle 11">
            <a:extLst>
              <a:ext uri="{FF2B5EF4-FFF2-40B4-BE49-F238E27FC236}">
                <a16:creationId xmlns:a16="http://schemas.microsoft.com/office/drawing/2014/main" id="{38F5B31E-E4BD-4FDC-481A-9C352298499F}"/>
              </a:ext>
            </a:extLst>
          </p:cNvPr>
          <p:cNvSpPr/>
          <p:nvPr/>
        </p:nvSpPr>
        <p:spPr>
          <a:xfrm>
            <a:off x="8196944" y="4038604"/>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letter=“S”  symbol=“%”</a:t>
            </a:r>
          </a:p>
        </p:txBody>
      </p:sp>
      <p:sp>
        <p:nvSpPr>
          <p:cNvPr id="13" name="Rectangle 12">
            <a:extLst>
              <a:ext uri="{FF2B5EF4-FFF2-40B4-BE49-F238E27FC236}">
                <a16:creationId xmlns:a16="http://schemas.microsoft.com/office/drawing/2014/main" id="{3EA40804-53FF-92AA-DFC3-D4079906E4AD}"/>
              </a:ext>
            </a:extLst>
          </p:cNvPr>
          <p:cNvSpPr/>
          <p:nvPr/>
        </p:nvSpPr>
        <p:spPr>
          <a:xfrm>
            <a:off x="2503714" y="4572006"/>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Multiple characters together</a:t>
            </a:r>
          </a:p>
        </p:txBody>
      </p:sp>
      <p:sp>
        <p:nvSpPr>
          <p:cNvPr id="14" name="Rectangle 13">
            <a:extLst>
              <a:ext uri="{FF2B5EF4-FFF2-40B4-BE49-F238E27FC236}">
                <a16:creationId xmlns:a16="http://schemas.microsoft.com/office/drawing/2014/main" id="{2FBAADAF-4759-C268-41D2-A9C5D5DD43A6}"/>
              </a:ext>
            </a:extLst>
          </p:cNvPr>
          <p:cNvSpPr/>
          <p:nvPr/>
        </p:nvSpPr>
        <p:spPr>
          <a:xfrm>
            <a:off x="8207829" y="4572006"/>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word=“cheese” pass=“1ndj!*”</a:t>
            </a:r>
          </a:p>
        </p:txBody>
      </p:sp>
      <p:sp>
        <p:nvSpPr>
          <p:cNvPr id="15" name="Rectangle 14">
            <a:extLst>
              <a:ext uri="{FF2B5EF4-FFF2-40B4-BE49-F238E27FC236}">
                <a16:creationId xmlns:a16="http://schemas.microsoft.com/office/drawing/2014/main" id="{0B2BA274-1ABF-1606-E629-E024AFDBDF5D}"/>
              </a:ext>
            </a:extLst>
          </p:cNvPr>
          <p:cNvSpPr/>
          <p:nvPr/>
        </p:nvSpPr>
        <p:spPr>
          <a:xfrm>
            <a:off x="2503714" y="5070140"/>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Different modules for this – stores the current date/time </a:t>
            </a:r>
          </a:p>
        </p:txBody>
      </p:sp>
      <p:sp>
        <p:nvSpPr>
          <p:cNvPr id="16" name="Rectangle 15">
            <a:extLst>
              <a:ext uri="{FF2B5EF4-FFF2-40B4-BE49-F238E27FC236}">
                <a16:creationId xmlns:a16="http://schemas.microsoft.com/office/drawing/2014/main" id="{9DAF921D-DB48-67CC-33AF-F32864E7FA16}"/>
              </a:ext>
            </a:extLst>
          </p:cNvPr>
          <p:cNvSpPr/>
          <p:nvPr/>
        </p:nvSpPr>
        <p:spPr>
          <a:xfrm>
            <a:off x="8207829" y="5070140"/>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import time   new=</a:t>
            </a:r>
            <a:r>
              <a:rPr lang="en-GB" dirty="0" err="1"/>
              <a:t>time.time</a:t>
            </a:r>
            <a:r>
              <a:rPr lang="en-GB" dirty="0"/>
              <a:t>()</a:t>
            </a:r>
          </a:p>
        </p:txBody>
      </p:sp>
    </p:spTree>
    <p:extLst>
      <p:ext uri="{BB962C8B-B14F-4D97-AF65-F5344CB8AC3E}">
        <p14:creationId xmlns:p14="http://schemas.microsoft.com/office/powerpoint/2010/main" val="2939157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Pointer/reference</a:t>
            </a:r>
          </a:p>
        </p:txBody>
      </p:sp>
      <p:sp>
        <p:nvSpPr>
          <p:cNvPr id="3" name="Content Placeholder 2"/>
          <p:cNvSpPr>
            <a:spLocks noGrp="1"/>
          </p:cNvSpPr>
          <p:nvPr>
            <p:ph idx="1"/>
          </p:nvPr>
        </p:nvSpPr>
        <p:spPr/>
        <p:txBody>
          <a:bodyPr>
            <a:normAutofit lnSpcReduction="10000"/>
          </a:bodyPr>
          <a:lstStyle/>
          <a:p>
            <a:pPr>
              <a:buFont typeface="Wingdings" panose="05000000000000000000" pitchFamily="2" charset="2"/>
              <a:buChar char="q"/>
            </a:pPr>
            <a:r>
              <a:rPr lang="en-GB" sz="2800" dirty="0"/>
              <a:t>Variables declared as a pointer or reference data type are used as stores for memory addresses of objects created at runtime, </a:t>
            </a:r>
            <a:r>
              <a:rPr lang="en-GB" sz="2800" dirty="0" err="1"/>
              <a:t>ie</a:t>
            </a:r>
            <a:r>
              <a:rPr lang="en-GB" sz="2800" dirty="0"/>
              <a:t> dynamically. </a:t>
            </a:r>
          </a:p>
          <a:p>
            <a:pPr>
              <a:buFont typeface="Wingdings" panose="05000000000000000000" pitchFamily="2" charset="2"/>
              <a:buChar char="q"/>
            </a:pPr>
            <a:endParaRPr lang="en-GB" sz="2800" dirty="0"/>
          </a:p>
          <a:p>
            <a:pPr>
              <a:buFont typeface="Wingdings" panose="05000000000000000000" pitchFamily="2" charset="2"/>
              <a:buChar char="q"/>
            </a:pPr>
            <a:r>
              <a:rPr lang="en-GB" sz="2800" dirty="0"/>
              <a:t>Not all languages support explicit pointer types, but students should have an opportunity to understand this data type.</a:t>
            </a:r>
          </a:p>
          <a:p>
            <a:pPr>
              <a:buFont typeface="Wingdings" panose="05000000000000000000" pitchFamily="2" charset="2"/>
              <a:buChar char="q"/>
            </a:pPr>
            <a:endParaRPr lang="en-GB" sz="2800" dirty="0"/>
          </a:p>
          <a:p>
            <a:pPr>
              <a:buFont typeface="Wingdings" panose="05000000000000000000" pitchFamily="2" charset="2"/>
              <a:buChar char="q"/>
            </a:pPr>
            <a:r>
              <a:rPr lang="en-GB" sz="2800" dirty="0"/>
              <a:t>Think about when we reference an item in a list – the pointer would be like the index value in Python.</a:t>
            </a:r>
          </a:p>
        </p:txBody>
      </p:sp>
    </p:spTree>
    <p:extLst>
      <p:ext uri="{BB962C8B-B14F-4D97-AF65-F5344CB8AC3E}">
        <p14:creationId xmlns:p14="http://schemas.microsoft.com/office/powerpoint/2010/main" val="394002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Records (or equivalent)</a:t>
            </a:r>
          </a:p>
        </p:txBody>
      </p:sp>
      <p:sp>
        <p:nvSpPr>
          <p:cNvPr id="3" name="Content Placeholder 2"/>
          <p:cNvSpPr>
            <a:spLocks noGrp="1"/>
          </p:cNvSpPr>
          <p:nvPr>
            <p:ph idx="1"/>
          </p:nvPr>
        </p:nvSpPr>
        <p:spPr/>
        <p:txBody>
          <a:bodyPr>
            <a:normAutofit/>
          </a:bodyPr>
          <a:lstStyle/>
          <a:p>
            <a:pPr marL="0" indent="0">
              <a:buNone/>
            </a:pPr>
            <a:r>
              <a:rPr lang="en-GB" sz="2400" dirty="0"/>
              <a:t>There are different ways to store records, the one you would be most familiar with is a 2D array: </a:t>
            </a:r>
          </a:p>
          <a:p>
            <a:pPr marL="0" indent="0">
              <a:buNone/>
            </a:pPr>
            <a:endParaRPr lang="en-GB" sz="2400" dirty="0"/>
          </a:p>
          <a:p>
            <a:pPr marL="0" indent="0">
              <a:buNone/>
            </a:pPr>
            <a:r>
              <a:rPr lang="en-GB" sz="2400" dirty="0"/>
              <a:t>Students=[[“Alan”,17],[“Dave”,18],[“Steve”,16]]</a:t>
            </a:r>
          </a:p>
          <a:p>
            <a:pPr marL="0" indent="0">
              <a:buNone/>
            </a:pPr>
            <a:endParaRPr lang="en-GB" sz="2400" dirty="0"/>
          </a:p>
          <a:p>
            <a:pPr marL="0" indent="0">
              <a:buNone/>
            </a:pPr>
            <a:r>
              <a:rPr lang="en-GB" sz="2400" dirty="0"/>
              <a:t>So each of these is a record.</a:t>
            </a:r>
          </a:p>
        </p:txBody>
      </p:sp>
      <p:cxnSp>
        <p:nvCxnSpPr>
          <p:cNvPr id="5" name="Straight Arrow Connector 4"/>
          <p:cNvCxnSpPr/>
          <p:nvPr/>
        </p:nvCxnSpPr>
        <p:spPr>
          <a:xfrm flipV="1">
            <a:off x="2809301" y="4043190"/>
            <a:ext cx="33051" cy="7381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V="1">
            <a:off x="2842352" y="4043190"/>
            <a:ext cx="1399142" cy="7381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2825826" y="4043190"/>
            <a:ext cx="3058338" cy="73813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2991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Arrays (or equivalent)</a:t>
            </a:r>
          </a:p>
        </p:txBody>
      </p:sp>
      <p:sp>
        <p:nvSpPr>
          <p:cNvPr id="3" name="Content Placeholder 2"/>
          <p:cNvSpPr>
            <a:spLocks noGrp="1"/>
          </p:cNvSpPr>
          <p:nvPr>
            <p:ph idx="1"/>
          </p:nvPr>
        </p:nvSpPr>
        <p:spPr/>
        <p:txBody>
          <a:bodyPr/>
          <a:lstStyle/>
          <a:p>
            <a:pPr marL="0" indent="0">
              <a:buNone/>
            </a:pPr>
            <a:r>
              <a:rPr lang="en-GB" dirty="0"/>
              <a:t>You will have looked at 2 or 3 in KS4. </a:t>
            </a:r>
          </a:p>
          <a:p>
            <a:pPr marL="0" indent="0">
              <a:buNone/>
            </a:pPr>
            <a:r>
              <a:rPr lang="en-GB" dirty="0"/>
              <a:t>Python doesn’t do arrays in the same way as other programming languages. </a:t>
            </a:r>
          </a:p>
          <a:p>
            <a:pPr marL="0" indent="0">
              <a:buNone/>
            </a:pPr>
            <a:endParaRPr lang="en-GB" dirty="0"/>
          </a:p>
          <a:p>
            <a:pPr marL="0" indent="0">
              <a:buNone/>
            </a:pPr>
            <a:r>
              <a:rPr lang="en-GB" dirty="0"/>
              <a:t>3 options for an array in Python, we are going to look at each in detail: </a:t>
            </a:r>
          </a:p>
          <a:p>
            <a:pPr>
              <a:buFont typeface="Wingdings" panose="05000000000000000000" pitchFamily="2" charset="2"/>
              <a:buChar char="q"/>
            </a:pPr>
            <a:r>
              <a:rPr lang="en-GB" dirty="0"/>
              <a:t>Tuple</a:t>
            </a:r>
          </a:p>
          <a:p>
            <a:pPr>
              <a:buFont typeface="Wingdings" panose="05000000000000000000" pitchFamily="2" charset="2"/>
              <a:buChar char="q"/>
            </a:pPr>
            <a:r>
              <a:rPr lang="en-GB" dirty="0"/>
              <a:t>List</a:t>
            </a:r>
          </a:p>
          <a:p>
            <a:pPr>
              <a:buFont typeface="Wingdings" panose="05000000000000000000" pitchFamily="2" charset="2"/>
              <a:buChar char="q"/>
            </a:pPr>
            <a:r>
              <a:rPr lang="en-GB" dirty="0"/>
              <a:t>Dictionary</a:t>
            </a:r>
          </a:p>
        </p:txBody>
      </p:sp>
    </p:spTree>
    <p:extLst>
      <p:ext uri="{BB962C8B-B14F-4D97-AF65-F5344CB8AC3E}">
        <p14:creationId xmlns:p14="http://schemas.microsoft.com/office/powerpoint/2010/main" val="3497822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Tuple</a:t>
            </a:r>
          </a:p>
        </p:txBody>
      </p:sp>
      <p:sp>
        <p:nvSpPr>
          <p:cNvPr id="3" name="Content Placeholder 2"/>
          <p:cNvSpPr>
            <a:spLocks noGrp="1"/>
          </p:cNvSpPr>
          <p:nvPr>
            <p:ph idx="1"/>
          </p:nvPr>
        </p:nvSpPr>
        <p:spPr/>
        <p:txBody>
          <a:bodyPr>
            <a:normAutofit fontScale="92500" lnSpcReduction="10000"/>
          </a:bodyPr>
          <a:lstStyle/>
          <a:p>
            <a:r>
              <a:rPr lang="en-GB" dirty="0"/>
              <a:t>Tuples use normal braces – () </a:t>
            </a:r>
          </a:p>
          <a:p>
            <a:r>
              <a:rPr lang="en-GB" dirty="0"/>
              <a:t>Tuples CANNOT be changed a run time – you can go back into the code and change them but once you have run the program, you can’t add, change, update or delete an item. </a:t>
            </a:r>
          </a:p>
          <a:p>
            <a:endParaRPr lang="en-GB" dirty="0"/>
          </a:p>
          <a:p>
            <a:r>
              <a:rPr lang="en-GB" dirty="0"/>
              <a:t>Example: </a:t>
            </a:r>
          </a:p>
          <a:p>
            <a:r>
              <a:rPr lang="en-GB" dirty="0" err="1"/>
              <a:t>myTuple</a:t>
            </a:r>
            <a:r>
              <a:rPr lang="en-GB" dirty="0"/>
              <a:t>=(“Monday”, “Tuesday”, “Wednesday”, “Thursday”, “Friday”, “Saturday”, “Sunday”) </a:t>
            </a:r>
          </a:p>
          <a:p>
            <a:endParaRPr lang="en-GB" dirty="0"/>
          </a:p>
          <a:p>
            <a:r>
              <a:rPr lang="en-GB" dirty="0"/>
              <a:t>You can print individual elements but that is about it! </a:t>
            </a:r>
          </a:p>
          <a:p>
            <a:r>
              <a:rPr lang="en-GB" dirty="0"/>
              <a:t>Make a tuple, print some individual elements and try to change something! </a:t>
            </a:r>
          </a:p>
          <a:p>
            <a:r>
              <a:rPr lang="en-GB" dirty="0"/>
              <a:t>Add this to your notes.</a:t>
            </a:r>
          </a:p>
          <a:p>
            <a:pPr marL="0" indent="0">
              <a:buNone/>
            </a:pPr>
            <a:endParaRPr lang="en-GB" dirty="0"/>
          </a:p>
        </p:txBody>
      </p:sp>
      <p:sp>
        <p:nvSpPr>
          <p:cNvPr id="4" name="TextBox 3"/>
          <p:cNvSpPr txBox="1"/>
          <p:nvPr/>
        </p:nvSpPr>
        <p:spPr>
          <a:xfrm>
            <a:off x="2533880" y="4490210"/>
            <a:ext cx="311304" cy="369332"/>
          </a:xfrm>
          <a:prstGeom prst="rect">
            <a:avLst/>
          </a:prstGeom>
          <a:noFill/>
        </p:spPr>
        <p:txBody>
          <a:bodyPr wrap="none" rtlCol="0">
            <a:spAutoFit/>
          </a:bodyPr>
          <a:lstStyle/>
          <a:p>
            <a:r>
              <a:rPr lang="en-GB" dirty="0">
                <a:solidFill>
                  <a:srgbClr val="FF0000"/>
                </a:solidFill>
              </a:rPr>
              <a:t>0</a:t>
            </a:r>
          </a:p>
        </p:txBody>
      </p:sp>
      <p:sp>
        <p:nvSpPr>
          <p:cNvPr id="5" name="TextBox 4"/>
          <p:cNvSpPr txBox="1"/>
          <p:nvPr/>
        </p:nvSpPr>
        <p:spPr>
          <a:xfrm>
            <a:off x="3710849" y="4490210"/>
            <a:ext cx="311304" cy="369332"/>
          </a:xfrm>
          <a:prstGeom prst="rect">
            <a:avLst/>
          </a:prstGeom>
          <a:noFill/>
        </p:spPr>
        <p:txBody>
          <a:bodyPr wrap="none" rtlCol="0">
            <a:spAutoFit/>
          </a:bodyPr>
          <a:lstStyle/>
          <a:p>
            <a:r>
              <a:rPr lang="en-GB" dirty="0">
                <a:solidFill>
                  <a:srgbClr val="FF0000"/>
                </a:solidFill>
              </a:rPr>
              <a:t>1</a:t>
            </a:r>
          </a:p>
        </p:txBody>
      </p:sp>
      <p:sp>
        <p:nvSpPr>
          <p:cNvPr id="6" name="TextBox 5"/>
          <p:cNvSpPr txBox="1"/>
          <p:nvPr/>
        </p:nvSpPr>
        <p:spPr>
          <a:xfrm>
            <a:off x="5010839" y="4490210"/>
            <a:ext cx="311304" cy="369332"/>
          </a:xfrm>
          <a:prstGeom prst="rect">
            <a:avLst/>
          </a:prstGeom>
          <a:noFill/>
        </p:spPr>
        <p:txBody>
          <a:bodyPr wrap="none" rtlCol="0">
            <a:spAutoFit/>
          </a:bodyPr>
          <a:lstStyle/>
          <a:p>
            <a:r>
              <a:rPr lang="en-GB" dirty="0">
                <a:solidFill>
                  <a:srgbClr val="FF0000"/>
                </a:solidFill>
              </a:rPr>
              <a:t>2</a:t>
            </a:r>
          </a:p>
        </p:txBody>
      </p:sp>
      <p:sp>
        <p:nvSpPr>
          <p:cNvPr id="7" name="TextBox 6"/>
          <p:cNvSpPr txBox="1"/>
          <p:nvPr/>
        </p:nvSpPr>
        <p:spPr>
          <a:xfrm>
            <a:off x="6503244" y="4490210"/>
            <a:ext cx="311304" cy="369332"/>
          </a:xfrm>
          <a:prstGeom prst="rect">
            <a:avLst/>
          </a:prstGeom>
          <a:noFill/>
        </p:spPr>
        <p:txBody>
          <a:bodyPr wrap="none" rtlCol="0">
            <a:spAutoFit/>
          </a:bodyPr>
          <a:lstStyle/>
          <a:p>
            <a:r>
              <a:rPr lang="en-GB" dirty="0">
                <a:solidFill>
                  <a:srgbClr val="FF0000"/>
                </a:solidFill>
              </a:rPr>
              <a:t>3</a:t>
            </a:r>
          </a:p>
        </p:txBody>
      </p:sp>
      <p:sp>
        <p:nvSpPr>
          <p:cNvPr id="8" name="TextBox 7"/>
          <p:cNvSpPr txBox="1"/>
          <p:nvPr/>
        </p:nvSpPr>
        <p:spPr>
          <a:xfrm>
            <a:off x="7503943" y="4490210"/>
            <a:ext cx="311304" cy="369332"/>
          </a:xfrm>
          <a:prstGeom prst="rect">
            <a:avLst/>
          </a:prstGeom>
          <a:noFill/>
        </p:spPr>
        <p:txBody>
          <a:bodyPr wrap="none" rtlCol="0">
            <a:spAutoFit/>
          </a:bodyPr>
          <a:lstStyle/>
          <a:p>
            <a:r>
              <a:rPr lang="en-GB" dirty="0">
                <a:solidFill>
                  <a:srgbClr val="FF0000"/>
                </a:solidFill>
              </a:rPr>
              <a:t>4</a:t>
            </a:r>
          </a:p>
        </p:txBody>
      </p:sp>
      <p:sp>
        <p:nvSpPr>
          <p:cNvPr id="9" name="TextBox 8"/>
          <p:cNvSpPr txBox="1"/>
          <p:nvPr/>
        </p:nvSpPr>
        <p:spPr>
          <a:xfrm>
            <a:off x="8638680" y="4490210"/>
            <a:ext cx="311304" cy="369332"/>
          </a:xfrm>
          <a:prstGeom prst="rect">
            <a:avLst/>
          </a:prstGeom>
          <a:noFill/>
        </p:spPr>
        <p:txBody>
          <a:bodyPr wrap="none" rtlCol="0">
            <a:spAutoFit/>
          </a:bodyPr>
          <a:lstStyle/>
          <a:p>
            <a:r>
              <a:rPr lang="en-GB" dirty="0">
                <a:solidFill>
                  <a:srgbClr val="FF0000"/>
                </a:solidFill>
              </a:rPr>
              <a:t>5</a:t>
            </a:r>
          </a:p>
        </p:txBody>
      </p:sp>
      <p:sp>
        <p:nvSpPr>
          <p:cNvPr id="10" name="TextBox 9"/>
          <p:cNvSpPr txBox="1"/>
          <p:nvPr/>
        </p:nvSpPr>
        <p:spPr>
          <a:xfrm>
            <a:off x="9773417" y="4490210"/>
            <a:ext cx="311304" cy="369332"/>
          </a:xfrm>
          <a:prstGeom prst="rect">
            <a:avLst/>
          </a:prstGeom>
          <a:noFill/>
        </p:spPr>
        <p:txBody>
          <a:bodyPr wrap="none" rtlCol="0">
            <a:spAutoFit/>
          </a:bodyPr>
          <a:lstStyle/>
          <a:p>
            <a:r>
              <a:rPr lang="en-GB" dirty="0">
                <a:solidFill>
                  <a:srgbClr val="FF0000"/>
                </a:solidFill>
              </a:rPr>
              <a:t>6</a:t>
            </a:r>
          </a:p>
        </p:txBody>
      </p:sp>
      <p:sp>
        <p:nvSpPr>
          <p:cNvPr id="11" name="TextBox 10"/>
          <p:cNvSpPr txBox="1"/>
          <p:nvPr/>
        </p:nvSpPr>
        <p:spPr>
          <a:xfrm>
            <a:off x="964356" y="4490210"/>
            <a:ext cx="1580433" cy="369332"/>
          </a:xfrm>
          <a:prstGeom prst="rect">
            <a:avLst/>
          </a:prstGeom>
          <a:noFill/>
        </p:spPr>
        <p:txBody>
          <a:bodyPr wrap="none" rtlCol="0">
            <a:spAutoFit/>
          </a:bodyPr>
          <a:lstStyle/>
          <a:p>
            <a:r>
              <a:rPr lang="en-GB" dirty="0">
                <a:solidFill>
                  <a:srgbClr val="FF0000"/>
                </a:solidFill>
              </a:rPr>
              <a:t>Index positions:</a:t>
            </a:r>
          </a:p>
        </p:txBody>
      </p:sp>
    </p:spTree>
    <p:extLst>
      <p:ext uri="{BB962C8B-B14F-4D97-AF65-F5344CB8AC3E}">
        <p14:creationId xmlns:p14="http://schemas.microsoft.com/office/powerpoint/2010/main" val="2312267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Tuples - unchangeable</a:t>
            </a:r>
          </a:p>
        </p:txBody>
      </p:sp>
      <p:pic>
        <p:nvPicPr>
          <p:cNvPr id="4" name="Picture 3"/>
          <p:cNvPicPr>
            <a:picLocks noChangeAspect="1"/>
          </p:cNvPicPr>
          <p:nvPr/>
        </p:nvPicPr>
        <p:blipFill>
          <a:blip r:embed="rId2"/>
          <a:stretch>
            <a:fillRect/>
          </a:stretch>
        </p:blipFill>
        <p:spPr>
          <a:xfrm>
            <a:off x="1024128" y="2625723"/>
            <a:ext cx="8691690" cy="2704936"/>
          </a:xfrm>
          <a:prstGeom prst="rect">
            <a:avLst/>
          </a:prstGeom>
        </p:spPr>
      </p:pic>
    </p:spTree>
    <p:extLst>
      <p:ext uri="{BB962C8B-B14F-4D97-AF65-F5344CB8AC3E}">
        <p14:creationId xmlns:p14="http://schemas.microsoft.com/office/powerpoint/2010/main" val="819203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76E8B-85C1-A845-FB4A-FCCDAB2854F5}"/>
              </a:ext>
            </a:extLst>
          </p:cNvPr>
          <p:cNvSpPr>
            <a:spLocks noGrp="1"/>
          </p:cNvSpPr>
          <p:nvPr>
            <p:ph type="ctrTitle"/>
          </p:nvPr>
        </p:nvSpPr>
        <p:spPr/>
        <p:txBody>
          <a:bodyPr/>
          <a:lstStyle/>
          <a:p>
            <a:r>
              <a:rPr lang="en-GB" dirty="0"/>
              <a:t>Part 2</a:t>
            </a:r>
          </a:p>
        </p:txBody>
      </p:sp>
      <p:sp>
        <p:nvSpPr>
          <p:cNvPr id="3" name="Subtitle 2">
            <a:extLst>
              <a:ext uri="{FF2B5EF4-FFF2-40B4-BE49-F238E27FC236}">
                <a16:creationId xmlns:a16="http://schemas.microsoft.com/office/drawing/2014/main" id="{074D1219-3EE6-9161-E0C3-D6C1B48DEC3F}"/>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092352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93DBE-7B8A-4171-98CB-D3921723D894}"/>
              </a:ext>
            </a:extLst>
          </p:cNvPr>
          <p:cNvSpPr>
            <a:spLocks noGrp="1"/>
          </p:cNvSpPr>
          <p:nvPr>
            <p:ph type="title"/>
          </p:nvPr>
        </p:nvSpPr>
        <p:spPr/>
        <p:txBody>
          <a:bodyPr/>
          <a:lstStyle/>
          <a:p>
            <a:r>
              <a:rPr lang="en-GB" dirty="0"/>
              <a:t>starter</a:t>
            </a:r>
          </a:p>
        </p:txBody>
      </p:sp>
      <p:sp>
        <p:nvSpPr>
          <p:cNvPr id="3" name="Content Placeholder 2">
            <a:extLst>
              <a:ext uri="{FF2B5EF4-FFF2-40B4-BE49-F238E27FC236}">
                <a16:creationId xmlns:a16="http://schemas.microsoft.com/office/drawing/2014/main" id="{6CC0B874-66C8-4EE2-AE78-BC1D260FF931}"/>
              </a:ext>
            </a:extLst>
          </p:cNvPr>
          <p:cNvSpPr>
            <a:spLocks noGrp="1"/>
          </p:cNvSpPr>
          <p:nvPr>
            <p:ph idx="1"/>
          </p:nvPr>
        </p:nvSpPr>
        <p:spPr/>
        <p:txBody>
          <a:bodyPr>
            <a:normAutofit/>
          </a:bodyPr>
          <a:lstStyle/>
          <a:p>
            <a:pPr algn="ctr"/>
            <a:r>
              <a:rPr lang="en-GB" sz="2800" dirty="0"/>
              <a:t>Lists and tuples are both examples of _ _ _ _ _ _</a:t>
            </a:r>
          </a:p>
          <a:p>
            <a:pPr algn="ctr"/>
            <a:endParaRPr lang="en-GB" sz="2800" dirty="0"/>
          </a:p>
          <a:p>
            <a:pPr algn="ctr"/>
            <a:r>
              <a:rPr lang="en-GB" sz="2800" dirty="0"/>
              <a:t>What is the difference between a list and a tuple?</a:t>
            </a:r>
          </a:p>
          <a:p>
            <a:pPr algn="ctr"/>
            <a:endParaRPr lang="en-GB" sz="2800" dirty="0"/>
          </a:p>
          <a:p>
            <a:pPr algn="ctr"/>
            <a:r>
              <a:rPr lang="en-GB" sz="2800" dirty="0"/>
              <a:t>Tuples are _ _ _ _ _ _ _ _ _ _ _ </a:t>
            </a:r>
          </a:p>
        </p:txBody>
      </p:sp>
    </p:spTree>
    <p:extLst>
      <p:ext uri="{BB962C8B-B14F-4D97-AF65-F5344CB8AC3E}">
        <p14:creationId xmlns:p14="http://schemas.microsoft.com/office/powerpoint/2010/main" val="2582616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listS</a:t>
            </a:r>
            <a:endParaRPr lang="en-GB" dirty="0"/>
          </a:p>
        </p:txBody>
      </p:sp>
      <p:sp>
        <p:nvSpPr>
          <p:cNvPr id="3" name="Content Placeholder 2"/>
          <p:cNvSpPr>
            <a:spLocks noGrp="1"/>
          </p:cNvSpPr>
          <p:nvPr>
            <p:ph idx="1"/>
          </p:nvPr>
        </p:nvSpPr>
        <p:spPr/>
        <p:txBody>
          <a:bodyPr>
            <a:normAutofit/>
          </a:bodyPr>
          <a:lstStyle/>
          <a:p>
            <a:r>
              <a:rPr lang="en-GB" dirty="0"/>
              <a:t>Lists use square brackets – []</a:t>
            </a:r>
          </a:p>
          <a:p>
            <a:r>
              <a:rPr lang="en-GB" dirty="0"/>
              <a:t>Lists CAN be changed a run time – you can add, change, update or delete an item. </a:t>
            </a:r>
          </a:p>
          <a:p>
            <a:endParaRPr lang="en-GB" dirty="0"/>
          </a:p>
          <a:p>
            <a:r>
              <a:rPr lang="en-GB" dirty="0"/>
              <a:t>Example: </a:t>
            </a:r>
          </a:p>
          <a:p>
            <a:r>
              <a:rPr lang="en-GB" dirty="0" err="1"/>
              <a:t>myList</a:t>
            </a:r>
            <a:r>
              <a:rPr lang="en-GB" dirty="0"/>
              <a:t>=[“Dog”, “Cat”, “Fish”, “Donkey”]</a:t>
            </a:r>
          </a:p>
        </p:txBody>
      </p:sp>
    </p:spTree>
    <p:extLst>
      <p:ext uri="{BB962C8B-B14F-4D97-AF65-F5344CB8AC3E}">
        <p14:creationId xmlns:p14="http://schemas.microsoft.com/office/powerpoint/2010/main" val="3414797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LIST OPERATIONS – PROGRAM THESE AND FIND OUT WHAT ALL OF THEM DO!</a:t>
            </a:r>
          </a:p>
        </p:txBody>
      </p:sp>
      <p:sp>
        <p:nvSpPr>
          <p:cNvPr id="3" name="Content Placeholder 2"/>
          <p:cNvSpPr>
            <a:spLocks noGrp="1"/>
          </p:cNvSpPr>
          <p:nvPr>
            <p:ph idx="1"/>
          </p:nvPr>
        </p:nvSpPr>
        <p:spPr/>
        <p:txBody>
          <a:bodyPr numCol="3">
            <a:normAutofit/>
          </a:bodyPr>
          <a:lstStyle/>
          <a:p>
            <a:pPr>
              <a:buFont typeface="Wingdings" panose="05000000000000000000" pitchFamily="2" charset="2"/>
              <a:buChar char="§"/>
            </a:pPr>
            <a:r>
              <a:rPr lang="en-GB" dirty="0"/>
              <a:t>Initialising</a:t>
            </a:r>
          </a:p>
          <a:p>
            <a:pPr>
              <a:buFont typeface="Wingdings" panose="05000000000000000000" pitchFamily="2" charset="2"/>
              <a:buChar char="§"/>
            </a:pPr>
            <a:r>
              <a:rPr lang="en-GB" dirty="0"/>
              <a:t>Updating</a:t>
            </a:r>
          </a:p>
          <a:p>
            <a:pPr>
              <a:buFont typeface="Wingdings" panose="05000000000000000000" pitchFamily="2" charset="2"/>
              <a:buChar char="§"/>
            </a:pPr>
            <a:r>
              <a:rPr lang="en-GB" dirty="0"/>
              <a:t>Appending</a:t>
            </a:r>
          </a:p>
          <a:p>
            <a:pPr>
              <a:buFont typeface="Wingdings" panose="05000000000000000000" pitchFamily="2" charset="2"/>
              <a:buChar char="§"/>
            </a:pPr>
            <a:r>
              <a:rPr lang="en-GB" dirty="0"/>
              <a:t>Inserting to a position</a:t>
            </a:r>
          </a:p>
          <a:p>
            <a:pPr>
              <a:buFont typeface="Wingdings" panose="05000000000000000000" pitchFamily="2" charset="2"/>
              <a:buChar char="§"/>
            </a:pPr>
            <a:r>
              <a:rPr lang="en-GB" dirty="0"/>
              <a:t>Removing an item (value based)</a:t>
            </a:r>
          </a:p>
          <a:p>
            <a:pPr>
              <a:buFont typeface="Wingdings" panose="05000000000000000000" pitchFamily="2" charset="2"/>
              <a:buChar char="§"/>
            </a:pPr>
            <a:r>
              <a:rPr lang="en-GB" dirty="0"/>
              <a:t>Popping an item (returns last)</a:t>
            </a:r>
          </a:p>
          <a:p>
            <a:pPr>
              <a:buFont typeface="Wingdings" panose="05000000000000000000" pitchFamily="2" charset="2"/>
              <a:buChar char="§"/>
            </a:pPr>
            <a:endParaRPr lang="en-GB" dirty="0"/>
          </a:p>
          <a:p>
            <a:pPr>
              <a:buFont typeface="Wingdings" panose="05000000000000000000" pitchFamily="2" charset="2"/>
              <a:buChar char="§"/>
            </a:pPr>
            <a:r>
              <a:rPr lang="en-GB" dirty="0"/>
              <a:t>Popping a particular item (returns)</a:t>
            </a:r>
          </a:p>
          <a:p>
            <a:pPr>
              <a:buFont typeface="Wingdings" panose="05000000000000000000" pitchFamily="2" charset="2"/>
              <a:buChar char="§"/>
            </a:pPr>
            <a:r>
              <a:rPr lang="en-GB" dirty="0"/>
              <a:t>Deleting on location</a:t>
            </a:r>
          </a:p>
          <a:p>
            <a:pPr>
              <a:buFont typeface="Wingdings" panose="05000000000000000000" pitchFamily="2" charset="2"/>
              <a:buChar char="§"/>
            </a:pPr>
            <a:r>
              <a:rPr lang="en-GB" dirty="0"/>
              <a:t>Clearing a list</a:t>
            </a:r>
          </a:p>
          <a:p>
            <a:pPr>
              <a:buFont typeface="Wingdings" panose="05000000000000000000" pitchFamily="2" charset="2"/>
              <a:buChar char="§"/>
            </a:pPr>
            <a:r>
              <a:rPr lang="en-GB" dirty="0"/>
              <a:t>Deleting a list</a:t>
            </a:r>
          </a:p>
          <a:p>
            <a:pPr>
              <a:buFont typeface="Wingdings" panose="05000000000000000000" pitchFamily="2" charset="2"/>
              <a:buChar char="§"/>
            </a:pPr>
            <a:r>
              <a:rPr lang="en-GB" dirty="0"/>
              <a:t>Indexing items in a list</a:t>
            </a:r>
          </a:p>
          <a:p>
            <a:pPr>
              <a:buFont typeface="Wingdings" panose="05000000000000000000" pitchFamily="2" charset="2"/>
              <a:buChar char="§"/>
            </a:pPr>
            <a:r>
              <a:rPr lang="en-GB" dirty="0"/>
              <a:t>Reversing a list</a:t>
            </a:r>
          </a:p>
          <a:p>
            <a:pPr>
              <a:buFont typeface="Wingdings" panose="05000000000000000000" pitchFamily="2" charset="2"/>
              <a:buChar char="§"/>
            </a:pPr>
            <a:r>
              <a:rPr lang="en-GB" dirty="0"/>
              <a:t>Ordering a list</a:t>
            </a:r>
          </a:p>
          <a:p>
            <a:pPr>
              <a:buFont typeface="Wingdings" panose="05000000000000000000" pitchFamily="2" charset="2"/>
              <a:buChar char="§"/>
            </a:pPr>
            <a:r>
              <a:rPr lang="en-GB" dirty="0"/>
              <a:t>Extending a list</a:t>
            </a:r>
          </a:p>
          <a:p>
            <a:pPr>
              <a:buFont typeface="Wingdings" panose="05000000000000000000" pitchFamily="2" charset="2"/>
              <a:buChar char="§"/>
            </a:pPr>
            <a:r>
              <a:rPr lang="en-GB" dirty="0"/>
              <a:t>Concatenating lists</a:t>
            </a:r>
          </a:p>
          <a:p>
            <a:pPr>
              <a:buFont typeface="Wingdings" panose="05000000000000000000" pitchFamily="2" charset="2"/>
              <a:buChar char="§"/>
            </a:pPr>
            <a:r>
              <a:rPr lang="en-GB" dirty="0"/>
              <a:t>Slicing lists</a:t>
            </a:r>
          </a:p>
          <a:p>
            <a:pPr>
              <a:buFont typeface="Wingdings" panose="05000000000000000000" pitchFamily="2" charset="2"/>
              <a:buChar char="§"/>
            </a:pPr>
            <a:r>
              <a:rPr lang="en-GB" dirty="0"/>
              <a:t>Turn a string into a list</a:t>
            </a:r>
          </a:p>
          <a:p>
            <a:pPr>
              <a:buFont typeface="Wingdings" panose="05000000000000000000" pitchFamily="2" charset="2"/>
              <a:buChar char="§"/>
            </a:pPr>
            <a:r>
              <a:rPr lang="en-GB" dirty="0"/>
              <a:t>Creating a 2d array</a:t>
            </a:r>
          </a:p>
          <a:p>
            <a:pPr>
              <a:buFont typeface="Wingdings" panose="05000000000000000000" pitchFamily="2" charset="2"/>
              <a:buChar char="§"/>
            </a:pPr>
            <a:r>
              <a:rPr lang="en-GB" dirty="0"/>
              <a:t>Creating a 3d array</a:t>
            </a:r>
          </a:p>
          <a:p>
            <a:endParaRPr lang="en-GB" dirty="0"/>
          </a:p>
        </p:txBody>
      </p:sp>
    </p:spTree>
    <p:extLst>
      <p:ext uri="{BB962C8B-B14F-4D97-AF65-F5344CB8AC3E}">
        <p14:creationId xmlns:p14="http://schemas.microsoft.com/office/powerpoint/2010/main" val="2360018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LIST EXAMPLES</a:t>
            </a:r>
          </a:p>
        </p:txBody>
      </p:sp>
      <p:pic>
        <p:nvPicPr>
          <p:cNvPr id="4" name="Picture 3"/>
          <p:cNvPicPr>
            <a:picLocks noChangeAspect="1"/>
          </p:cNvPicPr>
          <p:nvPr/>
        </p:nvPicPr>
        <p:blipFill rotWithShape="1">
          <a:blip r:embed="rId2"/>
          <a:srcRect b="4265"/>
          <a:stretch/>
        </p:blipFill>
        <p:spPr>
          <a:xfrm>
            <a:off x="4897717" y="112199"/>
            <a:ext cx="3447393" cy="4754091"/>
          </a:xfrm>
          <a:prstGeom prst="rect">
            <a:avLst/>
          </a:prstGeom>
        </p:spPr>
      </p:pic>
      <p:pic>
        <p:nvPicPr>
          <p:cNvPr id="5" name="Picture 4"/>
          <p:cNvPicPr>
            <a:picLocks noChangeAspect="1"/>
          </p:cNvPicPr>
          <p:nvPr/>
        </p:nvPicPr>
        <p:blipFill>
          <a:blip r:embed="rId3"/>
          <a:stretch>
            <a:fillRect/>
          </a:stretch>
        </p:blipFill>
        <p:spPr>
          <a:xfrm>
            <a:off x="4858796" y="4866289"/>
            <a:ext cx="3430169" cy="1991711"/>
          </a:xfrm>
          <a:prstGeom prst="rect">
            <a:avLst/>
          </a:prstGeom>
        </p:spPr>
      </p:pic>
      <p:pic>
        <p:nvPicPr>
          <p:cNvPr id="6" name="Picture 5"/>
          <p:cNvPicPr>
            <a:picLocks noChangeAspect="1"/>
          </p:cNvPicPr>
          <p:nvPr/>
        </p:nvPicPr>
        <p:blipFill>
          <a:blip r:embed="rId4"/>
          <a:stretch>
            <a:fillRect/>
          </a:stretch>
        </p:blipFill>
        <p:spPr>
          <a:xfrm>
            <a:off x="8601463" y="112199"/>
            <a:ext cx="3064915" cy="2091696"/>
          </a:xfrm>
          <a:prstGeom prst="rect">
            <a:avLst/>
          </a:prstGeom>
        </p:spPr>
      </p:pic>
      <p:pic>
        <p:nvPicPr>
          <p:cNvPr id="7" name="Picture 6"/>
          <p:cNvPicPr>
            <a:picLocks noChangeAspect="1"/>
          </p:cNvPicPr>
          <p:nvPr/>
        </p:nvPicPr>
        <p:blipFill>
          <a:blip r:embed="rId5"/>
          <a:stretch>
            <a:fillRect/>
          </a:stretch>
        </p:blipFill>
        <p:spPr>
          <a:xfrm>
            <a:off x="8601463" y="2203894"/>
            <a:ext cx="3138488" cy="1529683"/>
          </a:xfrm>
          <a:prstGeom prst="rect">
            <a:avLst/>
          </a:prstGeom>
        </p:spPr>
      </p:pic>
      <p:pic>
        <p:nvPicPr>
          <p:cNvPr id="8" name="Picture 7"/>
          <p:cNvPicPr>
            <a:picLocks noChangeAspect="1"/>
          </p:cNvPicPr>
          <p:nvPr/>
        </p:nvPicPr>
        <p:blipFill>
          <a:blip r:embed="rId6"/>
          <a:stretch>
            <a:fillRect/>
          </a:stretch>
        </p:blipFill>
        <p:spPr>
          <a:xfrm>
            <a:off x="8601463" y="3733577"/>
            <a:ext cx="3138488" cy="2797063"/>
          </a:xfrm>
          <a:prstGeom prst="rect">
            <a:avLst/>
          </a:prstGeom>
        </p:spPr>
      </p:pic>
    </p:spTree>
    <p:extLst>
      <p:ext uri="{BB962C8B-B14F-4D97-AF65-F5344CB8AC3E}">
        <p14:creationId xmlns:p14="http://schemas.microsoft.com/office/powerpoint/2010/main" val="10342131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LISts</a:t>
            </a:r>
            <a:r>
              <a:rPr lang="en-GB" dirty="0"/>
              <a:t> – concatenate and slicing</a:t>
            </a:r>
          </a:p>
        </p:txBody>
      </p:sp>
      <p:pic>
        <p:nvPicPr>
          <p:cNvPr id="10" name="Picture 9"/>
          <p:cNvPicPr>
            <a:picLocks noChangeAspect="1"/>
          </p:cNvPicPr>
          <p:nvPr/>
        </p:nvPicPr>
        <p:blipFill rotWithShape="1">
          <a:blip r:embed="rId2"/>
          <a:srcRect t="5790"/>
          <a:stretch/>
        </p:blipFill>
        <p:spPr>
          <a:xfrm>
            <a:off x="936820" y="4263563"/>
            <a:ext cx="8798031" cy="1133703"/>
          </a:xfrm>
          <a:prstGeom prst="rect">
            <a:avLst/>
          </a:prstGeom>
        </p:spPr>
      </p:pic>
      <p:pic>
        <p:nvPicPr>
          <p:cNvPr id="11" name="Picture 10"/>
          <p:cNvPicPr>
            <a:picLocks noChangeAspect="1"/>
          </p:cNvPicPr>
          <p:nvPr/>
        </p:nvPicPr>
        <p:blipFill>
          <a:blip r:embed="rId3"/>
          <a:stretch>
            <a:fillRect/>
          </a:stretch>
        </p:blipFill>
        <p:spPr>
          <a:xfrm>
            <a:off x="936820" y="1880505"/>
            <a:ext cx="4166407" cy="2383059"/>
          </a:xfrm>
          <a:prstGeom prst="rect">
            <a:avLst/>
          </a:prstGeom>
        </p:spPr>
      </p:pic>
      <p:pic>
        <p:nvPicPr>
          <p:cNvPr id="12" name="Picture 11"/>
          <p:cNvPicPr>
            <a:picLocks noChangeAspect="1"/>
          </p:cNvPicPr>
          <p:nvPr/>
        </p:nvPicPr>
        <p:blipFill>
          <a:blip r:embed="rId4"/>
          <a:stretch>
            <a:fillRect/>
          </a:stretch>
        </p:blipFill>
        <p:spPr>
          <a:xfrm>
            <a:off x="936820" y="5397265"/>
            <a:ext cx="6972669" cy="1254795"/>
          </a:xfrm>
          <a:prstGeom prst="rect">
            <a:avLst/>
          </a:prstGeom>
        </p:spPr>
      </p:pic>
    </p:spTree>
    <p:extLst>
      <p:ext uri="{BB962C8B-B14F-4D97-AF65-F5344CB8AC3E}">
        <p14:creationId xmlns:p14="http://schemas.microsoft.com/office/powerpoint/2010/main" val="29162876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2D arrays</a:t>
            </a:r>
          </a:p>
        </p:txBody>
      </p:sp>
      <p:sp>
        <p:nvSpPr>
          <p:cNvPr id="3" name="Content Placeholder 2"/>
          <p:cNvSpPr>
            <a:spLocks noGrp="1"/>
          </p:cNvSpPr>
          <p:nvPr>
            <p:ph idx="1"/>
          </p:nvPr>
        </p:nvSpPr>
        <p:spPr/>
        <p:txBody>
          <a:bodyPr>
            <a:normAutofit/>
          </a:bodyPr>
          <a:lstStyle/>
          <a:p>
            <a:r>
              <a:rPr lang="en-GB" dirty="0"/>
              <a:t>Remember you can have 2D, 3D, 4D arrays by putting lists inside lists inside lists! </a:t>
            </a:r>
          </a:p>
          <a:p>
            <a:endParaRPr lang="en-GB" dirty="0"/>
          </a:p>
          <a:p>
            <a:r>
              <a:rPr lang="en-GB" dirty="0"/>
              <a:t>Example: </a:t>
            </a:r>
          </a:p>
          <a:p>
            <a:endParaRPr lang="en-GB" dirty="0"/>
          </a:p>
          <a:p>
            <a:r>
              <a:rPr lang="en-GB" sz="2000" dirty="0"/>
              <a:t>students=[[“Alan”,17],[“Dave”,18],[“Steve”,16]]</a:t>
            </a:r>
          </a:p>
          <a:p>
            <a:endParaRPr lang="en-GB" dirty="0"/>
          </a:p>
          <a:p>
            <a:r>
              <a:rPr lang="en-GB" dirty="0"/>
              <a:t>How would you print the name “Steve”? </a:t>
            </a:r>
          </a:p>
          <a:p>
            <a:r>
              <a:rPr lang="en-GB" dirty="0"/>
              <a:t>print(students[2][0])</a:t>
            </a:r>
          </a:p>
          <a:p>
            <a:endParaRPr lang="en-GB" dirty="0"/>
          </a:p>
        </p:txBody>
      </p:sp>
    </p:spTree>
    <p:extLst>
      <p:ext uri="{BB962C8B-B14F-4D97-AF65-F5344CB8AC3E}">
        <p14:creationId xmlns:p14="http://schemas.microsoft.com/office/powerpoint/2010/main" val="4245344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LISts</a:t>
            </a:r>
            <a:r>
              <a:rPr lang="en-GB" dirty="0"/>
              <a:t> – 2d and 3d lists</a:t>
            </a:r>
          </a:p>
        </p:txBody>
      </p:sp>
      <p:pic>
        <p:nvPicPr>
          <p:cNvPr id="6" name="Picture 5"/>
          <p:cNvPicPr>
            <a:picLocks noChangeAspect="1"/>
          </p:cNvPicPr>
          <p:nvPr/>
        </p:nvPicPr>
        <p:blipFill>
          <a:blip r:embed="rId2"/>
          <a:stretch>
            <a:fillRect/>
          </a:stretch>
        </p:blipFill>
        <p:spPr>
          <a:xfrm>
            <a:off x="1024128" y="2325470"/>
            <a:ext cx="6779860" cy="3727389"/>
          </a:xfrm>
          <a:prstGeom prst="rect">
            <a:avLst/>
          </a:prstGeom>
        </p:spPr>
      </p:pic>
    </p:spTree>
    <p:extLst>
      <p:ext uri="{BB962C8B-B14F-4D97-AF65-F5344CB8AC3E}">
        <p14:creationId xmlns:p14="http://schemas.microsoft.com/office/powerpoint/2010/main" val="579447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CA54F-44B2-AB40-0967-4F1E48DDB165}"/>
              </a:ext>
            </a:extLst>
          </p:cNvPr>
          <p:cNvSpPr>
            <a:spLocks noGrp="1"/>
          </p:cNvSpPr>
          <p:nvPr>
            <p:ph type="ctrTitle"/>
          </p:nvPr>
        </p:nvSpPr>
        <p:spPr/>
        <p:txBody>
          <a:bodyPr/>
          <a:lstStyle/>
          <a:p>
            <a:r>
              <a:rPr lang="en-GB" dirty="0"/>
              <a:t>Part 3</a:t>
            </a:r>
          </a:p>
        </p:txBody>
      </p:sp>
      <p:sp>
        <p:nvSpPr>
          <p:cNvPr id="3" name="Subtitle 2">
            <a:extLst>
              <a:ext uri="{FF2B5EF4-FFF2-40B4-BE49-F238E27FC236}">
                <a16:creationId xmlns:a16="http://schemas.microsoft.com/office/drawing/2014/main" id="{96CCEA70-3DEE-79F0-20EB-FA81E7F4D9D5}"/>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433170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93DBE-7B8A-4171-98CB-D3921723D894}"/>
              </a:ext>
            </a:extLst>
          </p:cNvPr>
          <p:cNvSpPr>
            <a:spLocks noGrp="1"/>
          </p:cNvSpPr>
          <p:nvPr>
            <p:ph type="title"/>
          </p:nvPr>
        </p:nvSpPr>
        <p:spPr/>
        <p:txBody>
          <a:bodyPr/>
          <a:lstStyle/>
          <a:p>
            <a:r>
              <a:rPr lang="en-GB" dirty="0"/>
              <a:t>starter</a:t>
            </a:r>
          </a:p>
        </p:txBody>
      </p:sp>
      <p:sp>
        <p:nvSpPr>
          <p:cNvPr id="3" name="Content Placeholder 2">
            <a:extLst>
              <a:ext uri="{FF2B5EF4-FFF2-40B4-BE49-F238E27FC236}">
                <a16:creationId xmlns:a16="http://schemas.microsoft.com/office/drawing/2014/main" id="{6CC0B874-66C8-4EE2-AE78-BC1D260FF931}"/>
              </a:ext>
            </a:extLst>
          </p:cNvPr>
          <p:cNvSpPr>
            <a:spLocks noGrp="1"/>
          </p:cNvSpPr>
          <p:nvPr>
            <p:ph idx="1"/>
          </p:nvPr>
        </p:nvSpPr>
        <p:spPr/>
        <p:txBody>
          <a:bodyPr>
            <a:normAutofit/>
          </a:bodyPr>
          <a:lstStyle/>
          <a:p>
            <a:pPr algn="ctr"/>
            <a:r>
              <a:rPr lang="en-GB" sz="2800" dirty="0"/>
              <a:t>State the most appropriate data type for each of the following</a:t>
            </a:r>
          </a:p>
          <a:p>
            <a:pPr marL="514350" indent="-514350">
              <a:buFont typeface="+mj-lt"/>
              <a:buAutoNum type="alphaUcPeriod"/>
            </a:pPr>
            <a:r>
              <a:rPr lang="en-GB" sz="2800" dirty="0"/>
              <a:t>12.76</a:t>
            </a:r>
          </a:p>
          <a:p>
            <a:pPr marL="514350" indent="-514350">
              <a:buFont typeface="+mj-lt"/>
              <a:buAutoNum type="alphaUcPeriod"/>
            </a:pPr>
            <a:r>
              <a:rPr lang="en-GB" sz="2800" dirty="0"/>
              <a:t>“Tea”</a:t>
            </a:r>
          </a:p>
          <a:p>
            <a:pPr marL="514350" indent="-514350">
              <a:buFont typeface="+mj-lt"/>
              <a:buAutoNum type="alphaUcPeriod"/>
            </a:pPr>
            <a:r>
              <a:rPr lang="en-GB" sz="2800" dirty="0"/>
              <a:t>12:06</a:t>
            </a:r>
          </a:p>
          <a:p>
            <a:pPr marL="514350" indent="-514350">
              <a:buFont typeface="+mj-lt"/>
              <a:buAutoNum type="alphaUcPeriod"/>
            </a:pPr>
            <a:r>
              <a:rPr lang="en-GB" sz="2800" dirty="0"/>
              <a:t>-17</a:t>
            </a:r>
          </a:p>
          <a:p>
            <a:pPr marL="514350" indent="-514350">
              <a:buFont typeface="+mj-lt"/>
              <a:buAutoNum type="alphaUcPeriod"/>
            </a:pPr>
            <a:r>
              <a:rPr lang="en-GB" sz="2800" dirty="0"/>
              <a:t>False</a:t>
            </a:r>
          </a:p>
        </p:txBody>
      </p:sp>
      <p:sp>
        <p:nvSpPr>
          <p:cNvPr id="4" name="Rectangle 3">
            <a:extLst>
              <a:ext uri="{FF2B5EF4-FFF2-40B4-BE49-F238E27FC236}">
                <a16:creationId xmlns:a16="http://schemas.microsoft.com/office/drawing/2014/main" id="{873E780A-C89B-460E-877F-866970CBB0C8}"/>
              </a:ext>
            </a:extLst>
          </p:cNvPr>
          <p:cNvSpPr/>
          <p:nvPr/>
        </p:nvSpPr>
        <p:spPr>
          <a:xfrm>
            <a:off x="3507698" y="2743650"/>
            <a:ext cx="1543987" cy="5209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Float</a:t>
            </a:r>
          </a:p>
        </p:txBody>
      </p:sp>
      <p:sp>
        <p:nvSpPr>
          <p:cNvPr id="5" name="Rectangle 4">
            <a:extLst>
              <a:ext uri="{FF2B5EF4-FFF2-40B4-BE49-F238E27FC236}">
                <a16:creationId xmlns:a16="http://schemas.microsoft.com/office/drawing/2014/main" id="{FC137166-CA7A-4CCA-A6ED-98781C31A2D7}"/>
              </a:ext>
            </a:extLst>
          </p:cNvPr>
          <p:cNvSpPr/>
          <p:nvPr/>
        </p:nvSpPr>
        <p:spPr>
          <a:xfrm>
            <a:off x="3507697" y="3291241"/>
            <a:ext cx="1543987" cy="5209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String</a:t>
            </a:r>
          </a:p>
        </p:txBody>
      </p:sp>
      <p:sp>
        <p:nvSpPr>
          <p:cNvPr id="6" name="Rectangle 5">
            <a:extLst>
              <a:ext uri="{FF2B5EF4-FFF2-40B4-BE49-F238E27FC236}">
                <a16:creationId xmlns:a16="http://schemas.microsoft.com/office/drawing/2014/main" id="{FFFFA650-13C6-4FDF-B49B-45C370F6A222}"/>
              </a:ext>
            </a:extLst>
          </p:cNvPr>
          <p:cNvSpPr/>
          <p:nvPr/>
        </p:nvSpPr>
        <p:spPr>
          <a:xfrm>
            <a:off x="3507697" y="3838832"/>
            <a:ext cx="1543987" cy="5209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Date/Time</a:t>
            </a:r>
          </a:p>
        </p:txBody>
      </p:sp>
      <p:sp>
        <p:nvSpPr>
          <p:cNvPr id="7" name="Rectangle 6">
            <a:extLst>
              <a:ext uri="{FF2B5EF4-FFF2-40B4-BE49-F238E27FC236}">
                <a16:creationId xmlns:a16="http://schemas.microsoft.com/office/drawing/2014/main" id="{6E5FFBB0-A789-4289-968B-089B35449310}"/>
              </a:ext>
            </a:extLst>
          </p:cNvPr>
          <p:cNvSpPr/>
          <p:nvPr/>
        </p:nvSpPr>
        <p:spPr>
          <a:xfrm>
            <a:off x="3507696" y="4405386"/>
            <a:ext cx="1543987" cy="5209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Integer</a:t>
            </a:r>
          </a:p>
        </p:txBody>
      </p:sp>
      <p:sp>
        <p:nvSpPr>
          <p:cNvPr id="8" name="Rectangle 7">
            <a:extLst>
              <a:ext uri="{FF2B5EF4-FFF2-40B4-BE49-F238E27FC236}">
                <a16:creationId xmlns:a16="http://schemas.microsoft.com/office/drawing/2014/main" id="{B5E4C15A-C6C2-49D9-B613-AAB1ECE83F05}"/>
              </a:ext>
            </a:extLst>
          </p:cNvPr>
          <p:cNvSpPr/>
          <p:nvPr/>
        </p:nvSpPr>
        <p:spPr>
          <a:xfrm>
            <a:off x="3507696" y="4979660"/>
            <a:ext cx="1543987" cy="5209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Boolean</a:t>
            </a:r>
            <a:endParaRPr lang="en-GB" dirty="0"/>
          </a:p>
        </p:txBody>
      </p:sp>
    </p:spTree>
    <p:extLst>
      <p:ext uri="{BB962C8B-B14F-4D97-AF65-F5344CB8AC3E}">
        <p14:creationId xmlns:p14="http://schemas.microsoft.com/office/powerpoint/2010/main" val="86952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2AE83-1710-2EC3-022C-89B679B5E95C}"/>
              </a:ext>
            </a:extLst>
          </p:cNvPr>
          <p:cNvSpPr>
            <a:spLocks noGrp="1"/>
          </p:cNvSpPr>
          <p:nvPr>
            <p:ph type="title"/>
          </p:nvPr>
        </p:nvSpPr>
        <p:spPr/>
        <p:txBody>
          <a:bodyPr/>
          <a:lstStyle/>
          <a:p>
            <a:r>
              <a:rPr lang="en-GB" dirty="0"/>
              <a:t>starter</a:t>
            </a:r>
          </a:p>
        </p:txBody>
      </p:sp>
      <p:sp>
        <p:nvSpPr>
          <p:cNvPr id="3" name="Content Placeholder 2">
            <a:extLst>
              <a:ext uri="{FF2B5EF4-FFF2-40B4-BE49-F238E27FC236}">
                <a16:creationId xmlns:a16="http://schemas.microsoft.com/office/drawing/2014/main" id="{089020AE-B5D4-50EB-A222-86F77048A25F}"/>
              </a:ext>
            </a:extLst>
          </p:cNvPr>
          <p:cNvSpPr>
            <a:spLocks noGrp="1"/>
          </p:cNvSpPr>
          <p:nvPr>
            <p:ph idx="1"/>
          </p:nvPr>
        </p:nvSpPr>
        <p:spPr/>
        <p:txBody>
          <a:bodyPr>
            <a:normAutofit/>
          </a:bodyPr>
          <a:lstStyle/>
          <a:p>
            <a:r>
              <a:rPr lang="en-GB" sz="2400" dirty="0"/>
              <a:t>Solve the anagrams:</a:t>
            </a:r>
          </a:p>
          <a:p>
            <a:endParaRPr lang="en-GB" sz="2400" dirty="0"/>
          </a:p>
          <a:p>
            <a:pPr marL="457200" indent="-457200" algn="ctr">
              <a:buFont typeface="+mj-lt"/>
              <a:buAutoNum type="arabicPeriod"/>
            </a:pPr>
            <a:r>
              <a:rPr lang="en-GB" sz="3600" dirty="0" err="1"/>
              <a:t>srntig</a:t>
            </a:r>
            <a:endParaRPr lang="en-GB" sz="3600" dirty="0"/>
          </a:p>
          <a:p>
            <a:pPr marL="457200" indent="-457200" algn="ctr">
              <a:buFont typeface="+mj-lt"/>
              <a:buAutoNum type="arabicPeriod"/>
            </a:pPr>
            <a:r>
              <a:rPr lang="en-GB" sz="3600" dirty="0" err="1"/>
              <a:t>rraay</a:t>
            </a:r>
            <a:endParaRPr lang="en-GB" sz="3600" dirty="0"/>
          </a:p>
          <a:p>
            <a:pPr marL="457200" indent="-457200" algn="ctr">
              <a:buFont typeface="+mj-lt"/>
              <a:buAutoNum type="arabicPeriod"/>
            </a:pPr>
            <a:r>
              <a:rPr lang="en-GB" sz="3600" dirty="0" err="1"/>
              <a:t>cahatrecr</a:t>
            </a:r>
            <a:endParaRPr lang="en-GB" sz="3600" dirty="0"/>
          </a:p>
          <a:p>
            <a:pPr marL="457200" indent="-457200" algn="ctr">
              <a:buFont typeface="+mj-lt"/>
              <a:buAutoNum type="arabicPeriod"/>
            </a:pPr>
            <a:endParaRPr lang="en-GB" sz="2400" dirty="0"/>
          </a:p>
        </p:txBody>
      </p:sp>
    </p:spTree>
    <p:extLst>
      <p:ext uri="{BB962C8B-B14F-4D97-AF65-F5344CB8AC3E}">
        <p14:creationId xmlns:p14="http://schemas.microsoft.com/office/powerpoint/2010/main" val="40991973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2AE83-1710-2EC3-022C-89B679B5E95C}"/>
              </a:ext>
            </a:extLst>
          </p:cNvPr>
          <p:cNvSpPr>
            <a:spLocks noGrp="1"/>
          </p:cNvSpPr>
          <p:nvPr>
            <p:ph type="title"/>
          </p:nvPr>
        </p:nvSpPr>
        <p:spPr/>
        <p:txBody>
          <a:bodyPr/>
          <a:lstStyle/>
          <a:p>
            <a:r>
              <a:rPr lang="en-GB" dirty="0"/>
              <a:t>starter</a:t>
            </a:r>
          </a:p>
        </p:txBody>
      </p:sp>
      <p:sp>
        <p:nvSpPr>
          <p:cNvPr id="3" name="Content Placeholder 2">
            <a:extLst>
              <a:ext uri="{FF2B5EF4-FFF2-40B4-BE49-F238E27FC236}">
                <a16:creationId xmlns:a16="http://schemas.microsoft.com/office/drawing/2014/main" id="{089020AE-B5D4-50EB-A222-86F77048A25F}"/>
              </a:ext>
            </a:extLst>
          </p:cNvPr>
          <p:cNvSpPr>
            <a:spLocks noGrp="1"/>
          </p:cNvSpPr>
          <p:nvPr>
            <p:ph idx="1"/>
          </p:nvPr>
        </p:nvSpPr>
        <p:spPr/>
        <p:txBody>
          <a:bodyPr>
            <a:normAutofit/>
          </a:bodyPr>
          <a:lstStyle/>
          <a:p>
            <a:r>
              <a:rPr lang="en-GB" sz="2400" dirty="0"/>
              <a:t>What data types should be used for the following:</a:t>
            </a:r>
          </a:p>
          <a:p>
            <a:endParaRPr lang="en-GB" sz="2400" dirty="0"/>
          </a:p>
          <a:p>
            <a:endParaRPr lang="en-GB" sz="2400" dirty="0"/>
          </a:p>
          <a:p>
            <a:pPr marL="0" indent="0" algn="ctr">
              <a:buNone/>
            </a:pPr>
            <a:r>
              <a:rPr lang="en-GB" sz="6000" dirty="0"/>
              <a:t>Name</a:t>
            </a:r>
            <a:endParaRPr lang="en-GB" sz="2400" dirty="0"/>
          </a:p>
        </p:txBody>
      </p:sp>
    </p:spTree>
    <p:extLst>
      <p:ext uri="{BB962C8B-B14F-4D97-AF65-F5344CB8AC3E}">
        <p14:creationId xmlns:p14="http://schemas.microsoft.com/office/powerpoint/2010/main" val="2643138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2AE83-1710-2EC3-022C-89B679B5E95C}"/>
              </a:ext>
            </a:extLst>
          </p:cNvPr>
          <p:cNvSpPr>
            <a:spLocks noGrp="1"/>
          </p:cNvSpPr>
          <p:nvPr>
            <p:ph type="title"/>
          </p:nvPr>
        </p:nvSpPr>
        <p:spPr/>
        <p:txBody>
          <a:bodyPr/>
          <a:lstStyle/>
          <a:p>
            <a:r>
              <a:rPr lang="en-GB" dirty="0"/>
              <a:t>starter</a:t>
            </a:r>
          </a:p>
        </p:txBody>
      </p:sp>
      <p:sp>
        <p:nvSpPr>
          <p:cNvPr id="3" name="Content Placeholder 2">
            <a:extLst>
              <a:ext uri="{FF2B5EF4-FFF2-40B4-BE49-F238E27FC236}">
                <a16:creationId xmlns:a16="http://schemas.microsoft.com/office/drawing/2014/main" id="{089020AE-B5D4-50EB-A222-86F77048A25F}"/>
              </a:ext>
            </a:extLst>
          </p:cNvPr>
          <p:cNvSpPr>
            <a:spLocks noGrp="1"/>
          </p:cNvSpPr>
          <p:nvPr>
            <p:ph idx="1"/>
          </p:nvPr>
        </p:nvSpPr>
        <p:spPr/>
        <p:txBody>
          <a:bodyPr>
            <a:normAutofit/>
          </a:bodyPr>
          <a:lstStyle/>
          <a:p>
            <a:r>
              <a:rPr lang="en-GB" sz="2400" dirty="0"/>
              <a:t>What data types should be used for the following:</a:t>
            </a:r>
          </a:p>
          <a:p>
            <a:endParaRPr lang="en-GB" sz="2400" dirty="0"/>
          </a:p>
          <a:p>
            <a:endParaRPr lang="en-GB" sz="2400" dirty="0"/>
          </a:p>
          <a:p>
            <a:pPr marL="0" indent="0" algn="ctr">
              <a:buNone/>
            </a:pPr>
            <a:r>
              <a:rPr lang="en-GB" sz="6000" dirty="0"/>
              <a:t>Age</a:t>
            </a:r>
            <a:endParaRPr lang="en-GB" sz="2400" dirty="0"/>
          </a:p>
        </p:txBody>
      </p:sp>
    </p:spTree>
    <p:extLst>
      <p:ext uri="{BB962C8B-B14F-4D97-AF65-F5344CB8AC3E}">
        <p14:creationId xmlns:p14="http://schemas.microsoft.com/office/powerpoint/2010/main" val="3141641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2AE83-1710-2EC3-022C-89B679B5E95C}"/>
              </a:ext>
            </a:extLst>
          </p:cNvPr>
          <p:cNvSpPr>
            <a:spLocks noGrp="1"/>
          </p:cNvSpPr>
          <p:nvPr>
            <p:ph type="title"/>
          </p:nvPr>
        </p:nvSpPr>
        <p:spPr/>
        <p:txBody>
          <a:bodyPr/>
          <a:lstStyle/>
          <a:p>
            <a:r>
              <a:rPr lang="en-GB" dirty="0"/>
              <a:t>starter</a:t>
            </a:r>
          </a:p>
        </p:txBody>
      </p:sp>
      <p:sp>
        <p:nvSpPr>
          <p:cNvPr id="3" name="Content Placeholder 2">
            <a:extLst>
              <a:ext uri="{FF2B5EF4-FFF2-40B4-BE49-F238E27FC236}">
                <a16:creationId xmlns:a16="http://schemas.microsoft.com/office/drawing/2014/main" id="{089020AE-B5D4-50EB-A222-86F77048A25F}"/>
              </a:ext>
            </a:extLst>
          </p:cNvPr>
          <p:cNvSpPr>
            <a:spLocks noGrp="1"/>
          </p:cNvSpPr>
          <p:nvPr>
            <p:ph idx="1"/>
          </p:nvPr>
        </p:nvSpPr>
        <p:spPr/>
        <p:txBody>
          <a:bodyPr>
            <a:normAutofit/>
          </a:bodyPr>
          <a:lstStyle/>
          <a:p>
            <a:pPr marL="0" indent="0" algn="ctr">
              <a:buNone/>
            </a:pPr>
            <a:endParaRPr lang="en-GB" sz="2400" dirty="0"/>
          </a:p>
          <a:p>
            <a:pPr marL="0" indent="0" algn="ctr">
              <a:buNone/>
            </a:pPr>
            <a:endParaRPr lang="en-GB" sz="4400" dirty="0"/>
          </a:p>
          <a:p>
            <a:pPr marL="0" indent="0" algn="ctr">
              <a:buNone/>
            </a:pPr>
            <a:r>
              <a:rPr lang="en-GB" sz="4400" dirty="0"/>
              <a:t>Give 2 types of array</a:t>
            </a:r>
          </a:p>
        </p:txBody>
      </p:sp>
    </p:spTree>
    <p:extLst>
      <p:ext uri="{BB962C8B-B14F-4D97-AF65-F5344CB8AC3E}">
        <p14:creationId xmlns:p14="http://schemas.microsoft.com/office/powerpoint/2010/main" val="14308772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2AE83-1710-2EC3-022C-89B679B5E95C}"/>
              </a:ext>
            </a:extLst>
          </p:cNvPr>
          <p:cNvSpPr>
            <a:spLocks noGrp="1"/>
          </p:cNvSpPr>
          <p:nvPr>
            <p:ph type="title"/>
          </p:nvPr>
        </p:nvSpPr>
        <p:spPr/>
        <p:txBody>
          <a:bodyPr/>
          <a:lstStyle/>
          <a:p>
            <a:r>
              <a:rPr lang="en-GB" dirty="0"/>
              <a:t>starter</a:t>
            </a:r>
          </a:p>
        </p:txBody>
      </p:sp>
      <p:sp>
        <p:nvSpPr>
          <p:cNvPr id="3" name="Content Placeholder 2">
            <a:extLst>
              <a:ext uri="{FF2B5EF4-FFF2-40B4-BE49-F238E27FC236}">
                <a16:creationId xmlns:a16="http://schemas.microsoft.com/office/drawing/2014/main" id="{089020AE-B5D4-50EB-A222-86F77048A25F}"/>
              </a:ext>
            </a:extLst>
          </p:cNvPr>
          <p:cNvSpPr>
            <a:spLocks noGrp="1"/>
          </p:cNvSpPr>
          <p:nvPr>
            <p:ph idx="1"/>
          </p:nvPr>
        </p:nvSpPr>
        <p:spPr/>
        <p:txBody>
          <a:bodyPr>
            <a:normAutofit/>
          </a:bodyPr>
          <a:lstStyle/>
          <a:p>
            <a:pPr marL="0" indent="0" algn="ctr">
              <a:buNone/>
            </a:pPr>
            <a:endParaRPr lang="en-GB" sz="2400" dirty="0"/>
          </a:p>
          <a:p>
            <a:pPr marL="0" indent="0" algn="ctr">
              <a:buNone/>
            </a:pPr>
            <a:endParaRPr lang="en-GB" sz="4400" dirty="0"/>
          </a:p>
          <a:p>
            <a:pPr marL="0" indent="0" algn="ctr">
              <a:buNone/>
            </a:pPr>
            <a:r>
              <a:rPr lang="en-GB" sz="4400" dirty="0"/>
              <a:t>Which array uses [] ?</a:t>
            </a:r>
          </a:p>
        </p:txBody>
      </p:sp>
    </p:spTree>
    <p:extLst>
      <p:ext uri="{BB962C8B-B14F-4D97-AF65-F5344CB8AC3E}">
        <p14:creationId xmlns:p14="http://schemas.microsoft.com/office/powerpoint/2010/main" val="159508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2AE83-1710-2EC3-022C-89B679B5E95C}"/>
              </a:ext>
            </a:extLst>
          </p:cNvPr>
          <p:cNvSpPr>
            <a:spLocks noGrp="1"/>
          </p:cNvSpPr>
          <p:nvPr>
            <p:ph type="title"/>
          </p:nvPr>
        </p:nvSpPr>
        <p:spPr/>
        <p:txBody>
          <a:bodyPr/>
          <a:lstStyle/>
          <a:p>
            <a:r>
              <a:rPr lang="en-GB" dirty="0"/>
              <a:t>starter</a:t>
            </a:r>
          </a:p>
        </p:txBody>
      </p:sp>
      <p:sp>
        <p:nvSpPr>
          <p:cNvPr id="3" name="Content Placeholder 2">
            <a:extLst>
              <a:ext uri="{FF2B5EF4-FFF2-40B4-BE49-F238E27FC236}">
                <a16:creationId xmlns:a16="http://schemas.microsoft.com/office/drawing/2014/main" id="{089020AE-B5D4-50EB-A222-86F77048A25F}"/>
              </a:ext>
            </a:extLst>
          </p:cNvPr>
          <p:cNvSpPr>
            <a:spLocks noGrp="1"/>
          </p:cNvSpPr>
          <p:nvPr>
            <p:ph idx="1"/>
          </p:nvPr>
        </p:nvSpPr>
        <p:spPr/>
        <p:txBody>
          <a:bodyPr>
            <a:normAutofit/>
          </a:bodyPr>
          <a:lstStyle/>
          <a:p>
            <a:pPr marL="0" indent="0" algn="ctr">
              <a:buNone/>
            </a:pPr>
            <a:endParaRPr lang="en-GB" sz="2400" dirty="0"/>
          </a:p>
          <a:p>
            <a:pPr marL="0" indent="0" algn="ctr">
              <a:buNone/>
            </a:pPr>
            <a:endParaRPr lang="en-GB" sz="4400" dirty="0"/>
          </a:p>
          <a:p>
            <a:pPr marL="0" indent="0" algn="ctr">
              <a:buNone/>
            </a:pPr>
            <a:r>
              <a:rPr lang="en-GB" sz="4400" dirty="0"/>
              <a:t>Which array uses () ?</a:t>
            </a:r>
          </a:p>
        </p:txBody>
      </p:sp>
    </p:spTree>
    <p:extLst>
      <p:ext uri="{BB962C8B-B14F-4D97-AF65-F5344CB8AC3E}">
        <p14:creationId xmlns:p14="http://schemas.microsoft.com/office/powerpoint/2010/main" val="19504831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2AE83-1710-2EC3-022C-89B679B5E95C}"/>
              </a:ext>
            </a:extLst>
          </p:cNvPr>
          <p:cNvSpPr>
            <a:spLocks noGrp="1"/>
          </p:cNvSpPr>
          <p:nvPr>
            <p:ph type="title"/>
          </p:nvPr>
        </p:nvSpPr>
        <p:spPr/>
        <p:txBody>
          <a:bodyPr/>
          <a:lstStyle/>
          <a:p>
            <a:r>
              <a:rPr lang="en-GB" dirty="0"/>
              <a:t>starter</a:t>
            </a:r>
          </a:p>
        </p:txBody>
      </p:sp>
      <p:sp>
        <p:nvSpPr>
          <p:cNvPr id="3" name="Content Placeholder 2">
            <a:extLst>
              <a:ext uri="{FF2B5EF4-FFF2-40B4-BE49-F238E27FC236}">
                <a16:creationId xmlns:a16="http://schemas.microsoft.com/office/drawing/2014/main" id="{089020AE-B5D4-50EB-A222-86F77048A25F}"/>
              </a:ext>
            </a:extLst>
          </p:cNvPr>
          <p:cNvSpPr>
            <a:spLocks noGrp="1"/>
          </p:cNvSpPr>
          <p:nvPr>
            <p:ph idx="1"/>
          </p:nvPr>
        </p:nvSpPr>
        <p:spPr/>
        <p:txBody>
          <a:bodyPr>
            <a:normAutofit/>
          </a:bodyPr>
          <a:lstStyle/>
          <a:p>
            <a:pPr marL="0" indent="0" algn="ctr">
              <a:buNone/>
            </a:pPr>
            <a:endParaRPr lang="en-GB" sz="4000" dirty="0"/>
          </a:p>
          <a:p>
            <a:pPr marL="0" indent="0" algn="ctr">
              <a:buNone/>
            </a:pPr>
            <a:endParaRPr lang="en-GB" sz="2000" dirty="0"/>
          </a:p>
          <a:p>
            <a:pPr marL="0" indent="0" algn="ctr">
              <a:buNone/>
            </a:pPr>
            <a:r>
              <a:rPr lang="en-GB" sz="4000" dirty="0"/>
              <a:t>What is the difference between a list, tuple and dictionary?</a:t>
            </a:r>
            <a:endParaRPr lang="en-GB" sz="6600" dirty="0"/>
          </a:p>
        </p:txBody>
      </p:sp>
    </p:spTree>
    <p:extLst>
      <p:ext uri="{BB962C8B-B14F-4D97-AF65-F5344CB8AC3E}">
        <p14:creationId xmlns:p14="http://schemas.microsoft.com/office/powerpoint/2010/main" val="20267223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Dictionary</a:t>
            </a:r>
          </a:p>
        </p:txBody>
      </p:sp>
      <p:sp>
        <p:nvSpPr>
          <p:cNvPr id="3" name="Content Placeholder 2"/>
          <p:cNvSpPr>
            <a:spLocks noGrp="1"/>
          </p:cNvSpPr>
          <p:nvPr>
            <p:ph idx="1"/>
          </p:nvPr>
        </p:nvSpPr>
        <p:spPr/>
        <p:txBody>
          <a:bodyPr>
            <a:normAutofit fontScale="92500"/>
          </a:bodyPr>
          <a:lstStyle/>
          <a:p>
            <a:r>
              <a:rPr lang="en-GB" dirty="0"/>
              <a:t>Dictionaries use curly braces - {}</a:t>
            </a:r>
          </a:p>
          <a:p>
            <a:r>
              <a:rPr lang="en-GB" dirty="0"/>
              <a:t>Dictionaries CAN be changed a run time – you can add, change, update or delete an item. </a:t>
            </a:r>
          </a:p>
          <a:p>
            <a:endParaRPr lang="en-GB" dirty="0"/>
          </a:p>
          <a:p>
            <a:r>
              <a:rPr lang="en-GB" dirty="0"/>
              <a:t>What is the </a:t>
            </a:r>
            <a:r>
              <a:rPr lang="en-GB" dirty="0">
                <a:solidFill>
                  <a:srgbClr val="FF0000"/>
                </a:solidFill>
              </a:rPr>
              <a:t>key</a:t>
            </a:r>
            <a:r>
              <a:rPr lang="en-GB" dirty="0"/>
              <a:t> difference between a dictionary and a list?</a:t>
            </a:r>
          </a:p>
          <a:p>
            <a:r>
              <a:rPr lang="en-GB" dirty="0"/>
              <a:t>Dictionaries DO NOT use index positions – the key is what we use to index something. </a:t>
            </a:r>
          </a:p>
          <a:p>
            <a:r>
              <a:rPr lang="en-GB" dirty="0"/>
              <a:t>Example: </a:t>
            </a:r>
          </a:p>
          <a:p>
            <a:r>
              <a:rPr lang="en-GB" dirty="0" err="1"/>
              <a:t>mydictionary</a:t>
            </a:r>
            <a:r>
              <a:rPr lang="en-GB" dirty="0"/>
              <a:t>={“Good </a:t>
            </a:r>
            <a:r>
              <a:rPr lang="en-GB" dirty="0" err="1"/>
              <a:t>Day”:“a</a:t>
            </a:r>
            <a:r>
              <a:rPr lang="en-GB" dirty="0"/>
              <a:t> formal greeting”, “</a:t>
            </a:r>
            <a:r>
              <a:rPr lang="en-GB" dirty="0" err="1"/>
              <a:t>Laters</a:t>
            </a:r>
            <a:r>
              <a:rPr lang="en-GB" dirty="0"/>
              <a:t>”:“not so formal goodbye”}</a:t>
            </a:r>
          </a:p>
          <a:p>
            <a:r>
              <a:rPr lang="en-GB" dirty="0"/>
              <a:t>print(</a:t>
            </a:r>
            <a:r>
              <a:rPr lang="en-GB" dirty="0" err="1"/>
              <a:t>mydictionary</a:t>
            </a:r>
            <a:r>
              <a:rPr lang="en-GB" dirty="0"/>
              <a:t>[“Good Day”]) would return “a formal greeting”.</a:t>
            </a:r>
          </a:p>
          <a:p>
            <a:r>
              <a:rPr lang="en-GB" dirty="0"/>
              <a:t>print(</a:t>
            </a:r>
            <a:r>
              <a:rPr lang="en-GB" dirty="0" err="1"/>
              <a:t>mydictionary</a:t>
            </a:r>
            <a:r>
              <a:rPr lang="en-GB" dirty="0"/>
              <a:t>[0]) would return an error because there is no key of “0”</a:t>
            </a:r>
          </a:p>
          <a:p>
            <a:endParaRPr lang="en-GB" dirty="0"/>
          </a:p>
        </p:txBody>
      </p:sp>
    </p:spTree>
    <p:extLst>
      <p:ext uri="{BB962C8B-B14F-4D97-AF65-F5344CB8AC3E}">
        <p14:creationId xmlns:p14="http://schemas.microsoft.com/office/powerpoint/2010/main" val="310759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dictionary</a:t>
            </a:r>
          </a:p>
        </p:txBody>
      </p:sp>
      <p:sp>
        <p:nvSpPr>
          <p:cNvPr id="3" name="Content Placeholder 2"/>
          <p:cNvSpPr>
            <a:spLocks noGrp="1"/>
          </p:cNvSpPr>
          <p:nvPr>
            <p:ph idx="1"/>
          </p:nvPr>
        </p:nvSpPr>
        <p:spPr/>
        <p:txBody>
          <a:bodyPr>
            <a:normAutofit/>
          </a:bodyPr>
          <a:lstStyle/>
          <a:p>
            <a:pPr marL="0" indent="0" algn="ctr">
              <a:buNone/>
            </a:pPr>
            <a:r>
              <a:rPr lang="en-GB" sz="3200" dirty="0"/>
              <a:t>It uses a key value pair, separated by a colon.</a:t>
            </a:r>
          </a:p>
          <a:p>
            <a:pPr marL="0" indent="0" algn="ctr">
              <a:buNone/>
            </a:pPr>
            <a:endParaRPr lang="en-GB" sz="3200" dirty="0"/>
          </a:p>
          <a:p>
            <a:pPr marL="0" indent="0" algn="ctr">
              <a:buNone/>
            </a:pPr>
            <a:r>
              <a:rPr lang="en-GB" sz="3200" dirty="0" err="1"/>
              <a:t>mydictionary</a:t>
            </a:r>
            <a:r>
              <a:rPr lang="en-GB" sz="3200" dirty="0"/>
              <a:t>={“Good </a:t>
            </a:r>
            <a:r>
              <a:rPr lang="en-GB" sz="3200" dirty="0" err="1"/>
              <a:t>Day”:“a</a:t>
            </a:r>
            <a:r>
              <a:rPr lang="en-GB" sz="3200" dirty="0"/>
              <a:t> formal greeting”, “</a:t>
            </a:r>
            <a:r>
              <a:rPr lang="en-GB" sz="3200" dirty="0" err="1"/>
              <a:t>Laters</a:t>
            </a:r>
            <a:r>
              <a:rPr lang="en-GB" sz="3200" dirty="0"/>
              <a:t>”:“not so formal goodbye”}</a:t>
            </a:r>
          </a:p>
          <a:p>
            <a:pPr marL="0" indent="0" algn="ctr">
              <a:buNone/>
            </a:pPr>
            <a:endParaRPr lang="en-GB" sz="3200" dirty="0"/>
          </a:p>
          <a:p>
            <a:pPr marL="0" indent="0" algn="ctr">
              <a:buNone/>
            </a:pPr>
            <a:r>
              <a:rPr lang="en-GB" sz="3200" b="1" dirty="0">
                <a:solidFill>
                  <a:srgbClr val="FF0000"/>
                </a:solidFill>
              </a:rPr>
              <a:t>Keys</a:t>
            </a:r>
            <a:r>
              <a:rPr lang="en-GB" sz="3200" dirty="0"/>
              <a:t> have to be </a:t>
            </a:r>
            <a:r>
              <a:rPr lang="en-GB" sz="3200" b="1" dirty="0">
                <a:solidFill>
                  <a:srgbClr val="FF0000"/>
                </a:solidFill>
              </a:rPr>
              <a:t>unique</a:t>
            </a:r>
            <a:r>
              <a:rPr lang="en-GB" sz="3200" dirty="0"/>
              <a:t> but the data can be the same. </a:t>
            </a:r>
          </a:p>
        </p:txBody>
      </p:sp>
    </p:spTree>
    <p:extLst>
      <p:ext uri="{BB962C8B-B14F-4D97-AF65-F5344CB8AC3E}">
        <p14:creationId xmlns:p14="http://schemas.microsoft.com/office/powerpoint/2010/main" val="10540858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dictionary</a:t>
            </a:r>
          </a:p>
        </p:txBody>
      </p:sp>
      <p:sp>
        <p:nvSpPr>
          <p:cNvPr id="3" name="Content Placeholder 2"/>
          <p:cNvSpPr>
            <a:spLocks noGrp="1"/>
          </p:cNvSpPr>
          <p:nvPr>
            <p:ph idx="1"/>
          </p:nvPr>
        </p:nvSpPr>
        <p:spPr/>
        <p:txBody>
          <a:bodyPr numCol="2">
            <a:normAutofit lnSpcReduction="10000"/>
          </a:bodyPr>
          <a:lstStyle/>
          <a:p>
            <a:pPr>
              <a:buFont typeface="Wingdings" panose="05000000000000000000" pitchFamily="2" charset="2"/>
              <a:buChar char="§"/>
            </a:pPr>
            <a:r>
              <a:rPr lang="en-GB" sz="2400" dirty="0"/>
              <a:t>Create</a:t>
            </a:r>
          </a:p>
          <a:p>
            <a:pPr>
              <a:buFont typeface="Wingdings" panose="05000000000000000000" pitchFamily="2" charset="2"/>
              <a:buChar char="§"/>
            </a:pPr>
            <a:r>
              <a:rPr lang="en-GB" dirty="0"/>
              <a:t>Print</a:t>
            </a:r>
            <a:endParaRPr lang="en-GB" sz="2400" dirty="0"/>
          </a:p>
          <a:p>
            <a:pPr>
              <a:buFont typeface="Wingdings" panose="05000000000000000000" pitchFamily="2" charset="2"/>
              <a:buChar char="§"/>
            </a:pPr>
            <a:r>
              <a:rPr lang="en-GB" dirty="0"/>
              <a:t>Add</a:t>
            </a:r>
          </a:p>
          <a:p>
            <a:pPr>
              <a:buFont typeface="Wingdings" panose="05000000000000000000" pitchFamily="2" charset="2"/>
              <a:buChar char="§"/>
            </a:pPr>
            <a:r>
              <a:rPr lang="en-GB" sz="2400" dirty="0"/>
              <a:t>Update</a:t>
            </a:r>
          </a:p>
          <a:p>
            <a:pPr>
              <a:buFont typeface="Wingdings" panose="05000000000000000000" pitchFamily="2" charset="2"/>
              <a:buChar char="§"/>
            </a:pPr>
            <a:r>
              <a:rPr lang="en-GB" dirty="0"/>
              <a:t>Delete</a:t>
            </a:r>
          </a:p>
          <a:p>
            <a:pPr>
              <a:buFont typeface="Wingdings" panose="05000000000000000000" pitchFamily="2" charset="2"/>
              <a:buChar char="§"/>
            </a:pPr>
            <a:r>
              <a:rPr lang="en-GB" dirty="0"/>
              <a:t>Find length</a:t>
            </a:r>
          </a:p>
          <a:p>
            <a:pPr>
              <a:buFont typeface="Wingdings" panose="05000000000000000000" pitchFamily="2" charset="2"/>
              <a:buChar char="§"/>
            </a:pPr>
            <a:r>
              <a:rPr lang="en-GB" dirty="0"/>
              <a:t>Pop</a:t>
            </a:r>
          </a:p>
          <a:p>
            <a:pPr>
              <a:buFont typeface="Wingdings" panose="05000000000000000000" pitchFamily="2" charset="2"/>
              <a:buChar char="§"/>
            </a:pPr>
            <a:r>
              <a:rPr lang="en-GB" dirty="0"/>
              <a:t>Print all key value pairs – not just values</a:t>
            </a:r>
          </a:p>
          <a:p>
            <a:pPr>
              <a:buFont typeface="Wingdings" panose="05000000000000000000" pitchFamily="2" charset="2"/>
              <a:buChar char="§"/>
            </a:pPr>
            <a:r>
              <a:rPr lang="en-GB" dirty="0"/>
              <a:t>Clear the dictionary</a:t>
            </a:r>
          </a:p>
          <a:p>
            <a:pPr>
              <a:buFont typeface="Wingdings" panose="05000000000000000000" pitchFamily="2" charset="2"/>
              <a:buChar char="§"/>
            </a:pPr>
            <a:r>
              <a:rPr lang="en-GB" dirty="0"/>
              <a:t>Delete the entire dictionary</a:t>
            </a:r>
          </a:p>
          <a:p>
            <a:pPr>
              <a:buFont typeface="Wingdings" panose="05000000000000000000" pitchFamily="2" charset="2"/>
              <a:buChar char="§"/>
            </a:pPr>
            <a:r>
              <a:rPr lang="en-GB" dirty="0"/>
              <a:t>Sort it (sorted())</a:t>
            </a:r>
          </a:p>
          <a:p>
            <a:pPr>
              <a:buFont typeface="Wingdings" panose="05000000000000000000" pitchFamily="2" charset="2"/>
              <a:buChar char="§"/>
            </a:pPr>
            <a:r>
              <a:rPr lang="en-GB" dirty="0"/>
              <a:t>Store a list in a dictionary</a:t>
            </a:r>
          </a:p>
          <a:p>
            <a:pPr>
              <a:buFont typeface="Wingdings" panose="05000000000000000000" pitchFamily="2" charset="2"/>
              <a:buChar char="§"/>
            </a:pPr>
            <a:r>
              <a:rPr lang="en-GB" dirty="0"/>
              <a:t>Printing a key after you have typed in a value</a:t>
            </a:r>
          </a:p>
          <a:p>
            <a:pPr>
              <a:buFont typeface="Wingdings" panose="05000000000000000000" pitchFamily="2" charset="2"/>
              <a:buChar char="§"/>
            </a:pPr>
            <a:r>
              <a:rPr lang="en-GB" dirty="0"/>
              <a:t>Check for a value in the dictionary or print a message if the value is not</a:t>
            </a:r>
          </a:p>
          <a:p>
            <a:pPr>
              <a:buFont typeface="Wingdings" panose="05000000000000000000" pitchFamily="2" charset="2"/>
              <a:buChar char="§"/>
            </a:pPr>
            <a:r>
              <a:rPr lang="en-GB" dirty="0"/>
              <a:t>Return all the keys</a:t>
            </a:r>
          </a:p>
          <a:p>
            <a:pPr>
              <a:buFont typeface="Wingdings" panose="05000000000000000000" pitchFamily="2" charset="2"/>
              <a:buChar char="§"/>
            </a:pPr>
            <a:r>
              <a:rPr lang="en-GB" dirty="0"/>
              <a:t>Return all the values</a:t>
            </a:r>
          </a:p>
          <a:p>
            <a:pPr>
              <a:buFont typeface="Wingdings" panose="05000000000000000000" pitchFamily="2" charset="2"/>
              <a:buChar char="§"/>
            </a:pPr>
            <a:endParaRPr lang="en-GB" dirty="0"/>
          </a:p>
        </p:txBody>
      </p:sp>
    </p:spTree>
    <p:extLst>
      <p:ext uri="{BB962C8B-B14F-4D97-AF65-F5344CB8AC3E}">
        <p14:creationId xmlns:p14="http://schemas.microsoft.com/office/powerpoint/2010/main" val="20608703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dictionary</a:t>
            </a:r>
          </a:p>
        </p:txBody>
      </p:sp>
      <p:pic>
        <p:nvPicPr>
          <p:cNvPr id="4" name="Content Placeholder 3"/>
          <p:cNvPicPr>
            <a:picLocks noGrp="1" noChangeAspect="1"/>
          </p:cNvPicPr>
          <p:nvPr/>
        </p:nvPicPr>
        <p:blipFill>
          <a:blip r:embed="rId2"/>
          <a:stretch>
            <a:fillRect/>
          </a:stretch>
        </p:blipFill>
        <p:spPr>
          <a:xfrm>
            <a:off x="1024128" y="2604500"/>
            <a:ext cx="6524406" cy="3169329"/>
          </a:xfrm>
          <a:prstGeom prst="rect">
            <a:avLst/>
          </a:prstGeom>
        </p:spPr>
      </p:pic>
    </p:spTree>
    <p:extLst>
      <p:ext uri="{BB962C8B-B14F-4D97-AF65-F5344CB8AC3E}">
        <p14:creationId xmlns:p14="http://schemas.microsoft.com/office/powerpoint/2010/main" val="21605446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dictionary</a:t>
            </a:r>
          </a:p>
        </p:txBody>
      </p:sp>
      <p:pic>
        <p:nvPicPr>
          <p:cNvPr id="5" name="Picture 4"/>
          <p:cNvPicPr>
            <a:picLocks noChangeAspect="1"/>
          </p:cNvPicPr>
          <p:nvPr/>
        </p:nvPicPr>
        <p:blipFill>
          <a:blip r:embed="rId2"/>
          <a:stretch>
            <a:fillRect/>
          </a:stretch>
        </p:blipFill>
        <p:spPr>
          <a:xfrm>
            <a:off x="1024128" y="1978133"/>
            <a:ext cx="4500070" cy="2014957"/>
          </a:xfrm>
          <a:prstGeom prst="rect">
            <a:avLst/>
          </a:prstGeom>
        </p:spPr>
      </p:pic>
      <p:pic>
        <p:nvPicPr>
          <p:cNvPr id="6" name="Picture 5"/>
          <p:cNvPicPr>
            <a:picLocks noChangeAspect="1"/>
          </p:cNvPicPr>
          <p:nvPr/>
        </p:nvPicPr>
        <p:blipFill>
          <a:blip r:embed="rId3"/>
          <a:stretch>
            <a:fillRect/>
          </a:stretch>
        </p:blipFill>
        <p:spPr>
          <a:xfrm>
            <a:off x="1024128" y="4112145"/>
            <a:ext cx="3543628" cy="1500682"/>
          </a:xfrm>
          <a:prstGeom prst="rect">
            <a:avLst/>
          </a:prstGeom>
        </p:spPr>
      </p:pic>
      <p:pic>
        <p:nvPicPr>
          <p:cNvPr id="7" name="Picture 6"/>
          <p:cNvPicPr>
            <a:picLocks noChangeAspect="1"/>
          </p:cNvPicPr>
          <p:nvPr/>
        </p:nvPicPr>
        <p:blipFill rotWithShape="1">
          <a:blip r:embed="rId4"/>
          <a:srcRect l="1000"/>
          <a:stretch/>
        </p:blipFill>
        <p:spPr>
          <a:xfrm>
            <a:off x="5677890" y="2084832"/>
            <a:ext cx="4309240" cy="3492186"/>
          </a:xfrm>
          <a:prstGeom prst="rect">
            <a:avLst/>
          </a:prstGeom>
        </p:spPr>
      </p:pic>
    </p:spTree>
    <p:extLst>
      <p:ext uri="{BB962C8B-B14F-4D97-AF65-F5344CB8AC3E}">
        <p14:creationId xmlns:p14="http://schemas.microsoft.com/office/powerpoint/2010/main" val="42856155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dictionary</a:t>
            </a:r>
          </a:p>
        </p:txBody>
      </p:sp>
      <p:pic>
        <p:nvPicPr>
          <p:cNvPr id="8" name="Picture 7"/>
          <p:cNvPicPr>
            <a:picLocks noChangeAspect="1"/>
          </p:cNvPicPr>
          <p:nvPr/>
        </p:nvPicPr>
        <p:blipFill>
          <a:blip r:embed="rId2"/>
          <a:stretch>
            <a:fillRect/>
          </a:stretch>
        </p:blipFill>
        <p:spPr>
          <a:xfrm>
            <a:off x="1024128" y="2260001"/>
            <a:ext cx="4965970" cy="1254380"/>
          </a:xfrm>
          <a:prstGeom prst="rect">
            <a:avLst/>
          </a:prstGeom>
        </p:spPr>
      </p:pic>
      <p:pic>
        <p:nvPicPr>
          <p:cNvPr id="9" name="Picture 8"/>
          <p:cNvPicPr>
            <a:picLocks noChangeAspect="1"/>
          </p:cNvPicPr>
          <p:nvPr/>
        </p:nvPicPr>
        <p:blipFill>
          <a:blip r:embed="rId3"/>
          <a:stretch>
            <a:fillRect/>
          </a:stretch>
        </p:blipFill>
        <p:spPr>
          <a:xfrm>
            <a:off x="1024128" y="3815469"/>
            <a:ext cx="6589912" cy="1564728"/>
          </a:xfrm>
          <a:prstGeom prst="rect">
            <a:avLst/>
          </a:prstGeom>
        </p:spPr>
      </p:pic>
    </p:spTree>
    <p:extLst>
      <p:ext uri="{BB962C8B-B14F-4D97-AF65-F5344CB8AC3E}">
        <p14:creationId xmlns:p14="http://schemas.microsoft.com/office/powerpoint/2010/main" val="16266808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25D09-E4A9-418D-9DF8-5232D4095266}"/>
              </a:ext>
            </a:extLst>
          </p:cNvPr>
          <p:cNvSpPr>
            <a:spLocks noGrp="1"/>
          </p:cNvSpPr>
          <p:nvPr>
            <p:ph type="title"/>
          </p:nvPr>
        </p:nvSpPr>
        <p:spPr/>
        <p:txBody>
          <a:bodyPr/>
          <a:lstStyle/>
          <a:p>
            <a:r>
              <a:rPr lang="en-GB" dirty="0"/>
              <a:t>dictionary</a:t>
            </a:r>
          </a:p>
        </p:txBody>
      </p:sp>
      <p:pic>
        <p:nvPicPr>
          <p:cNvPr id="4" name="Picture 3">
            <a:extLst>
              <a:ext uri="{FF2B5EF4-FFF2-40B4-BE49-F238E27FC236}">
                <a16:creationId xmlns:a16="http://schemas.microsoft.com/office/drawing/2014/main" id="{136A1F82-4261-4636-ACE6-8D19B7B9B611}"/>
              </a:ext>
            </a:extLst>
          </p:cNvPr>
          <p:cNvPicPr>
            <a:picLocks noChangeAspect="1"/>
          </p:cNvPicPr>
          <p:nvPr/>
        </p:nvPicPr>
        <p:blipFill>
          <a:blip r:embed="rId2"/>
          <a:stretch>
            <a:fillRect/>
          </a:stretch>
        </p:blipFill>
        <p:spPr>
          <a:xfrm>
            <a:off x="1024128" y="1813497"/>
            <a:ext cx="6991350" cy="4610100"/>
          </a:xfrm>
          <a:prstGeom prst="rect">
            <a:avLst/>
          </a:prstGeom>
        </p:spPr>
      </p:pic>
    </p:spTree>
    <p:extLst>
      <p:ext uri="{BB962C8B-B14F-4D97-AF65-F5344CB8AC3E}">
        <p14:creationId xmlns:p14="http://schemas.microsoft.com/office/powerpoint/2010/main" val="35281520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Data types – your one note</a:t>
            </a:r>
          </a:p>
        </p:txBody>
      </p:sp>
      <p:graphicFrame>
        <p:nvGraphicFramePr>
          <p:cNvPr id="4" name="Table 3"/>
          <p:cNvGraphicFramePr>
            <a:graphicFrameLocks noGrp="1"/>
          </p:cNvGraphicFramePr>
          <p:nvPr/>
        </p:nvGraphicFramePr>
        <p:xfrm>
          <a:off x="336959" y="1935253"/>
          <a:ext cx="11669985" cy="4650606"/>
        </p:xfrm>
        <a:graphic>
          <a:graphicData uri="http://schemas.openxmlformats.org/drawingml/2006/table">
            <a:tbl>
              <a:tblPr/>
              <a:tblGrid>
                <a:gridCol w="2188527">
                  <a:extLst>
                    <a:ext uri="{9D8B030D-6E8A-4147-A177-3AD203B41FA5}">
                      <a16:colId xmlns:a16="http://schemas.microsoft.com/office/drawing/2014/main" val="20000"/>
                    </a:ext>
                  </a:extLst>
                </a:gridCol>
                <a:gridCol w="5591463">
                  <a:extLst>
                    <a:ext uri="{9D8B030D-6E8A-4147-A177-3AD203B41FA5}">
                      <a16:colId xmlns:a16="http://schemas.microsoft.com/office/drawing/2014/main" val="20001"/>
                    </a:ext>
                  </a:extLst>
                </a:gridCol>
                <a:gridCol w="3889995">
                  <a:extLst>
                    <a:ext uri="{9D8B030D-6E8A-4147-A177-3AD203B41FA5}">
                      <a16:colId xmlns:a16="http://schemas.microsoft.com/office/drawing/2014/main" val="20003"/>
                    </a:ext>
                  </a:extLst>
                </a:gridCol>
              </a:tblGrid>
              <a:tr h="516734">
                <a:tc>
                  <a:txBody>
                    <a:bodyPr/>
                    <a:lstStyle/>
                    <a:p>
                      <a:pPr algn="l" rtl="0" fontAlgn="base"/>
                      <a:r>
                        <a:rPr lang="en-US" sz="1600" b="1" i="0" dirty="0">
                          <a:solidFill>
                            <a:srgbClr val="C00000"/>
                          </a:solidFill>
                          <a:effectLst/>
                          <a:latin typeface="Calibri" panose="020F0502020204030204" pitchFamily="34" charset="0"/>
                        </a:rPr>
                        <a:t>Key term</a:t>
                      </a:r>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1" i="0" dirty="0">
                          <a:solidFill>
                            <a:srgbClr val="C00000"/>
                          </a:solidFill>
                          <a:effectLst/>
                          <a:latin typeface="Calibri" panose="020F0502020204030204" pitchFamily="34" charset="0"/>
                        </a:rPr>
                        <a:t>Explanation</a:t>
                      </a:r>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1" i="0" dirty="0">
                          <a:solidFill>
                            <a:srgbClr val="C00000"/>
                          </a:solidFill>
                          <a:effectLst/>
                          <a:latin typeface="Calibri" panose="020F0502020204030204" pitchFamily="34" charset="0"/>
                        </a:rPr>
                        <a:t>Python example</a:t>
                      </a:r>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16734">
                <a:tc>
                  <a:txBody>
                    <a:bodyPr/>
                    <a:lstStyle/>
                    <a:p>
                      <a:pPr algn="l" rtl="0" fontAlgn="base"/>
                      <a:r>
                        <a:rPr lang="en-US" sz="1600" b="0" i="0" dirty="0">
                          <a:effectLst/>
                          <a:latin typeface="Calibri" panose="020F0502020204030204" pitchFamily="34" charset="0"/>
                        </a:rPr>
                        <a:t>Integer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16734">
                <a:tc>
                  <a:txBody>
                    <a:bodyPr/>
                    <a:lstStyle/>
                    <a:p>
                      <a:pPr algn="l" rtl="0" fontAlgn="base"/>
                      <a:r>
                        <a:rPr lang="en-US" sz="1600" b="0" i="0" dirty="0">
                          <a:effectLst/>
                          <a:latin typeface="Calibri" panose="020F0502020204030204" pitchFamily="34" charset="0"/>
                        </a:rPr>
                        <a:t>Real/float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516734">
                <a:tc>
                  <a:txBody>
                    <a:bodyPr/>
                    <a:lstStyle/>
                    <a:p>
                      <a:pPr algn="l" rtl="0" fontAlgn="base"/>
                      <a:r>
                        <a:rPr lang="en-US" sz="1600" b="0" i="0" dirty="0">
                          <a:effectLst/>
                          <a:latin typeface="Calibri" panose="020F0502020204030204" pitchFamily="34" charset="0"/>
                        </a:rPr>
                        <a:t>Boolean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516734">
                <a:tc>
                  <a:txBody>
                    <a:bodyPr/>
                    <a:lstStyle/>
                    <a:p>
                      <a:pPr algn="l" rtl="0" fontAlgn="base"/>
                      <a:r>
                        <a:rPr lang="en-US" sz="1600" b="0" i="0" dirty="0">
                          <a:effectLst/>
                          <a:latin typeface="Calibri" panose="020F0502020204030204" pitchFamily="34" charset="0"/>
                        </a:rPr>
                        <a:t>Character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516734">
                <a:tc>
                  <a:txBody>
                    <a:bodyPr/>
                    <a:lstStyle/>
                    <a:p>
                      <a:pPr algn="l" rtl="0" fontAlgn="base"/>
                      <a:r>
                        <a:rPr lang="en-US" sz="1600" b="0" i="0" dirty="0">
                          <a:effectLst/>
                          <a:latin typeface="Calibri" panose="020F0502020204030204" pitchFamily="34" charset="0"/>
                        </a:rPr>
                        <a:t>String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516734">
                <a:tc>
                  <a:txBody>
                    <a:bodyPr/>
                    <a:lstStyle/>
                    <a:p>
                      <a:pPr algn="l" rtl="0" fontAlgn="base"/>
                      <a:r>
                        <a:rPr lang="en-US" sz="1600" b="0" i="0" dirty="0">
                          <a:effectLst/>
                          <a:latin typeface="Calibri" panose="020F0502020204030204" pitchFamily="34" charset="0"/>
                        </a:rPr>
                        <a:t>Date/time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516734">
                <a:tc>
                  <a:txBody>
                    <a:bodyPr/>
                    <a:lstStyle/>
                    <a:p>
                      <a:pPr algn="l" rtl="0" fontAlgn="base"/>
                      <a:r>
                        <a:rPr lang="en-US" sz="1600" b="0" i="0" dirty="0">
                          <a:effectLst/>
                          <a:latin typeface="Calibri" panose="020F0502020204030204" pitchFamily="34" charset="0"/>
                        </a:rPr>
                        <a:t>Records (or equivalent)</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516734">
                <a:tc>
                  <a:txBody>
                    <a:bodyPr/>
                    <a:lstStyle/>
                    <a:p>
                      <a:pPr algn="l" rtl="0" fontAlgn="base"/>
                      <a:r>
                        <a:rPr lang="en-US" sz="1600" b="0" i="0" dirty="0">
                          <a:effectLst/>
                          <a:latin typeface="Calibri" panose="020F0502020204030204" pitchFamily="34" charset="0"/>
                        </a:rPr>
                        <a:t>Arrays (or equivalent)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ase"/>
                      <a:r>
                        <a:rPr lang="en-US" sz="1600" b="0" i="0" dirty="0">
                          <a:effectLst/>
                          <a:latin typeface="Calibri" panose="020F0502020204030204" pitchFamily="34" charset="0"/>
                        </a:rPr>
                        <a:t>  </a:t>
                      </a:r>
                      <a:endParaRPr lang="en-US" sz="2800" b="0" i="0"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sp>
        <p:nvSpPr>
          <p:cNvPr id="5" name="Rectangle 4">
            <a:extLst>
              <a:ext uri="{FF2B5EF4-FFF2-40B4-BE49-F238E27FC236}">
                <a16:creationId xmlns:a16="http://schemas.microsoft.com/office/drawing/2014/main" id="{7137FC13-1CA0-83E5-E74D-5C92A047E9A1}"/>
              </a:ext>
            </a:extLst>
          </p:cNvPr>
          <p:cNvSpPr/>
          <p:nvPr/>
        </p:nvSpPr>
        <p:spPr>
          <a:xfrm>
            <a:off x="2503714" y="2481943"/>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Whole number – no decimal points</a:t>
            </a:r>
          </a:p>
        </p:txBody>
      </p:sp>
      <p:sp>
        <p:nvSpPr>
          <p:cNvPr id="6" name="Rectangle 5">
            <a:extLst>
              <a:ext uri="{FF2B5EF4-FFF2-40B4-BE49-F238E27FC236}">
                <a16:creationId xmlns:a16="http://schemas.microsoft.com/office/drawing/2014/main" id="{045519A7-96E5-536C-ADDF-073D2B2F1976}"/>
              </a:ext>
            </a:extLst>
          </p:cNvPr>
          <p:cNvSpPr/>
          <p:nvPr/>
        </p:nvSpPr>
        <p:spPr>
          <a:xfrm>
            <a:off x="8207829" y="2481943"/>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err="1"/>
              <a:t>num</a:t>
            </a:r>
            <a:r>
              <a:rPr lang="en-GB" dirty="0"/>
              <a:t>=6    </a:t>
            </a:r>
            <a:r>
              <a:rPr lang="en-GB" dirty="0" err="1"/>
              <a:t>num</a:t>
            </a:r>
            <a:r>
              <a:rPr lang="en-GB" dirty="0"/>
              <a:t>=int(6)</a:t>
            </a:r>
          </a:p>
        </p:txBody>
      </p:sp>
      <p:sp>
        <p:nvSpPr>
          <p:cNvPr id="7" name="Rectangle 6">
            <a:extLst>
              <a:ext uri="{FF2B5EF4-FFF2-40B4-BE49-F238E27FC236}">
                <a16:creationId xmlns:a16="http://schemas.microsoft.com/office/drawing/2014/main" id="{8902F482-A5C8-8D32-4F7A-1C7A82406FBE}"/>
              </a:ext>
            </a:extLst>
          </p:cNvPr>
          <p:cNvSpPr/>
          <p:nvPr/>
        </p:nvSpPr>
        <p:spPr>
          <a:xfrm>
            <a:off x="2503714" y="2982686"/>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Decimal point number </a:t>
            </a:r>
          </a:p>
        </p:txBody>
      </p:sp>
      <p:sp>
        <p:nvSpPr>
          <p:cNvPr id="8" name="Rectangle 7">
            <a:extLst>
              <a:ext uri="{FF2B5EF4-FFF2-40B4-BE49-F238E27FC236}">
                <a16:creationId xmlns:a16="http://schemas.microsoft.com/office/drawing/2014/main" id="{F0C225B1-524F-1278-F4DC-0B11D63A3B0D}"/>
              </a:ext>
            </a:extLst>
          </p:cNvPr>
          <p:cNvSpPr/>
          <p:nvPr/>
        </p:nvSpPr>
        <p:spPr>
          <a:xfrm>
            <a:off x="8207829" y="2982686"/>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err="1"/>
              <a:t>num</a:t>
            </a:r>
            <a:r>
              <a:rPr lang="en-GB" dirty="0"/>
              <a:t>=6.4    </a:t>
            </a:r>
            <a:r>
              <a:rPr lang="en-GB" dirty="0" err="1"/>
              <a:t>num</a:t>
            </a:r>
            <a:r>
              <a:rPr lang="en-GB" dirty="0"/>
              <a:t>=float(10.3)</a:t>
            </a:r>
          </a:p>
        </p:txBody>
      </p:sp>
      <p:sp>
        <p:nvSpPr>
          <p:cNvPr id="9" name="Rectangle 8">
            <a:extLst>
              <a:ext uri="{FF2B5EF4-FFF2-40B4-BE49-F238E27FC236}">
                <a16:creationId xmlns:a16="http://schemas.microsoft.com/office/drawing/2014/main" id="{00FD2532-CC41-4292-0483-EDFDFDC1FDE8}"/>
              </a:ext>
            </a:extLst>
          </p:cNvPr>
          <p:cNvSpPr/>
          <p:nvPr/>
        </p:nvSpPr>
        <p:spPr>
          <a:xfrm>
            <a:off x="2503714" y="3516088"/>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One of two values</a:t>
            </a:r>
          </a:p>
        </p:txBody>
      </p:sp>
      <p:sp>
        <p:nvSpPr>
          <p:cNvPr id="10" name="Rectangle 9">
            <a:extLst>
              <a:ext uri="{FF2B5EF4-FFF2-40B4-BE49-F238E27FC236}">
                <a16:creationId xmlns:a16="http://schemas.microsoft.com/office/drawing/2014/main" id="{DB6133E7-E9BD-1DAC-48E3-E157A53DCD81}"/>
              </a:ext>
            </a:extLst>
          </p:cNvPr>
          <p:cNvSpPr/>
          <p:nvPr/>
        </p:nvSpPr>
        <p:spPr>
          <a:xfrm>
            <a:off x="8207829" y="3516088"/>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True         False</a:t>
            </a:r>
          </a:p>
        </p:txBody>
      </p:sp>
      <p:sp>
        <p:nvSpPr>
          <p:cNvPr id="11" name="Rectangle 10">
            <a:extLst>
              <a:ext uri="{FF2B5EF4-FFF2-40B4-BE49-F238E27FC236}">
                <a16:creationId xmlns:a16="http://schemas.microsoft.com/office/drawing/2014/main" id="{9476C261-F842-95CF-4D43-37EED19D8BD9}"/>
              </a:ext>
            </a:extLst>
          </p:cNvPr>
          <p:cNvSpPr/>
          <p:nvPr/>
        </p:nvSpPr>
        <p:spPr>
          <a:xfrm>
            <a:off x="2492829" y="4038604"/>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Single printable element from a keyboard.</a:t>
            </a:r>
          </a:p>
        </p:txBody>
      </p:sp>
      <p:sp>
        <p:nvSpPr>
          <p:cNvPr id="12" name="Rectangle 11">
            <a:extLst>
              <a:ext uri="{FF2B5EF4-FFF2-40B4-BE49-F238E27FC236}">
                <a16:creationId xmlns:a16="http://schemas.microsoft.com/office/drawing/2014/main" id="{38F5B31E-E4BD-4FDC-481A-9C352298499F}"/>
              </a:ext>
            </a:extLst>
          </p:cNvPr>
          <p:cNvSpPr/>
          <p:nvPr/>
        </p:nvSpPr>
        <p:spPr>
          <a:xfrm>
            <a:off x="8196944" y="4038604"/>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letter=“S”  symbol=“%”</a:t>
            </a:r>
          </a:p>
        </p:txBody>
      </p:sp>
      <p:sp>
        <p:nvSpPr>
          <p:cNvPr id="13" name="Rectangle 12">
            <a:extLst>
              <a:ext uri="{FF2B5EF4-FFF2-40B4-BE49-F238E27FC236}">
                <a16:creationId xmlns:a16="http://schemas.microsoft.com/office/drawing/2014/main" id="{3EA40804-53FF-92AA-DFC3-D4079906E4AD}"/>
              </a:ext>
            </a:extLst>
          </p:cNvPr>
          <p:cNvSpPr/>
          <p:nvPr/>
        </p:nvSpPr>
        <p:spPr>
          <a:xfrm>
            <a:off x="2503714" y="4572006"/>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Multiple characters together</a:t>
            </a:r>
          </a:p>
        </p:txBody>
      </p:sp>
      <p:sp>
        <p:nvSpPr>
          <p:cNvPr id="14" name="Rectangle 13">
            <a:extLst>
              <a:ext uri="{FF2B5EF4-FFF2-40B4-BE49-F238E27FC236}">
                <a16:creationId xmlns:a16="http://schemas.microsoft.com/office/drawing/2014/main" id="{2FBAADAF-4759-C268-41D2-A9C5D5DD43A6}"/>
              </a:ext>
            </a:extLst>
          </p:cNvPr>
          <p:cNvSpPr/>
          <p:nvPr/>
        </p:nvSpPr>
        <p:spPr>
          <a:xfrm>
            <a:off x="8207829" y="4572006"/>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word=“cheese” pass=“1ndj!*”</a:t>
            </a:r>
          </a:p>
        </p:txBody>
      </p:sp>
      <p:sp>
        <p:nvSpPr>
          <p:cNvPr id="15" name="Rectangle 14">
            <a:extLst>
              <a:ext uri="{FF2B5EF4-FFF2-40B4-BE49-F238E27FC236}">
                <a16:creationId xmlns:a16="http://schemas.microsoft.com/office/drawing/2014/main" id="{0B2BA274-1ABF-1606-E629-E024AFDBDF5D}"/>
              </a:ext>
            </a:extLst>
          </p:cNvPr>
          <p:cNvSpPr/>
          <p:nvPr/>
        </p:nvSpPr>
        <p:spPr>
          <a:xfrm>
            <a:off x="2503714" y="5070140"/>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Different modules for this – stores the current date/time </a:t>
            </a:r>
          </a:p>
        </p:txBody>
      </p:sp>
      <p:sp>
        <p:nvSpPr>
          <p:cNvPr id="16" name="Rectangle 15">
            <a:extLst>
              <a:ext uri="{FF2B5EF4-FFF2-40B4-BE49-F238E27FC236}">
                <a16:creationId xmlns:a16="http://schemas.microsoft.com/office/drawing/2014/main" id="{9DAF921D-DB48-67CC-33AF-F32864E7FA16}"/>
              </a:ext>
            </a:extLst>
          </p:cNvPr>
          <p:cNvSpPr/>
          <p:nvPr/>
        </p:nvSpPr>
        <p:spPr>
          <a:xfrm>
            <a:off x="8207829" y="5070140"/>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import time   new=</a:t>
            </a:r>
            <a:r>
              <a:rPr lang="en-GB" dirty="0" err="1"/>
              <a:t>time.time</a:t>
            </a:r>
            <a:r>
              <a:rPr lang="en-GB" dirty="0"/>
              <a:t>()</a:t>
            </a:r>
          </a:p>
        </p:txBody>
      </p:sp>
      <p:sp>
        <p:nvSpPr>
          <p:cNvPr id="17" name="Rectangle 16">
            <a:extLst>
              <a:ext uri="{FF2B5EF4-FFF2-40B4-BE49-F238E27FC236}">
                <a16:creationId xmlns:a16="http://schemas.microsoft.com/office/drawing/2014/main" id="{E7DE8768-6BE8-970F-4A2A-AC7FF42E56D3}"/>
              </a:ext>
            </a:extLst>
          </p:cNvPr>
          <p:cNvSpPr/>
          <p:nvPr/>
        </p:nvSpPr>
        <p:spPr>
          <a:xfrm>
            <a:off x="2492829" y="5604842"/>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Use of arrays/multi dimensional arrays</a:t>
            </a:r>
          </a:p>
        </p:txBody>
      </p:sp>
      <p:sp>
        <p:nvSpPr>
          <p:cNvPr id="18" name="Rectangle 17">
            <a:extLst>
              <a:ext uri="{FF2B5EF4-FFF2-40B4-BE49-F238E27FC236}">
                <a16:creationId xmlns:a16="http://schemas.microsoft.com/office/drawing/2014/main" id="{AB0CE281-D030-52C9-9A0F-11B0B1E72292}"/>
              </a:ext>
            </a:extLst>
          </p:cNvPr>
          <p:cNvSpPr/>
          <p:nvPr/>
        </p:nvSpPr>
        <p:spPr>
          <a:xfrm>
            <a:off x="8196944" y="5604842"/>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Tuple () List [] Dictionary{}</a:t>
            </a:r>
          </a:p>
        </p:txBody>
      </p:sp>
      <p:sp>
        <p:nvSpPr>
          <p:cNvPr id="19" name="Rectangle 18">
            <a:extLst>
              <a:ext uri="{FF2B5EF4-FFF2-40B4-BE49-F238E27FC236}">
                <a16:creationId xmlns:a16="http://schemas.microsoft.com/office/drawing/2014/main" id="{8AE10FC4-36F2-4889-4B20-E978BCB2F25F}"/>
              </a:ext>
            </a:extLst>
          </p:cNvPr>
          <p:cNvSpPr/>
          <p:nvPr/>
        </p:nvSpPr>
        <p:spPr>
          <a:xfrm>
            <a:off x="2503714" y="6102976"/>
            <a:ext cx="55517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Three different types in Python</a:t>
            </a:r>
          </a:p>
        </p:txBody>
      </p:sp>
      <p:sp>
        <p:nvSpPr>
          <p:cNvPr id="20" name="Rectangle 19">
            <a:extLst>
              <a:ext uri="{FF2B5EF4-FFF2-40B4-BE49-F238E27FC236}">
                <a16:creationId xmlns:a16="http://schemas.microsoft.com/office/drawing/2014/main" id="{82FF1B1D-6F96-6D57-3872-A5640226420E}"/>
              </a:ext>
            </a:extLst>
          </p:cNvPr>
          <p:cNvSpPr/>
          <p:nvPr/>
        </p:nvSpPr>
        <p:spPr>
          <a:xfrm>
            <a:off x="8207829" y="6102976"/>
            <a:ext cx="3799115" cy="44631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GB" dirty="0"/>
              <a:t>Tuple () List [] Dictionary{}</a:t>
            </a:r>
          </a:p>
        </p:txBody>
      </p:sp>
    </p:spTree>
    <p:extLst>
      <p:ext uri="{BB962C8B-B14F-4D97-AF65-F5344CB8AC3E}">
        <p14:creationId xmlns:p14="http://schemas.microsoft.com/office/powerpoint/2010/main" val="3395050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GB" sz="2400" b="1" dirty="0"/>
              <a:t>Spot the errors in the code:</a:t>
            </a:r>
          </a:p>
          <a:p>
            <a:pPr marL="109728" indent="0">
              <a:buNone/>
            </a:pPr>
            <a:endParaRPr lang="en-GB" sz="2000" b="1" dirty="0">
              <a:latin typeface="Courier New" pitchFamily="49" charset="0"/>
              <a:cs typeface="Courier New" pitchFamily="49" charset="0"/>
            </a:endParaRPr>
          </a:p>
          <a:p>
            <a:pPr marL="109728" indent="0">
              <a:buNone/>
            </a:pPr>
            <a:r>
              <a:rPr lang="en-GB" sz="2000" dirty="0" err="1">
                <a:latin typeface="Courier New" panose="02070309020205020404" pitchFamily="49" charset="0"/>
                <a:cs typeface="Courier New" panose="02070309020205020404" pitchFamily="49" charset="0"/>
              </a:rPr>
              <a:t>nameinput</a:t>
            </a:r>
            <a:r>
              <a:rPr lang="en-GB" sz="2000" dirty="0">
                <a:latin typeface="Courier New" panose="02070309020205020404" pitchFamily="49" charset="0"/>
                <a:cs typeface="Courier New" panose="02070309020205020404" pitchFamily="49" charset="0"/>
              </a:rPr>
              <a:t>(“What are you called?”)</a:t>
            </a:r>
          </a:p>
          <a:p>
            <a:pPr marL="109728" indent="0">
              <a:buNone/>
            </a:pPr>
            <a:r>
              <a:rPr lang="en-GB" sz="2000" dirty="0">
                <a:latin typeface="Courier New" panose="02070309020205020404" pitchFamily="49" charset="0"/>
                <a:cs typeface="Courier New" panose="02070309020205020404" pitchFamily="49" charset="0"/>
              </a:rPr>
              <a:t>print(“Hello”, name)</a:t>
            </a:r>
          </a:p>
          <a:p>
            <a:pPr marL="109728" indent="0">
              <a:buNone/>
            </a:pPr>
            <a:r>
              <a:rPr lang="en-GB" sz="2000" dirty="0" err="1">
                <a:latin typeface="Courier New" panose="02070309020205020404" pitchFamily="49" charset="0"/>
                <a:cs typeface="Courier New" panose="02070309020205020404" pitchFamily="49" charset="0"/>
              </a:rPr>
              <a:t>ans</a:t>
            </a:r>
            <a:r>
              <a:rPr lang="en-GB" sz="2000" dirty="0">
                <a:latin typeface="Courier New" panose="02070309020205020404" pitchFamily="49" charset="0"/>
                <a:cs typeface="Courier New" panose="02070309020205020404" pitchFamily="49" charset="0"/>
              </a:rPr>
              <a:t>=input(“What is the capital of England?”)</a:t>
            </a:r>
          </a:p>
          <a:p>
            <a:pPr marL="109728" indent="0">
              <a:buNone/>
            </a:pPr>
            <a:r>
              <a:rPr lang="en-GB" sz="2000" dirty="0">
                <a:latin typeface="Courier New" panose="02070309020205020404" pitchFamily="49" charset="0"/>
                <a:cs typeface="Courier New" panose="02070309020205020404" pitchFamily="49" charset="0"/>
              </a:rPr>
              <a:t>if *** ==“London” ** </a:t>
            </a:r>
            <a:r>
              <a:rPr lang="en-GB" sz="2000" dirty="0" err="1">
                <a:latin typeface="Courier New" panose="02070309020205020404" pitchFamily="49" charset="0"/>
                <a:cs typeface="Courier New" panose="02070309020205020404" pitchFamily="49" charset="0"/>
              </a:rPr>
              <a:t>ans</a:t>
            </a:r>
            <a:r>
              <a:rPr lang="en-GB" sz="2000" dirty="0">
                <a:latin typeface="Courier New" panose="02070309020205020404" pitchFamily="49" charset="0"/>
                <a:cs typeface="Courier New" panose="02070309020205020404" pitchFamily="49" charset="0"/>
              </a:rPr>
              <a:t>==“</a:t>
            </a:r>
            <a:r>
              <a:rPr lang="en-GB" sz="2000" dirty="0" err="1">
                <a:latin typeface="Courier New" panose="02070309020205020404" pitchFamily="49" charset="0"/>
                <a:cs typeface="Courier New" panose="02070309020205020404" pitchFamily="49" charset="0"/>
              </a:rPr>
              <a:t>london</a:t>
            </a:r>
            <a:r>
              <a:rPr lang="en-GB" sz="2000" dirty="0">
                <a:latin typeface="Courier New" panose="02070309020205020404" pitchFamily="49" charset="0"/>
                <a:cs typeface="Courier New" panose="02070309020205020404" pitchFamily="49" charset="0"/>
              </a:rPr>
              <a:t>”:</a:t>
            </a:r>
          </a:p>
          <a:p>
            <a:pPr marL="109728" indent="0">
              <a:buNone/>
            </a:pPr>
            <a:r>
              <a:rPr lang="en-GB" sz="2000" dirty="0">
                <a:latin typeface="Courier New" panose="02070309020205020404" pitchFamily="49" charset="0"/>
                <a:cs typeface="Courier New" panose="02070309020205020404" pitchFamily="49" charset="0"/>
              </a:rPr>
              <a:t>	print(“Well done”)</a:t>
            </a:r>
          </a:p>
          <a:p>
            <a:pPr marL="109728" indent="0">
              <a:buNone/>
            </a:pPr>
            <a:r>
              <a:rPr lang="en-GB" sz="2000" dirty="0">
                <a:latin typeface="Courier New" panose="02070309020205020404" pitchFamily="49" charset="0"/>
                <a:cs typeface="Courier New" panose="02070309020205020404" pitchFamily="49" charset="0"/>
              </a:rPr>
              <a:t>**** </a:t>
            </a:r>
            <a:r>
              <a:rPr lang="en-GB" sz="2000" dirty="0" err="1">
                <a:latin typeface="Courier New" panose="02070309020205020404" pitchFamily="49" charset="0"/>
                <a:cs typeface="Courier New" panose="02070309020205020404" pitchFamily="49" charset="0"/>
              </a:rPr>
              <a:t>ans</a:t>
            </a:r>
            <a:r>
              <a:rPr lang="en-GB" sz="2000" dirty="0">
                <a:latin typeface="Courier New" panose="02070309020205020404" pitchFamily="49" charset="0"/>
                <a:cs typeface="Courier New" panose="02070309020205020404" pitchFamily="49" charset="0"/>
              </a:rPr>
              <a:t>== “L”:</a:t>
            </a:r>
          </a:p>
          <a:p>
            <a:pPr marL="109728" indent="0">
              <a:buNone/>
            </a:pPr>
            <a:r>
              <a:rPr lang="en-GB" sz="2000" dirty="0">
                <a:latin typeface="Courier New" panose="02070309020205020404" pitchFamily="49" charset="0"/>
                <a:cs typeface="Courier New" panose="02070309020205020404" pitchFamily="49" charset="0"/>
              </a:rPr>
              <a:t>	print(“Very funny!”)</a:t>
            </a:r>
          </a:p>
          <a:p>
            <a:pPr marL="109728" indent="0">
              <a:buNone/>
            </a:pPr>
            <a:r>
              <a:rPr lang="en-GB" sz="2000" dirty="0">
                <a:latin typeface="Courier New" panose="02070309020205020404" pitchFamily="49" charset="0"/>
                <a:cs typeface="Courier New" panose="02070309020205020404" pitchFamily="49" charset="0"/>
              </a:rPr>
              <a:t>else:</a:t>
            </a:r>
          </a:p>
          <a:p>
            <a:pPr marL="109728" indent="0">
              <a:buNone/>
            </a:pPr>
            <a:r>
              <a:rPr lang="en-GB" sz="2000" dirty="0">
                <a:latin typeface="Courier New" panose="02070309020205020404" pitchFamily="49" charset="0"/>
                <a:cs typeface="Courier New" panose="02070309020205020404" pitchFamily="49" charset="0"/>
              </a:rPr>
              <a:t>	</a:t>
            </a:r>
            <a:r>
              <a:rPr lang="en-GB" sz="2000" dirty="0" err="1">
                <a:latin typeface="Courier New" panose="02070309020205020404" pitchFamily="49" charset="0"/>
                <a:cs typeface="Courier New" panose="02070309020205020404" pitchFamily="49" charset="0"/>
              </a:rPr>
              <a:t>print”Not</a:t>
            </a:r>
            <a:r>
              <a:rPr lang="en-GB" sz="2000" dirty="0">
                <a:latin typeface="Courier New" panose="02070309020205020404" pitchFamily="49" charset="0"/>
                <a:cs typeface="Courier New" panose="02070309020205020404" pitchFamily="49" charset="0"/>
              </a:rPr>
              <a:t> quite”</a:t>
            </a:r>
          </a:p>
          <a:p>
            <a:pPr marL="109728" indent="0">
              <a:buNone/>
            </a:pPr>
            <a:endParaRPr lang="en-GB" dirty="0"/>
          </a:p>
        </p:txBody>
      </p:sp>
      <p:sp>
        <p:nvSpPr>
          <p:cNvPr id="3" name="Title 2"/>
          <p:cNvSpPr>
            <a:spLocks noGrp="1"/>
          </p:cNvSpPr>
          <p:nvPr>
            <p:ph type="title"/>
          </p:nvPr>
        </p:nvSpPr>
        <p:spPr/>
        <p:txBody>
          <a:bodyPr/>
          <a:lstStyle/>
          <a:p>
            <a:r>
              <a:rPr lang="en-GB" dirty="0"/>
              <a:t>Check your knowledge</a:t>
            </a:r>
          </a:p>
        </p:txBody>
      </p:sp>
      <p:sp>
        <p:nvSpPr>
          <p:cNvPr id="4" name="Oval 3"/>
          <p:cNvSpPr/>
          <p:nvPr/>
        </p:nvSpPr>
        <p:spPr>
          <a:xfrm>
            <a:off x="1529359" y="2788340"/>
            <a:ext cx="385150" cy="3500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a:t>
            </a:r>
          </a:p>
        </p:txBody>
      </p:sp>
      <p:sp>
        <p:nvSpPr>
          <p:cNvPr id="5" name="Oval 4"/>
          <p:cNvSpPr/>
          <p:nvPr/>
        </p:nvSpPr>
        <p:spPr>
          <a:xfrm>
            <a:off x="1575730" y="4194571"/>
            <a:ext cx="385150" cy="3500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p>
        </p:txBody>
      </p:sp>
      <p:sp>
        <p:nvSpPr>
          <p:cNvPr id="6" name="Oval 5"/>
          <p:cNvSpPr/>
          <p:nvPr/>
        </p:nvSpPr>
        <p:spPr>
          <a:xfrm>
            <a:off x="3511675" y="4156555"/>
            <a:ext cx="385150" cy="3500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p>
        </p:txBody>
      </p:sp>
      <p:sp>
        <p:nvSpPr>
          <p:cNvPr id="7" name="Oval 6"/>
          <p:cNvSpPr/>
          <p:nvPr/>
        </p:nvSpPr>
        <p:spPr>
          <a:xfrm>
            <a:off x="1214718" y="4800018"/>
            <a:ext cx="385150" cy="3500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4</a:t>
            </a:r>
          </a:p>
        </p:txBody>
      </p:sp>
      <p:sp>
        <p:nvSpPr>
          <p:cNvPr id="8" name="Oval 7"/>
          <p:cNvSpPr/>
          <p:nvPr/>
        </p:nvSpPr>
        <p:spPr>
          <a:xfrm>
            <a:off x="4112160" y="5954388"/>
            <a:ext cx="385150" cy="3500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5</a:t>
            </a:r>
          </a:p>
        </p:txBody>
      </p:sp>
    </p:spTree>
    <p:extLst>
      <p:ext uri="{BB962C8B-B14F-4D97-AF65-F5344CB8AC3E}">
        <p14:creationId xmlns:p14="http://schemas.microsoft.com/office/powerpoint/2010/main" val="2199458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09728" indent="0">
              <a:buNone/>
            </a:pPr>
            <a:r>
              <a:rPr lang="en-GB" sz="2000" dirty="0">
                <a:latin typeface="Courier New" pitchFamily="49" charset="0"/>
                <a:cs typeface="Courier New" pitchFamily="49" charset="0"/>
              </a:rPr>
              <a:t>name</a:t>
            </a:r>
            <a:r>
              <a:rPr lang="en-GB" sz="2000" dirty="0">
                <a:solidFill>
                  <a:srgbClr val="FF0000"/>
                </a:solidFill>
                <a:latin typeface="Courier New" pitchFamily="49" charset="0"/>
                <a:cs typeface="Courier New" pitchFamily="49" charset="0"/>
              </a:rPr>
              <a:t>=</a:t>
            </a:r>
            <a:r>
              <a:rPr lang="en-GB" sz="2000" dirty="0">
                <a:latin typeface="Courier New" pitchFamily="49" charset="0"/>
                <a:cs typeface="Courier New" pitchFamily="49" charset="0"/>
              </a:rPr>
              <a:t>input(“What are you called?”)</a:t>
            </a:r>
          </a:p>
          <a:p>
            <a:pPr marL="109728" indent="0">
              <a:buNone/>
            </a:pPr>
            <a:r>
              <a:rPr lang="en-GB" sz="2000" dirty="0">
                <a:latin typeface="Courier New" pitchFamily="49" charset="0"/>
                <a:cs typeface="Courier New" pitchFamily="49" charset="0"/>
              </a:rPr>
              <a:t>print(“Hello”, name</a:t>
            </a:r>
            <a:r>
              <a:rPr lang="en-GB" sz="2000" dirty="0">
                <a:solidFill>
                  <a:schemeClr val="bg1"/>
                </a:solidFill>
                <a:latin typeface="Courier New" pitchFamily="49" charset="0"/>
                <a:cs typeface="Courier New" pitchFamily="49" charset="0"/>
              </a:rPr>
              <a:t>)</a:t>
            </a:r>
          </a:p>
          <a:p>
            <a:pPr marL="109728" indent="0">
              <a:buNone/>
            </a:pPr>
            <a:r>
              <a:rPr lang="en-GB" sz="2000" dirty="0" err="1">
                <a:latin typeface="Courier New" pitchFamily="49" charset="0"/>
                <a:cs typeface="Courier New" pitchFamily="49" charset="0"/>
              </a:rPr>
              <a:t>ans</a:t>
            </a:r>
            <a:r>
              <a:rPr lang="en-GB" sz="2000" dirty="0">
                <a:latin typeface="Courier New" pitchFamily="49" charset="0"/>
                <a:cs typeface="Courier New" pitchFamily="49" charset="0"/>
              </a:rPr>
              <a:t>=input(“What is the capital</a:t>
            </a:r>
            <a:r>
              <a:rPr lang="en-GB" sz="2000" dirty="0">
                <a:solidFill>
                  <a:srgbClr val="FF0000"/>
                </a:solidFill>
                <a:latin typeface="Courier New" pitchFamily="49" charset="0"/>
                <a:cs typeface="Courier New" pitchFamily="49" charset="0"/>
              </a:rPr>
              <a:t> </a:t>
            </a:r>
            <a:r>
              <a:rPr lang="en-GB" sz="2000" dirty="0">
                <a:latin typeface="Courier New" pitchFamily="49" charset="0"/>
                <a:cs typeface="Courier New" pitchFamily="49" charset="0"/>
              </a:rPr>
              <a:t>of England?”)</a:t>
            </a:r>
          </a:p>
          <a:p>
            <a:pPr marL="109728" indent="0">
              <a:buNone/>
            </a:pPr>
            <a:r>
              <a:rPr lang="en-GB" sz="2000" dirty="0">
                <a:latin typeface="Courier New" pitchFamily="49" charset="0"/>
                <a:cs typeface="Courier New" pitchFamily="49" charset="0"/>
              </a:rPr>
              <a:t>if </a:t>
            </a:r>
            <a:r>
              <a:rPr lang="en-GB" sz="2000" dirty="0" err="1">
                <a:solidFill>
                  <a:srgbClr val="FF0000"/>
                </a:solidFill>
                <a:latin typeface="Courier New" pitchFamily="49" charset="0"/>
                <a:cs typeface="Courier New" pitchFamily="49" charset="0"/>
              </a:rPr>
              <a:t>ans</a:t>
            </a:r>
            <a:r>
              <a:rPr lang="en-GB" sz="2000" dirty="0">
                <a:solidFill>
                  <a:srgbClr val="FFFF00"/>
                </a:solidFill>
                <a:latin typeface="Courier New" pitchFamily="49" charset="0"/>
                <a:cs typeface="Courier New" pitchFamily="49" charset="0"/>
              </a:rPr>
              <a:t> </a:t>
            </a:r>
            <a:r>
              <a:rPr lang="en-GB" sz="2000" dirty="0">
                <a:latin typeface="Courier New" pitchFamily="49" charset="0"/>
                <a:cs typeface="Courier New" pitchFamily="49" charset="0"/>
              </a:rPr>
              <a:t>==“London” </a:t>
            </a:r>
            <a:r>
              <a:rPr lang="en-GB" sz="2000" dirty="0">
                <a:solidFill>
                  <a:srgbClr val="FF0000"/>
                </a:solidFill>
                <a:latin typeface="Courier New" pitchFamily="49" charset="0"/>
                <a:cs typeface="Courier New" pitchFamily="49" charset="0"/>
              </a:rPr>
              <a:t>or</a:t>
            </a:r>
            <a:r>
              <a:rPr lang="en-GB" sz="2000" dirty="0">
                <a:latin typeface="Courier New" pitchFamily="49" charset="0"/>
                <a:cs typeface="Courier New" pitchFamily="49" charset="0"/>
              </a:rPr>
              <a:t> </a:t>
            </a:r>
            <a:r>
              <a:rPr lang="en-GB" sz="2000" dirty="0" err="1">
                <a:latin typeface="Courier New" pitchFamily="49" charset="0"/>
                <a:cs typeface="Courier New" pitchFamily="49" charset="0"/>
              </a:rPr>
              <a:t>ans</a:t>
            </a:r>
            <a:r>
              <a:rPr lang="en-GB" sz="2000" dirty="0">
                <a:latin typeface="Courier New" pitchFamily="49" charset="0"/>
                <a:cs typeface="Courier New" pitchFamily="49" charset="0"/>
              </a:rPr>
              <a:t>==“</a:t>
            </a:r>
            <a:r>
              <a:rPr lang="en-GB" sz="2000" dirty="0" err="1">
                <a:latin typeface="Courier New" pitchFamily="49" charset="0"/>
                <a:cs typeface="Courier New" pitchFamily="49" charset="0"/>
              </a:rPr>
              <a:t>london</a:t>
            </a:r>
            <a:r>
              <a:rPr lang="en-GB" sz="2000" dirty="0">
                <a:latin typeface="Courier New" pitchFamily="49" charset="0"/>
                <a:cs typeface="Courier New" pitchFamily="49" charset="0"/>
              </a:rPr>
              <a:t>”:</a:t>
            </a:r>
          </a:p>
          <a:p>
            <a:pPr marL="109728" indent="0">
              <a:buNone/>
            </a:pPr>
            <a:r>
              <a:rPr lang="en-GB" sz="2000" dirty="0">
                <a:latin typeface="Courier New" pitchFamily="49" charset="0"/>
                <a:cs typeface="Courier New" pitchFamily="49" charset="0"/>
              </a:rPr>
              <a:t>	print(“Well done”)</a:t>
            </a:r>
          </a:p>
          <a:p>
            <a:pPr marL="109728" indent="0">
              <a:buNone/>
            </a:pPr>
            <a:r>
              <a:rPr lang="en-GB" sz="2000" dirty="0" err="1">
                <a:solidFill>
                  <a:srgbClr val="FF0000"/>
                </a:solidFill>
                <a:latin typeface="Courier New" pitchFamily="49" charset="0"/>
                <a:cs typeface="Courier New" pitchFamily="49" charset="0"/>
              </a:rPr>
              <a:t>elif</a:t>
            </a:r>
            <a:r>
              <a:rPr lang="en-GB" sz="2000" dirty="0">
                <a:solidFill>
                  <a:schemeClr val="bg1"/>
                </a:solidFill>
                <a:latin typeface="Courier New" pitchFamily="49" charset="0"/>
                <a:cs typeface="Courier New" pitchFamily="49" charset="0"/>
              </a:rPr>
              <a:t> </a:t>
            </a:r>
            <a:r>
              <a:rPr lang="en-GB" sz="2000" dirty="0" err="1">
                <a:latin typeface="Courier New" pitchFamily="49" charset="0"/>
                <a:cs typeface="Courier New" pitchFamily="49" charset="0"/>
              </a:rPr>
              <a:t>ans</a:t>
            </a:r>
            <a:r>
              <a:rPr lang="en-GB" sz="2000" dirty="0">
                <a:latin typeface="Courier New" pitchFamily="49" charset="0"/>
                <a:cs typeface="Courier New" pitchFamily="49" charset="0"/>
              </a:rPr>
              <a:t>== “L”:</a:t>
            </a:r>
          </a:p>
          <a:p>
            <a:pPr marL="109728" indent="0">
              <a:buNone/>
            </a:pPr>
            <a:r>
              <a:rPr lang="en-GB" sz="2000" dirty="0">
                <a:latin typeface="Courier New" pitchFamily="49" charset="0"/>
                <a:cs typeface="Courier New" pitchFamily="49" charset="0"/>
              </a:rPr>
              <a:t>	print(“Very funny!”)</a:t>
            </a:r>
          </a:p>
          <a:p>
            <a:pPr marL="109728" indent="0">
              <a:buNone/>
            </a:pPr>
            <a:r>
              <a:rPr lang="en-GB" sz="2000" dirty="0">
                <a:latin typeface="Courier New" pitchFamily="49" charset="0"/>
                <a:cs typeface="Courier New" pitchFamily="49" charset="0"/>
              </a:rPr>
              <a:t>else:</a:t>
            </a:r>
          </a:p>
          <a:p>
            <a:pPr marL="109728" indent="0">
              <a:buNone/>
            </a:pPr>
            <a:r>
              <a:rPr lang="en-GB" sz="2000" dirty="0">
                <a:solidFill>
                  <a:schemeClr val="bg1"/>
                </a:solidFill>
                <a:latin typeface="Courier New" pitchFamily="49" charset="0"/>
                <a:cs typeface="Courier New" pitchFamily="49" charset="0"/>
              </a:rPr>
              <a:t>	print</a:t>
            </a:r>
            <a:r>
              <a:rPr lang="en-GB" sz="2000" dirty="0">
                <a:solidFill>
                  <a:srgbClr val="FF0000"/>
                </a:solidFill>
                <a:latin typeface="Courier New" pitchFamily="49" charset="0"/>
                <a:cs typeface="Courier New" pitchFamily="49" charset="0"/>
              </a:rPr>
              <a:t>(</a:t>
            </a:r>
            <a:r>
              <a:rPr lang="en-GB" sz="2000" dirty="0">
                <a:latin typeface="Courier New" pitchFamily="49" charset="0"/>
                <a:cs typeface="Courier New" pitchFamily="49" charset="0"/>
              </a:rPr>
              <a:t>”Not quite”</a:t>
            </a:r>
            <a:r>
              <a:rPr lang="en-GB" sz="2000" dirty="0">
                <a:solidFill>
                  <a:srgbClr val="FF0000"/>
                </a:solidFill>
                <a:latin typeface="Courier New" pitchFamily="49" charset="0"/>
                <a:cs typeface="Courier New" pitchFamily="49" charset="0"/>
              </a:rPr>
              <a:t>)</a:t>
            </a:r>
          </a:p>
          <a:p>
            <a:endParaRPr lang="en-GB" b="1" dirty="0"/>
          </a:p>
        </p:txBody>
      </p:sp>
      <p:sp>
        <p:nvSpPr>
          <p:cNvPr id="3" name="Title 2"/>
          <p:cNvSpPr>
            <a:spLocks noGrp="1"/>
          </p:cNvSpPr>
          <p:nvPr>
            <p:ph type="title"/>
          </p:nvPr>
        </p:nvSpPr>
        <p:spPr/>
        <p:txBody>
          <a:bodyPr/>
          <a:lstStyle/>
          <a:p>
            <a:r>
              <a:rPr lang="en-GB" dirty="0"/>
              <a:t>Check your knowledge</a:t>
            </a:r>
          </a:p>
        </p:txBody>
      </p:sp>
    </p:spTree>
    <p:extLst>
      <p:ext uri="{BB962C8B-B14F-4D97-AF65-F5344CB8AC3E}">
        <p14:creationId xmlns:p14="http://schemas.microsoft.com/office/powerpoint/2010/main" val="22472260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13400-102C-BA7A-1166-781B1212C871}"/>
              </a:ext>
            </a:extLst>
          </p:cNvPr>
          <p:cNvSpPr>
            <a:spLocks noGrp="1"/>
          </p:cNvSpPr>
          <p:nvPr>
            <p:ph type="title"/>
          </p:nvPr>
        </p:nvSpPr>
        <p:spPr/>
        <p:txBody>
          <a:bodyPr/>
          <a:lstStyle/>
          <a:p>
            <a:r>
              <a:rPr lang="en-GB" dirty="0"/>
              <a:t>Check your knowledge</a:t>
            </a:r>
          </a:p>
        </p:txBody>
      </p:sp>
      <p:sp>
        <p:nvSpPr>
          <p:cNvPr id="3" name="Content Placeholder 2">
            <a:extLst>
              <a:ext uri="{FF2B5EF4-FFF2-40B4-BE49-F238E27FC236}">
                <a16:creationId xmlns:a16="http://schemas.microsoft.com/office/drawing/2014/main" id="{FED8634D-78AC-14CA-8D9A-E87C10A40C11}"/>
              </a:ext>
            </a:extLst>
          </p:cNvPr>
          <p:cNvSpPr>
            <a:spLocks noGrp="1"/>
          </p:cNvSpPr>
          <p:nvPr>
            <p:ph idx="1"/>
          </p:nvPr>
        </p:nvSpPr>
        <p:spPr/>
        <p:txBody>
          <a:bodyPr>
            <a:normAutofit lnSpcReduction="10000"/>
          </a:bodyPr>
          <a:lstStyle/>
          <a:p>
            <a:r>
              <a:rPr lang="en-GB" b="1" dirty="0"/>
              <a:t>Spot the errors in the code:</a:t>
            </a:r>
          </a:p>
          <a:p>
            <a:r>
              <a:rPr lang="en-GB" dirty="0"/>
              <a:t>hours = input("Input hours parking required (2, 4 or 12): ")</a:t>
            </a:r>
          </a:p>
          <a:p>
            <a:r>
              <a:rPr lang="en-GB" dirty="0" err="1"/>
              <a:t>numSecs</a:t>
            </a:r>
            <a:r>
              <a:rPr lang="en-GB" dirty="0"/>
              <a:t> = hours *60*60</a:t>
            </a:r>
          </a:p>
          <a:p>
            <a:r>
              <a:rPr lang="en-GB" dirty="0"/>
              <a:t>if hours = 2:</a:t>
            </a:r>
          </a:p>
          <a:p>
            <a:r>
              <a:rPr lang="en-GB" dirty="0"/>
              <a:t>    charge = 3.50</a:t>
            </a:r>
          </a:p>
          <a:p>
            <a:r>
              <a:rPr lang="en-GB" dirty="0" err="1"/>
              <a:t>elif</a:t>
            </a:r>
            <a:r>
              <a:rPr lang="en-GB" dirty="0"/>
              <a:t> </a:t>
            </a:r>
            <a:r>
              <a:rPr lang="en-GB" dirty="0" err="1"/>
              <a:t>hous</a:t>
            </a:r>
            <a:r>
              <a:rPr lang="en-GB" dirty="0"/>
              <a:t> == 4:</a:t>
            </a:r>
          </a:p>
          <a:p>
            <a:r>
              <a:rPr lang="en-GB" dirty="0"/>
              <a:t>    charge = 5.00</a:t>
            </a:r>
          </a:p>
          <a:p>
            <a:r>
              <a:rPr lang="en-GB" dirty="0" err="1"/>
              <a:t>elif</a:t>
            </a:r>
            <a:r>
              <a:rPr lang="en-GB" dirty="0"/>
              <a:t>:</a:t>
            </a:r>
          </a:p>
          <a:p>
            <a:r>
              <a:rPr lang="en-GB" dirty="0"/>
              <a:t>    charge = 10.00</a:t>
            </a:r>
          </a:p>
        </p:txBody>
      </p:sp>
      <p:sp>
        <p:nvSpPr>
          <p:cNvPr id="5" name="Oval 4">
            <a:extLst>
              <a:ext uri="{FF2B5EF4-FFF2-40B4-BE49-F238E27FC236}">
                <a16:creationId xmlns:a16="http://schemas.microsoft.com/office/drawing/2014/main" id="{37D54B86-1A4E-DA7C-065F-FD415D20B167}"/>
              </a:ext>
            </a:extLst>
          </p:cNvPr>
          <p:cNvSpPr/>
          <p:nvPr/>
        </p:nvSpPr>
        <p:spPr>
          <a:xfrm>
            <a:off x="1768305" y="2429835"/>
            <a:ext cx="385150" cy="3500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a:t>
            </a:r>
          </a:p>
        </p:txBody>
      </p:sp>
      <p:sp>
        <p:nvSpPr>
          <p:cNvPr id="6" name="Oval 5">
            <a:extLst>
              <a:ext uri="{FF2B5EF4-FFF2-40B4-BE49-F238E27FC236}">
                <a16:creationId xmlns:a16="http://schemas.microsoft.com/office/drawing/2014/main" id="{561B0EE5-9D3C-2011-10CB-F7FD4DC0EAFB}"/>
              </a:ext>
            </a:extLst>
          </p:cNvPr>
          <p:cNvSpPr/>
          <p:nvPr/>
        </p:nvSpPr>
        <p:spPr>
          <a:xfrm>
            <a:off x="2654517" y="3629492"/>
            <a:ext cx="385150" cy="3500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p>
        </p:txBody>
      </p:sp>
      <p:sp>
        <p:nvSpPr>
          <p:cNvPr id="7" name="Oval 6">
            <a:extLst>
              <a:ext uri="{FF2B5EF4-FFF2-40B4-BE49-F238E27FC236}">
                <a16:creationId xmlns:a16="http://schemas.microsoft.com/office/drawing/2014/main" id="{077DBFB5-18F5-3BC7-140B-2E8B9B54D6E2}"/>
              </a:ext>
            </a:extLst>
          </p:cNvPr>
          <p:cNvSpPr/>
          <p:nvPr/>
        </p:nvSpPr>
        <p:spPr>
          <a:xfrm>
            <a:off x="2847092" y="4449965"/>
            <a:ext cx="385150" cy="3500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p>
        </p:txBody>
      </p:sp>
      <p:sp>
        <p:nvSpPr>
          <p:cNvPr id="8" name="Oval 7">
            <a:extLst>
              <a:ext uri="{FF2B5EF4-FFF2-40B4-BE49-F238E27FC236}">
                <a16:creationId xmlns:a16="http://schemas.microsoft.com/office/drawing/2014/main" id="{A7540143-E158-7E81-9CB2-25B815828F7D}"/>
              </a:ext>
            </a:extLst>
          </p:cNvPr>
          <p:cNvSpPr/>
          <p:nvPr/>
        </p:nvSpPr>
        <p:spPr>
          <a:xfrm>
            <a:off x="1768305" y="5324000"/>
            <a:ext cx="385150" cy="3500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4</a:t>
            </a:r>
          </a:p>
        </p:txBody>
      </p:sp>
    </p:spTree>
    <p:extLst>
      <p:ext uri="{BB962C8B-B14F-4D97-AF65-F5344CB8AC3E}">
        <p14:creationId xmlns:p14="http://schemas.microsoft.com/office/powerpoint/2010/main" val="2075661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13400-102C-BA7A-1166-781B1212C871}"/>
              </a:ext>
            </a:extLst>
          </p:cNvPr>
          <p:cNvSpPr>
            <a:spLocks noGrp="1"/>
          </p:cNvSpPr>
          <p:nvPr>
            <p:ph type="title"/>
          </p:nvPr>
        </p:nvSpPr>
        <p:spPr/>
        <p:txBody>
          <a:bodyPr/>
          <a:lstStyle/>
          <a:p>
            <a:r>
              <a:rPr lang="en-GB" dirty="0"/>
              <a:t>Check your knowledge</a:t>
            </a:r>
          </a:p>
        </p:txBody>
      </p:sp>
      <p:sp>
        <p:nvSpPr>
          <p:cNvPr id="3" name="Content Placeholder 2">
            <a:extLst>
              <a:ext uri="{FF2B5EF4-FFF2-40B4-BE49-F238E27FC236}">
                <a16:creationId xmlns:a16="http://schemas.microsoft.com/office/drawing/2014/main" id="{FED8634D-78AC-14CA-8D9A-E87C10A40C11}"/>
              </a:ext>
            </a:extLst>
          </p:cNvPr>
          <p:cNvSpPr>
            <a:spLocks noGrp="1"/>
          </p:cNvSpPr>
          <p:nvPr>
            <p:ph idx="1"/>
          </p:nvPr>
        </p:nvSpPr>
        <p:spPr/>
        <p:txBody>
          <a:bodyPr>
            <a:normAutofit lnSpcReduction="10000"/>
          </a:bodyPr>
          <a:lstStyle/>
          <a:p>
            <a:r>
              <a:rPr lang="en-GB" b="1" dirty="0"/>
              <a:t>Spot the errors in the code:</a:t>
            </a:r>
          </a:p>
          <a:p>
            <a:r>
              <a:rPr lang="en-GB" dirty="0"/>
              <a:t>hours = int(input("Input hours parking required (2, 4 or 12): "))</a:t>
            </a:r>
          </a:p>
          <a:p>
            <a:r>
              <a:rPr lang="en-GB" dirty="0" err="1"/>
              <a:t>numSecs</a:t>
            </a:r>
            <a:r>
              <a:rPr lang="en-GB" dirty="0"/>
              <a:t> = hours *60*60</a:t>
            </a:r>
          </a:p>
          <a:p>
            <a:r>
              <a:rPr lang="en-GB" dirty="0"/>
              <a:t>if hours == 2:</a:t>
            </a:r>
          </a:p>
          <a:p>
            <a:r>
              <a:rPr lang="en-GB" dirty="0"/>
              <a:t>    charge = 3.50</a:t>
            </a:r>
          </a:p>
          <a:p>
            <a:r>
              <a:rPr lang="en-GB" dirty="0" err="1"/>
              <a:t>elif</a:t>
            </a:r>
            <a:r>
              <a:rPr lang="en-GB" dirty="0"/>
              <a:t> hours == 4:</a:t>
            </a:r>
          </a:p>
          <a:p>
            <a:r>
              <a:rPr lang="en-GB" dirty="0"/>
              <a:t>    charge = 5.00</a:t>
            </a:r>
          </a:p>
          <a:p>
            <a:r>
              <a:rPr lang="en-GB" dirty="0"/>
              <a:t>else:</a:t>
            </a:r>
          </a:p>
          <a:p>
            <a:r>
              <a:rPr lang="en-GB" dirty="0"/>
              <a:t>    charge = 10.00</a:t>
            </a:r>
          </a:p>
        </p:txBody>
      </p:sp>
      <p:sp>
        <p:nvSpPr>
          <p:cNvPr id="5" name="Oval 4">
            <a:extLst>
              <a:ext uri="{FF2B5EF4-FFF2-40B4-BE49-F238E27FC236}">
                <a16:creationId xmlns:a16="http://schemas.microsoft.com/office/drawing/2014/main" id="{37D54B86-1A4E-DA7C-065F-FD415D20B167}"/>
              </a:ext>
            </a:extLst>
          </p:cNvPr>
          <p:cNvSpPr/>
          <p:nvPr/>
        </p:nvSpPr>
        <p:spPr>
          <a:xfrm>
            <a:off x="1768305" y="2429835"/>
            <a:ext cx="385150" cy="3500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1</a:t>
            </a:r>
          </a:p>
        </p:txBody>
      </p:sp>
      <p:sp>
        <p:nvSpPr>
          <p:cNvPr id="6" name="Oval 5">
            <a:extLst>
              <a:ext uri="{FF2B5EF4-FFF2-40B4-BE49-F238E27FC236}">
                <a16:creationId xmlns:a16="http://schemas.microsoft.com/office/drawing/2014/main" id="{561B0EE5-9D3C-2011-10CB-F7FD4DC0EAFB}"/>
              </a:ext>
            </a:extLst>
          </p:cNvPr>
          <p:cNvSpPr/>
          <p:nvPr/>
        </p:nvSpPr>
        <p:spPr>
          <a:xfrm>
            <a:off x="3232242" y="3547298"/>
            <a:ext cx="385150" cy="3500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2</a:t>
            </a:r>
          </a:p>
        </p:txBody>
      </p:sp>
      <p:sp>
        <p:nvSpPr>
          <p:cNvPr id="7" name="Oval 6">
            <a:extLst>
              <a:ext uri="{FF2B5EF4-FFF2-40B4-BE49-F238E27FC236}">
                <a16:creationId xmlns:a16="http://schemas.microsoft.com/office/drawing/2014/main" id="{077DBFB5-18F5-3BC7-140B-2E8B9B54D6E2}"/>
              </a:ext>
            </a:extLst>
          </p:cNvPr>
          <p:cNvSpPr/>
          <p:nvPr/>
        </p:nvSpPr>
        <p:spPr>
          <a:xfrm>
            <a:off x="3232242" y="4578276"/>
            <a:ext cx="385150" cy="3500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3</a:t>
            </a:r>
          </a:p>
        </p:txBody>
      </p:sp>
      <p:sp>
        <p:nvSpPr>
          <p:cNvPr id="8" name="Oval 7">
            <a:extLst>
              <a:ext uri="{FF2B5EF4-FFF2-40B4-BE49-F238E27FC236}">
                <a16:creationId xmlns:a16="http://schemas.microsoft.com/office/drawing/2014/main" id="{A7540143-E158-7E81-9CB2-25B815828F7D}"/>
              </a:ext>
            </a:extLst>
          </p:cNvPr>
          <p:cNvSpPr/>
          <p:nvPr/>
        </p:nvSpPr>
        <p:spPr>
          <a:xfrm>
            <a:off x="1768305" y="5324000"/>
            <a:ext cx="385150" cy="35005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4</a:t>
            </a:r>
          </a:p>
        </p:txBody>
      </p:sp>
    </p:spTree>
    <p:extLst>
      <p:ext uri="{BB962C8B-B14F-4D97-AF65-F5344CB8AC3E}">
        <p14:creationId xmlns:p14="http://schemas.microsoft.com/office/powerpoint/2010/main" val="1758981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13400-102C-BA7A-1166-781B1212C871}"/>
              </a:ext>
            </a:extLst>
          </p:cNvPr>
          <p:cNvSpPr>
            <a:spLocks noGrp="1"/>
          </p:cNvSpPr>
          <p:nvPr>
            <p:ph type="title"/>
          </p:nvPr>
        </p:nvSpPr>
        <p:spPr/>
        <p:txBody>
          <a:bodyPr/>
          <a:lstStyle/>
          <a:p>
            <a:r>
              <a:rPr lang="en-GB" dirty="0"/>
              <a:t>Check your knowledge</a:t>
            </a:r>
          </a:p>
        </p:txBody>
      </p:sp>
      <p:sp>
        <p:nvSpPr>
          <p:cNvPr id="3" name="Content Placeholder 2">
            <a:extLst>
              <a:ext uri="{FF2B5EF4-FFF2-40B4-BE49-F238E27FC236}">
                <a16:creationId xmlns:a16="http://schemas.microsoft.com/office/drawing/2014/main" id="{FED8634D-78AC-14CA-8D9A-E87C10A40C11}"/>
              </a:ext>
            </a:extLst>
          </p:cNvPr>
          <p:cNvSpPr>
            <a:spLocks noGrp="1"/>
          </p:cNvSpPr>
          <p:nvPr>
            <p:ph idx="1"/>
          </p:nvPr>
        </p:nvSpPr>
        <p:spPr>
          <a:xfrm>
            <a:off x="1024129" y="2286000"/>
            <a:ext cx="7852744" cy="4023360"/>
          </a:xfrm>
        </p:spPr>
        <p:txBody>
          <a:bodyPr>
            <a:normAutofit fontScale="92500" lnSpcReduction="10000"/>
          </a:bodyPr>
          <a:lstStyle/>
          <a:p>
            <a:pPr marL="109728" indent="0">
              <a:buNone/>
            </a:pPr>
            <a:r>
              <a:rPr lang="en-GB" sz="2400" dirty="0">
                <a:latin typeface="Courier New" pitchFamily="49" charset="0"/>
                <a:cs typeface="Courier New" pitchFamily="49" charset="0"/>
              </a:rPr>
              <a:t>name=input(“what are you called?”)</a:t>
            </a:r>
          </a:p>
          <a:p>
            <a:pPr marL="109728" indent="0">
              <a:buNone/>
            </a:pPr>
            <a:r>
              <a:rPr lang="en-GB" sz="2400" dirty="0">
                <a:latin typeface="Courier New" pitchFamily="49" charset="0"/>
                <a:cs typeface="Courier New" pitchFamily="49" charset="0"/>
              </a:rPr>
              <a:t>print(“hello”, name)</a:t>
            </a:r>
          </a:p>
          <a:p>
            <a:pPr marL="109728" indent="0">
              <a:buNone/>
            </a:pPr>
            <a:r>
              <a:rPr lang="en-GB" sz="2400" dirty="0" err="1">
                <a:latin typeface="Courier New" pitchFamily="49" charset="0"/>
                <a:cs typeface="Courier New" pitchFamily="49" charset="0"/>
              </a:rPr>
              <a:t>ans</a:t>
            </a:r>
            <a:r>
              <a:rPr lang="en-GB" sz="2400" dirty="0">
                <a:latin typeface="Courier New" pitchFamily="49" charset="0"/>
                <a:cs typeface="Courier New" pitchFamily="49" charset="0"/>
              </a:rPr>
              <a:t>=input(“what is the capital of </a:t>
            </a:r>
            <a:r>
              <a:rPr lang="en-GB" sz="2400" dirty="0" err="1">
                <a:latin typeface="Courier New" pitchFamily="49" charset="0"/>
                <a:cs typeface="Courier New" pitchFamily="49" charset="0"/>
              </a:rPr>
              <a:t>england</a:t>
            </a:r>
            <a:r>
              <a:rPr lang="en-GB" sz="2400" dirty="0">
                <a:latin typeface="Courier New" pitchFamily="49" charset="0"/>
                <a:cs typeface="Courier New" pitchFamily="49" charset="0"/>
              </a:rPr>
              <a:t>?”)</a:t>
            </a:r>
          </a:p>
          <a:p>
            <a:pPr marL="109728" indent="0">
              <a:buNone/>
            </a:pPr>
            <a:r>
              <a:rPr lang="en-GB" sz="2400" dirty="0">
                <a:latin typeface="Courier New" pitchFamily="49" charset="0"/>
                <a:cs typeface="Courier New" pitchFamily="49" charset="0"/>
              </a:rPr>
              <a:t>if </a:t>
            </a:r>
            <a:r>
              <a:rPr lang="en-GB" sz="2400" dirty="0" err="1">
                <a:latin typeface="Courier New" pitchFamily="49" charset="0"/>
                <a:cs typeface="Courier New" pitchFamily="49" charset="0"/>
              </a:rPr>
              <a:t>ans</a:t>
            </a:r>
            <a:r>
              <a:rPr lang="en-GB" sz="2400" dirty="0">
                <a:latin typeface="Courier New" pitchFamily="49" charset="0"/>
                <a:cs typeface="Courier New" pitchFamily="49" charset="0"/>
              </a:rPr>
              <a:t> ==“London” or </a:t>
            </a:r>
            <a:r>
              <a:rPr lang="en-GB" sz="2400" dirty="0" err="1">
                <a:latin typeface="Courier New" pitchFamily="49" charset="0"/>
                <a:cs typeface="Courier New" pitchFamily="49" charset="0"/>
              </a:rPr>
              <a:t>ans</a:t>
            </a:r>
            <a:r>
              <a:rPr lang="en-GB" sz="2400" dirty="0">
                <a:latin typeface="Courier New" pitchFamily="49" charset="0"/>
                <a:cs typeface="Courier New" pitchFamily="49" charset="0"/>
              </a:rPr>
              <a:t>==“</a:t>
            </a:r>
            <a:r>
              <a:rPr lang="en-GB" sz="2400" dirty="0" err="1">
                <a:latin typeface="Courier New" pitchFamily="49" charset="0"/>
                <a:cs typeface="Courier New" pitchFamily="49" charset="0"/>
              </a:rPr>
              <a:t>london</a:t>
            </a:r>
            <a:r>
              <a:rPr lang="en-GB" sz="2400" dirty="0">
                <a:latin typeface="Courier New" pitchFamily="49" charset="0"/>
                <a:cs typeface="Courier New" pitchFamily="49" charset="0"/>
              </a:rPr>
              <a:t>”:</a:t>
            </a:r>
          </a:p>
          <a:p>
            <a:pPr marL="109728" indent="0">
              <a:buNone/>
            </a:pPr>
            <a:r>
              <a:rPr lang="en-GB" sz="2400" dirty="0">
                <a:latin typeface="Courier New" pitchFamily="49" charset="0"/>
                <a:cs typeface="Courier New" pitchFamily="49" charset="0"/>
              </a:rPr>
              <a:t>	print(“well done”)</a:t>
            </a:r>
          </a:p>
          <a:p>
            <a:pPr marL="109728" indent="0">
              <a:buNone/>
            </a:pPr>
            <a:r>
              <a:rPr lang="en-GB" sz="2400" dirty="0" err="1">
                <a:latin typeface="Courier New" pitchFamily="49" charset="0"/>
                <a:cs typeface="Courier New" pitchFamily="49" charset="0"/>
              </a:rPr>
              <a:t>elif</a:t>
            </a:r>
            <a:r>
              <a:rPr lang="en-GB" sz="2400" dirty="0">
                <a:latin typeface="Courier New" pitchFamily="49" charset="0"/>
                <a:cs typeface="Courier New" pitchFamily="49" charset="0"/>
              </a:rPr>
              <a:t> </a:t>
            </a:r>
            <a:r>
              <a:rPr lang="en-GB" sz="2400" dirty="0" err="1">
                <a:latin typeface="Courier New" pitchFamily="49" charset="0"/>
                <a:cs typeface="Courier New" pitchFamily="49" charset="0"/>
              </a:rPr>
              <a:t>ans</a:t>
            </a:r>
            <a:r>
              <a:rPr lang="en-GB" sz="2400" dirty="0">
                <a:latin typeface="Courier New" pitchFamily="49" charset="0"/>
                <a:cs typeface="Courier New" pitchFamily="49" charset="0"/>
              </a:rPr>
              <a:t>== “L”:</a:t>
            </a:r>
          </a:p>
          <a:p>
            <a:pPr marL="109728" indent="0">
              <a:buNone/>
            </a:pPr>
            <a:r>
              <a:rPr lang="en-GB" sz="2400" dirty="0">
                <a:latin typeface="Courier New" pitchFamily="49" charset="0"/>
                <a:cs typeface="Courier New" pitchFamily="49" charset="0"/>
              </a:rPr>
              <a:t>	print(“aren’t you funny?!”)</a:t>
            </a:r>
          </a:p>
          <a:p>
            <a:pPr marL="109728" indent="0">
              <a:buNone/>
            </a:pPr>
            <a:r>
              <a:rPr lang="en-GB" sz="2400" dirty="0">
                <a:latin typeface="Courier New" pitchFamily="49" charset="0"/>
                <a:cs typeface="Courier New" pitchFamily="49" charset="0"/>
              </a:rPr>
              <a:t>else:</a:t>
            </a:r>
          </a:p>
          <a:p>
            <a:pPr marL="109728" indent="0">
              <a:buNone/>
            </a:pPr>
            <a:r>
              <a:rPr lang="en-GB" sz="2400" dirty="0">
                <a:latin typeface="Courier New" pitchFamily="49" charset="0"/>
                <a:cs typeface="Courier New" pitchFamily="49" charset="0"/>
              </a:rPr>
              <a:t>	print(”not quite”)</a:t>
            </a:r>
          </a:p>
          <a:p>
            <a:endParaRPr lang="en-GB" dirty="0"/>
          </a:p>
          <a:p>
            <a:endParaRPr lang="en-GB" dirty="0"/>
          </a:p>
        </p:txBody>
      </p:sp>
      <p:sp>
        <p:nvSpPr>
          <p:cNvPr id="7" name="Content Placeholder 2">
            <a:extLst>
              <a:ext uri="{FF2B5EF4-FFF2-40B4-BE49-F238E27FC236}">
                <a16:creationId xmlns:a16="http://schemas.microsoft.com/office/drawing/2014/main" id="{7E73C039-DAEF-C811-482F-476D73478FB4}"/>
              </a:ext>
            </a:extLst>
          </p:cNvPr>
          <p:cNvSpPr txBox="1">
            <a:spLocks/>
          </p:cNvSpPr>
          <p:nvPr/>
        </p:nvSpPr>
        <p:spPr>
          <a:xfrm>
            <a:off x="8555083" y="2286000"/>
            <a:ext cx="2951972" cy="4023360"/>
          </a:xfrm>
          <a:prstGeom prst="rect">
            <a:avLst/>
          </a:prstGeom>
        </p:spPr>
        <p:txBody>
          <a:bodyPr vert="horz" lIns="45720" tIns="45720" rIns="45720" bIns="45720" rtlCol="0">
            <a:normAutofit fontScale="85000" lnSpcReduction="2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lgn="ctr"/>
            <a:endParaRPr lang="en-GB" sz="3900" dirty="0"/>
          </a:p>
          <a:p>
            <a:pPr algn="ctr"/>
            <a:r>
              <a:rPr lang="en-GB" sz="4000" dirty="0"/>
              <a:t>What would improve the standard of this code? </a:t>
            </a:r>
          </a:p>
          <a:p>
            <a:pPr algn="ctr"/>
            <a:endParaRPr lang="en-GB" sz="3900" dirty="0"/>
          </a:p>
          <a:p>
            <a:pPr algn="ctr"/>
            <a:r>
              <a:rPr lang="en-GB" sz="3900" dirty="0"/>
              <a:t>Comments</a:t>
            </a:r>
          </a:p>
          <a:p>
            <a:pPr algn="ctr"/>
            <a:r>
              <a:rPr lang="en-GB" sz="3900" dirty="0"/>
              <a:t>Variable names</a:t>
            </a:r>
          </a:p>
          <a:p>
            <a:pPr algn="ctr"/>
            <a:endParaRPr lang="en-GB" sz="3900" dirty="0"/>
          </a:p>
          <a:p>
            <a:endParaRPr lang="en-GB" dirty="0"/>
          </a:p>
          <a:p>
            <a:endParaRPr lang="en-GB" dirty="0"/>
          </a:p>
          <a:p>
            <a:endParaRPr lang="en-GB" dirty="0"/>
          </a:p>
        </p:txBody>
      </p:sp>
    </p:spTree>
    <p:extLst>
      <p:ext uri="{BB962C8B-B14F-4D97-AF65-F5344CB8AC3E}">
        <p14:creationId xmlns:p14="http://schemas.microsoft.com/office/powerpoint/2010/main" val="2098369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13400-102C-BA7A-1166-781B1212C871}"/>
              </a:ext>
            </a:extLst>
          </p:cNvPr>
          <p:cNvSpPr>
            <a:spLocks noGrp="1"/>
          </p:cNvSpPr>
          <p:nvPr>
            <p:ph type="title"/>
          </p:nvPr>
        </p:nvSpPr>
        <p:spPr/>
        <p:txBody>
          <a:bodyPr/>
          <a:lstStyle/>
          <a:p>
            <a:r>
              <a:rPr lang="en-GB" dirty="0"/>
              <a:t>Check your knowledge</a:t>
            </a:r>
          </a:p>
        </p:txBody>
      </p:sp>
      <p:sp>
        <p:nvSpPr>
          <p:cNvPr id="3" name="Content Placeholder 2">
            <a:extLst>
              <a:ext uri="{FF2B5EF4-FFF2-40B4-BE49-F238E27FC236}">
                <a16:creationId xmlns:a16="http://schemas.microsoft.com/office/drawing/2014/main" id="{FED8634D-78AC-14CA-8D9A-E87C10A40C11}"/>
              </a:ext>
            </a:extLst>
          </p:cNvPr>
          <p:cNvSpPr>
            <a:spLocks noGrp="1"/>
          </p:cNvSpPr>
          <p:nvPr>
            <p:ph sz="half" idx="1"/>
          </p:nvPr>
        </p:nvSpPr>
        <p:spPr>
          <a:xfrm>
            <a:off x="1024127" y="2286000"/>
            <a:ext cx="2951972" cy="4023360"/>
          </a:xfrm>
        </p:spPr>
        <p:txBody>
          <a:bodyPr>
            <a:normAutofit fontScale="92500" lnSpcReduction="10000"/>
          </a:bodyPr>
          <a:lstStyle/>
          <a:p>
            <a:pPr algn="ctr"/>
            <a:endParaRPr lang="en-GB" sz="3900" dirty="0"/>
          </a:p>
          <a:p>
            <a:pPr algn="ctr"/>
            <a:r>
              <a:rPr lang="en-GB" sz="3900" dirty="0"/>
              <a:t>How could this code be more efficient?</a:t>
            </a:r>
          </a:p>
          <a:p>
            <a:pPr algn="ctr"/>
            <a:endParaRPr lang="en-GB" sz="3900" dirty="0"/>
          </a:p>
          <a:p>
            <a:pPr algn="ctr"/>
            <a:r>
              <a:rPr lang="en-GB" sz="3900" dirty="0"/>
              <a:t>.upper()</a:t>
            </a:r>
          </a:p>
          <a:p>
            <a:pPr algn="ctr"/>
            <a:r>
              <a:rPr lang="en-GB" sz="3900" dirty="0"/>
              <a:t>.lower()</a:t>
            </a:r>
          </a:p>
          <a:p>
            <a:endParaRPr lang="en-GB" dirty="0"/>
          </a:p>
          <a:p>
            <a:endParaRPr lang="en-GB" dirty="0"/>
          </a:p>
          <a:p>
            <a:endParaRPr lang="en-GB" dirty="0"/>
          </a:p>
        </p:txBody>
      </p:sp>
      <p:sp>
        <p:nvSpPr>
          <p:cNvPr id="4" name="Content Placeholder 3">
            <a:extLst>
              <a:ext uri="{FF2B5EF4-FFF2-40B4-BE49-F238E27FC236}">
                <a16:creationId xmlns:a16="http://schemas.microsoft.com/office/drawing/2014/main" id="{01C79AB5-B6CB-26E0-275C-AC96D4FC1B8D}"/>
              </a:ext>
            </a:extLst>
          </p:cNvPr>
          <p:cNvSpPr>
            <a:spLocks noGrp="1"/>
          </p:cNvSpPr>
          <p:nvPr>
            <p:ph sz="half" idx="2"/>
          </p:nvPr>
        </p:nvSpPr>
        <p:spPr>
          <a:xfrm>
            <a:off x="4777483" y="2286000"/>
            <a:ext cx="5966717" cy="4023360"/>
          </a:xfrm>
        </p:spPr>
        <p:txBody>
          <a:bodyPr>
            <a:normAutofit fontScale="92500" lnSpcReduction="10000"/>
          </a:bodyPr>
          <a:lstStyle/>
          <a:p>
            <a:pPr marL="109728" indent="0">
              <a:buNone/>
            </a:pPr>
            <a:r>
              <a:rPr lang="en-GB" sz="2000" dirty="0">
                <a:latin typeface="Courier New" pitchFamily="49" charset="0"/>
                <a:cs typeface="Courier New" pitchFamily="49" charset="0"/>
              </a:rPr>
              <a:t>name=input(“what are you called?”)</a:t>
            </a:r>
          </a:p>
          <a:p>
            <a:pPr marL="109728" indent="0">
              <a:buNone/>
            </a:pPr>
            <a:r>
              <a:rPr lang="en-GB" sz="2000" dirty="0">
                <a:latin typeface="Courier New" pitchFamily="49" charset="0"/>
                <a:cs typeface="Courier New" pitchFamily="49" charset="0"/>
              </a:rPr>
              <a:t>print(“hello”, name)</a:t>
            </a:r>
          </a:p>
          <a:p>
            <a:pPr marL="109728" indent="0">
              <a:buNone/>
            </a:pPr>
            <a:r>
              <a:rPr lang="en-GB" sz="2000" dirty="0" err="1">
                <a:latin typeface="Courier New" pitchFamily="49" charset="0"/>
                <a:cs typeface="Courier New" pitchFamily="49" charset="0"/>
              </a:rPr>
              <a:t>ans</a:t>
            </a:r>
            <a:r>
              <a:rPr lang="en-GB" sz="2000" dirty="0">
                <a:latin typeface="Courier New" pitchFamily="49" charset="0"/>
                <a:cs typeface="Courier New" pitchFamily="49" charset="0"/>
              </a:rPr>
              <a:t>=input(“what is the capital of </a:t>
            </a:r>
            <a:r>
              <a:rPr lang="en-GB" sz="2000" dirty="0" err="1">
                <a:latin typeface="Courier New" pitchFamily="49" charset="0"/>
                <a:cs typeface="Courier New" pitchFamily="49" charset="0"/>
              </a:rPr>
              <a:t>england</a:t>
            </a:r>
            <a:r>
              <a:rPr lang="en-GB" sz="2000" dirty="0">
                <a:latin typeface="Courier New" pitchFamily="49" charset="0"/>
                <a:cs typeface="Courier New" pitchFamily="49" charset="0"/>
              </a:rPr>
              <a:t>?”)</a:t>
            </a:r>
          </a:p>
          <a:p>
            <a:pPr marL="109728" indent="0">
              <a:buNone/>
            </a:pPr>
            <a:r>
              <a:rPr lang="en-GB" sz="2000" dirty="0">
                <a:latin typeface="Courier New" pitchFamily="49" charset="0"/>
                <a:cs typeface="Courier New" pitchFamily="49" charset="0"/>
              </a:rPr>
              <a:t>if </a:t>
            </a:r>
            <a:r>
              <a:rPr lang="en-GB" sz="2000" dirty="0" err="1">
                <a:latin typeface="Courier New" pitchFamily="49" charset="0"/>
                <a:cs typeface="Courier New" pitchFamily="49" charset="0"/>
              </a:rPr>
              <a:t>ans</a:t>
            </a:r>
            <a:r>
              <a:rPr lang="en-GB" sz="2000" dirty="0">
                <a:latin typeface="Courier New" pitchFamily="49" charset="0"/>
                <a:cs typeface="Courier New" pitchFamily="49" charset="0"/>
              </a:rPr>
              <a:t> ==“London” or </a:t>
            </a:r>
            <a:r>
              <a:rPr lang="en-GB" sz="2000" dirty="0" err="1">
                <a:latin typeface="Courier New" pitchFamily="49" charset="0"/>
                <a:cs typeface="Courier New" pitchFamily="49" charset="0"/>
              </a:rPr>
              <a:t>ans</a:t>
            </a:r>
            <a:r>
              <a:rPr lang="en-GB" sz="2000" dirty="0">
                <a:latin typeface="Courier New" pitchFamily="49" charset="0"/>
                <a:cs typeface="Courier New" pitchFamily="49" charset="0"/>
              </a:rPr>
              <a:t>==“</a:t>
            </a:r>
            <a:r>
              <a:rPr lang="en-GB" sz="2000" dirty="0" err="1">
                <a:latin typeface="Courier New" pitchFamily="49" charset="0"/>
                <a:cs typeface="Courier New" pitchFamily="49" charset="0"/>
              </a:rPr>
              <a:t>london</a:t>
            </a:r>
            <a:r>
              <a:rPr lang="en-GB" sz="2000" dirty="0">
                <a:latin typeface="Courier New" pitchFamily="49" charset="0"/>
                <a:cs typeface="Courier New" pitchFamily="49" charset="0"/>
              </a:rPr>
              <a:t>”:</a:t>
            </a:r>
          </a:p>
          <a:p>
            <a:pPr marL="109728" indent="0">
              <a:buNone/>
            </a:pPr>
            <a:r>
              <a:rPr lang="en-GB" sz="2000" dirty="0">
                <a:latin typeface="Courier New" pitchFamily="49" charset="0"/>
                <a:cs typeface="Courier New" pitchFamily="49" charset="0"/>
              </a:rPr>
              <a:t>	print(“well done”)</a:t>
            </a:r>
          </a:p>
          <a:p>
            <a:pPr marL="109728" indent="0">
              <a:buNone/>
            </a:pPr>
            <a:r>
              <a:rPr lang="en-GB" sz="2000" dirty="0" err="1">
                <a:latin typeface="Courier New" pitchFamily="49" charset="0"/>
                <a:cs typeface="Courier New" pitchFamily="49" charset="0"/>
              </a:rPr>
              <a:t>elif</a:t>
            </a:r>
            <a:r>
              <a:rPr lang="en-GB" sz="2000" dirty="0">
                <a:latin typeface="Courier New" pitchFamily="49" charset="0"/>
                <a:cs typeface="Courier New" pitchFamily="49" charset="0"/>
              </a:rPr>
              <a:t> </a:t>
            </a:r>
            <a:r>
              <a:rPr lang="en-GB" sz="2000" dirty="0" err="1">
                <a:latin typeface="Courier New" pitchFamily="49" charset="0"/>
                <a:cs typeface="Courier New" pitchFamily="49" charset="0"/>
              </a:rPr>
              <a:t>ans</a:t>
            </a:r>
            <a:r>
              <a:rPr lang="en-GB" sz="2000" dirty="0">
                <a:latin typeface="Courier New" pitchFamily="49" charset="0"/>
                <a:cs typeface="Courier New" pitchFamily="49" charset="0"/>
              </a:rPr>
              <a:t>== “L”:</a:t>
            </a:r>
          </a:p>
          <a:p>
            <a:pPr marL="109728" indent="0">
              <a:buNone/>
            </a:pPr>
            <a:r>
              <a:rPr lang="en-GB" sz="2000" dirty="0">
                <a:latin typeface="Courier New" pitchFamily="49" charset="0"/>
                <a:cs typeface="Courier New" pitchFamily="49" charset="0"/>
              </a:rPr>
              <a:t>	print(“aren’t you funny?!”)</a:t>
            </a:r>
          </a:p>
          <a:p>
            <a:pPr marL="109728" indent="0">
              <a:buNone/>
            </a:pPr>
            <a:r>
              <a:rPr lang="en-GB" sz="2000" dirty="0">
                <a:latin typeface="Courier New" pitchFamily="49" charset="0"/>
                <a:cs typeface="Courier New" pitchFamily="49" charset="0"/>
              </a:rPr>
              <a:t>else:</a:t>
            </a:r>
          </a:p>
          <a:p>
            <a:pPr marL="109728" indent="0">
              <a:buNone/>
            </a:pPr>
            <a:r>
              <a:rPr lang="en-GB" sz="2000" dirty="0">
                <a:latin typeface="Courier New" pitchFamily="49" charset="0"/>
                <a:cs typeface="Courier New" pitchFamily="49" charset="0"/>
              </a:rPr>
              <a:t>	print(”not quite”)</a:t>
            </a:r>
          </a:p>
          <a:p>
            <a:endParaRPr lang="en-GB" dirty="0"/>
          </a:p>
        </p:txBody>
      </p:sp>
    </p:spTree>
    <p:extLst>
      <p:ext uri="{BB962C8B-B14F-4D97-AF65-F5344CB8AC3E}">
        <p14:creationId xmlns:p14="http://schemas.microsoft.com/office/powerpoint/2010/main" val="3221804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1-3 tasks</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20730811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Tasks</a:t>
            </a:r>
          </a:p>
        </p:txBody>
      </p:sp>
      <p:sp>
        <p:nvSpPr>
          <p:cNvPr id="3" name="Content Placeholder 2"/>
          <p:cNvSpPr>
            <a:spLocks noGrp="1"/>
          </p:cNvSpPr>
          <p:nvPr>
            <p:ph idx="1"/>
          </p:nvPr>
        </p:nvSpPr>
        <p:spPr/>
        <p:txBody>
          <a:bodyPr/>
          <a:lstStyle/>
          <a:p>
            <a:r>
              <a:rPr lang="en-GB" b="1" u="sng" dirty="0"/>
              <a:t>Task 1:</a:t>
            </a:r>
            <a:endParaRPr lang="en-GB" dirty="0"/>
          </a:p>
          <a:p>
            <a:r>
              <a:rPr lang="en-GB" dirty="0"/>
              <a:t>Write a program to calculate car park charges. Up to 2 hours costs £3.50, up to 4 hours costs £5.00 and up to 12 hours costs £10.00. </a:t>
            </a:r>
          </a:p>
          <a:p>
            <a:r>
              <a:rPr lang="en-GB" dirty="0"/>
              <a:t>The driver enters the number of hours they require and the machine prints the current time, expiry time and charge. </a:t>
            </a:r>
          </a:p>
          <a:p>
            <a:r>
              <a:rPr lang="en-GB" dirty="0"/>
              <a:t>Example: </a:t>
            </a:r>
          </a:p>
          <a:p>
            <a:r>
              <a:rPr lang="en-GB" dirty="0"/>
              <a:t>Time now: Wed Mar 8 15:47:46 2018</a:t>
            </a:r>
          </a:p>
          <a:p>
            <a:r>
              <a:rPr lang="en-GB" dirty="0"/>
              <a:t>Expires: Wed Mar 8 03:37:47 2018</a:t>
            </a:r>
          </a:p>
          <a:p>
            <a:r>
              <a:rPr lang="en-GB" dirty="0"/>
              <a:t>Charge: £10.00</a:t>
            </a:r>
          </a:p>
          <a:p>
            <a:endParaRPr lang="en-GB" dirty="0"/>
          </a:p>
        </p:txBody>
      </p:sp>
      <p:sp>
        <p:nvSpPr>
          <p:cNvPr id="4" name="Rectangle 3">
            <a:extLst>
              <a:ext uri="{FF2B5EF4-FFF2-40B4-BE49-F238E27FC236}">
                <a16:creationId xmlns:a16="http://schemas.microsoft.com/office/drawing/2014/main" id="{6F687F54-1238-F9B9-AC24-FAD7B248F947}"/>
              </a:ext>
            </a:extLst>
          </p:cNvPr>
          <p:cNvSpPr/>
          <p:nvPr/>
        </p:nvSpPr>
        <p:spPr>
          <a:xfrm>
            <a:off x="5323114" y="91440"/>
            <a:ext cx="6640286" cy="1356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Test Data – </a:t>
            </a:r>
          </a:p>
          <a:p>
            <a:pPr algn="ctr"/>
            <a:r>
              <a:rPr lang="en-GB" sz="1600" dirty="0"/>
              <a:t>1 hour should cost £3.50 and should add an hour on to the current time</a:t>
            </a:r>
          </a:p>
          <a:p>
            <a:pPr algn="ctr"/>
            <a:r>
              <a:rPr lang="en-GB" sz="1600" dirty="0"/>
              <a:t>4 hours should cost £5.00 and should add 4 hours on to the current time</a:t>
            </a:r>
          </a:p>
          <a:p>
            <a:pPr algn="ctr"/>
            <a:r>
              <a:rPr lang="en-GB" sz="1600" dirty="0"/>
              <a:t>12 hours should cost £10.00 and add 12 hours onto the current time</a:t>
            </a:r>
          </a:p>
          <a:p>
            <a:pPr algn="ctr"/>
            <a:r>
              <a:rPr lang="en-GB" sz="1600" dirty="0"/>
              <a:t>14 hours should not be allowed and should produce an error message</a:t>
            </a:r>
          </a:p>
        </p:txBody>
      </p:sp>
    </p:spTree>
    <p:extLst>
      <p:ext uri="{BB962C8B-B14F-4D97-AF65-F5344CB8AC3E}">
        <p14:creationId xmlns:p14="http://schemas.microsoft.com/office/powerpoint/2010/main" val="20106623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answer:</a:t>
            </a:r>
          </a:p>
        </p:txBody>
      </p:sp>
      <p:pic>
        <p:nvPicPr>
          <p:cNvPr id="5" name="Picture 4">
            <a:extLst>
              <a:ext uri="{FF2B5EF4-FFF2-40B4-BE49-F238E27FC236}">
                <a16:creationId xmlns:a16="http://schemas.microsoft.com/office/drawing/2014/main" id="{2990CA7D-6944-4E66-30CC-BDCC99CEF143}"/>
              </a:ext>
            </a:extLst>
          </p:cNvPr>
          <p:cNvPicPr>
            <a:picLocks noChangeAspect="1"/>
          </p:cNvPicPr>
          <p:nvPr/>
        </p:nvPicPr>
        <p:blipFill>
          <a:blip r:embed="rId2"/>
          <a:stretch>
            <a:fillRect/>
          </a:stretch>
        </p:blipFill>
        <p:spPr>
          <a:xfrm>
            <a:off x="1024128" y="1814969"/>
            <a:ext cx="7410274" cy="4761708"/>
          </a:xfrm>
          <a:prstGeom prst="rect">
            <a:avLst/>
          </a:prstGeom>
        </p:spPr>
      </p:pic>
    </p:spTree>
    <p:extLst>
      <p:ext uri="{BB962C8B-B14F-4D97-AF65-F5344CB8AC3E}">
        <p14:creationId xmlns:p14="http://schemas.microsoft.com/office/powerpoint/2010/main" val="10037774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Tasks</a:t>
            </a:r>
          </a:p>
        </p:txBody>
      </p:sp>
      <p:sp>
        <p:nvSpPr>
          <p:cNvPr id="3" name="Content Placeholder 2"/>
          <p:cNvSpPr>
            <a:spLocks noGrp="1"/>
          </p:cNvSpPr>
          <p:nvPr>
            <p:ph idx="1"/>
          </p:nvPr>
        </p:nvSpPr>
        <p:spPr/>
        <p:txBody>
          <a:bodyPr/>
          <a:lstStyle/>
          <a:p>
            <a:r>
              <a:rPr lang="en-GB" sz="3200" b="1" u="sng" dirty="0"/>
              <a:t>Task 2:</a:t>
            </a:r>
            <a:endParaRPr lang="en-GB" sz="3200" dirty="0"/>
          </a:p>
          <a:p>
            <a:r>
              <a:rPr lang="en-GB" sz="3200" dirty="0"/>
              <a:t>Create a Caesar cipher program using a tuple rather than using </a:t>
            </a:r>
            <a:r>
              <a:rPr lang="en-GB" sz="3200" dirty="0" err="1"/>
              <a:t>chr</a:t>
            </a:r>
            <a:r>
              <a:rPr lang="en-GB" sz="3200" dirty="0"/>
              <a:t>() or </a:t>
            </a:r>
            <a:r>
              <a:rPr lang="en-GB" sz="3200" dirty="0" err="1"/>
              <a:t>ord</a:t>
            </a:r>
            <a:r>
              <a:rPr lang="en-GB" sz="3200" dirty="0"/>
              <a:t>(). Make sure it loops correctly and that it can encrypt or decrypt messages. </a:t>
            </a:r>
          </a:p>
          <a:p>
            <a:r>
              <a:rPr lang="en-GB" sz="3200" dirty="0"/>
              <a:t>Extend this program by not providing the key and try to create a program that can decrypt a message without the key.</a:t>
            </a:r>
          </a:p>
          <a:p>
            <a:endParaRPr lang="en-GB" dirty="0"/>
          </a:p>
        </p:txBody>
      </p:sp>
      <p:sp>
        <p:nvSpPr>
          <p:cNvPr id="4" name="Rectangle 3">
            <a:extLst>
              <a:ext uri="{FF2B5EF4-FFF2-40B4-BE49-F238E27FC236}">
                <a16:creationId xmlns:a16="http://schemas.microsoft.com/office/drawing/2014/main" id="{612D625F-7422-DC07-DB9C-AB11CF36AE96}"/>
              </a:ext>
            </a:extLst>
          </p:cNvPr>
          <p:cNvSpPr/>
          <p:nvPr/>
        </p:nvSpPr>
        <p:spPr>
          <a:xfrm>
            <a:off x="5323114" y="91440"/>
            <a:ext cx="6640286" cy="1356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Test Data – </a:t>
            </a:r>
          </a:p>
          <a:p>
            <a:pPr algn="ctr"/>
            <a:r>
              <a:rPr lang="en-GB" sz="1600" dirty="0"/>
              <a:t>Encrypt: HELLO with a key of 1 should produce IFMMP</a:t>
            </a:r>
          </a:p>
          <a:p>
            <a:pPr algn="ctr"/>
            <a:r>
              <a:rPr lang="en-GB" sz="1600" dirty="0"/>
              <a:t>Encrypt: ZEBRA with a key of 2 should produce BGDTC</a:t>
            </a:r>
          </a:p>
          <a:p>
            <a:pPr algn="ctr"/>
            <a:r>
              <a:rPr lang="en-GB" sz="1600" dirty="0"/>
              <a:t>Decrypt: JUHDW with a key of 3 should produce GREAT</a:t>
            </a:r>
          </a:p>
          <a:p>
            <a:pPr algn="ctr"/>
            <a:r>
              <a:rPr lang="en-GB" sz="1600" dirty="0"/>
              <a:t>Decrypt: CIPPSA with a key of 4 should produce YELLOW</a:t>
            </a:r>
          </a:p>
        </p:txBody>
      </p:sp>
    </p:spTree>
    <p:extLst>
      <p:ext uri="{BB962C8B-B14F-4D97-AF65-F5344CB8AC3E}">
        <p14:creationId xmlns:p14="http://schemas.microsoft.com/office/powerpoint/2010/main" val="26732152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answer:</a:t>
            </a:r>
          </a:p>
        </p:txBody>
      </p:sp>
      <p:pic>
        <p:nvPicPr>
          <p:cNvPr id="6" name="Picture 5">
            <a:extLst>
              <a:ext uri="{FF2B5EF4-FFF2-40B4-BE49-F238E27FC236}">
                <a16:creationId xmlns:a16="http://schemas.microsoft.com/office/drawing/2014/main" id="{8C87DAE5-0D13-966A-184E-614D79473F66}"/>
              </a:ext>
            </a:extLst>
          </p:cNvPr>
          <p:cNvPicPr>
            <a:picLocks noChangeAspect="1"/>
          </p:cNvPicPr>
          <p:nvPr/>
        </p:nvPicPr>
        <p:blipFill>
          <a:blip r:embed="rId2"/>
          <a:stretch>
            <a:fillRect/>
          </a:stretch>
        </p:blipFill>
        <p:spPr>
          <a:xfrm>
            <a:off x="5545363" y="261495"/>
            <a:ext cx="6401693" cy="6335009"/>
          </a:xfrm>
          <a:prstGeom prst="rect">
            <a:avLst/>
          </a:prstGeom>
        </p:spPr>
      </p:pic>
    </p:spTree>
    <p:extLst>
      <p:ext uri="{BB962C8B-B14F-4D97-AF65-F5344CB8AC3E}">
        <p14:creationId xmlns:p14="http://schemas.microsoft.com/office/powerpoint/2010/main" val="32090128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Tasks</a:t>
            </a:r>
          </a:p>
        </p:txBody>
      </p:sp>
      <p:sp>
        <p:nvSpPr>
          <p:cNvPr id="3" name="Content Placeholder 2"/>
          <p:cNvSpPr>
            <a:spLocks noGrp="1"/>
          </p:cNvSpPr>
          <p:nvPr>
            <p:ph idx="1"/>
          </p:nvPr>
        </p:nvSpPr>
        <p:spPr/>
        <p:txBody>
          <a:bodyPr>
            <a:normAutofit fontScale="77500" lnSpcReduction="20000"/>
          </a:bodyPr>
          <a:lstStyle/>
          <a:p>
            <a:r>
              <a:rPr lang="en-GB" b="1" u="sng" dirty="0"/>
              <a:t>Task 3: </a:t>
            </a:r>
          </a:p>
          <a:p>
            <a:r>
              <a:rPr lang="en-GB" dirty="0"/>
              <a:t>Write a high scores program using a 2d array with these values: </a:t>
            </a:r>
          </a:p>
          <a:p>
            <a:endParaRPr lang="en-GB" dirty="0"/>
          </a:p>
          <a:p>
            <a:endParaRPr lang="en-GB" dirty="0"/>
          </a:p>
          <a:p>
            <a:endParaRPr lang="en-GB" dirty="0"/>
          </a:p>
          <a:p>
            <a:endParaRPr lang="en-GB" dirty="0"/>
          </a:p>
          <a:p>
            <a:r>
              <a:rPr lang="en-GB" dirty="0"/>
              <a:t>Ask a user to enter their ID, Check if the </a:t>
            </a:r>
            <a:r>
              <a:rPr lang="en-GB" dirty="0" err="1"/>
              <a:t>userID</a:t>
            </a:r>
            <a:r>
              <a:rPr lang="en-GB" dirty="0"/>
              <a:t> exists in the list – if it is not found then it should append a new row containing the user ID and a score of 0. </a:t>
            </a:r>
          </a:p>
          <a:p>
            <a:r>
              <a:rPr lang="en-US" b="1" dirty="0"/>
              <a:t>Test this program: </a:t>
            </a:r>
            <a:r>
              <a:rPr lang="en-US" sz="1800" b="0" i="0" dirty="0">
                <a:effectLst/>
                <a:highlight>
                  <a:srgbClr val="FFFFFF"/>
                </a:highlight>
                <a:latin typeface="Calibri" panose="020F0502020204030204" pitchFamily="34" charset="0"/>
              </a:rPr>
              <a:t> </a:t>
            </a:r>
          </a:p>
          <a:p>
            <a:r>
              <a:rPr lang="en-GB" dirty="0"/>
              <a:t>Generate a random number between 50 and 200 to demonstrate a “new score” run through each person in the list and if this new score is greater than their previous score, update it. </a:t>
            </a:r>
          </a:p>
          <a:p>
            <a:r>
              <a:rPr lang="en-GB" dirty="0"/>
              <a:t>Ensure you do this for every record in the list.</a:t>
            </a:r>
          </a:p>
          <a:p>
            <a:endParaRPr lang="en-GB" dirty="0"/>
          </a:p>
        </p:txBody>
      </p:sp>
      <p:graphicFrame>
        <p:nvGraphicFramePr>
          <p:cNvPr id="6" name="Table 5"/>
          <p:cNvGraphicFramePr>
            <a:graphicFrameLocks noGrp="1"/>
          </p:cNvGraphicFramePr>
          <p:nvPr/>
        </p:nvGraphicFramePr>
        <p:xfrm>
          <a:off x="2865664" y="3143498"/>
          <a:ext cx="5725160" cy="847725"/>
        </p:xfrm>
        <a:graphic>
          <a:graphicData uri="http://schemas.openxmlformats.org/drawingml/2006/table">
            <a:tbl>
              <a:tblPr firstRow="1" firstCol="1" bandRow="1">
                <a:tableStyleId>{5C22544A-7EE6-4342-B048-85BDC9FD1C3A}</a:tableStyleId>
              </a:tblPr>
              <a:tblGrid>
                <a:gridCol w="2862580">
                  <a:extLst>
                    <a:ext uri="{9D8B030D-6E8A-4147-A177-3AD203B41FA5}">
                      <a16:colId xmlns:a16="http://schemas.microsoft.com/office/drawing/2014/main" val="2790281496"/>
                    </a:ext>
                  </a:extLst>
                </a:gridCol>
                <a:gridCol w="2862580">
                  <a:extLst>
                    <a:ext uri="{9D8B030D-6E8A-4147-A177-3AD203B41FA5}">
                      <a16:colId xmlns:a16="http://schemas.microsoft.com/office/drawing/2014/main" val="2906519452"/>
                    </a:ext>
                  </a:extLst>
                </a:gridCol>
              </a:tblGrid>
              <a:tr h="0">
                <a:tc>
                  <a:txBody>
                    <a:bodyPr/>
                    <a:lstStyle/>
                    <a:p>
                      <a:pPr>
                        <a:lnSpc>
                          <a:spcPct val="107000"/>
                        </a:lnSpc>
                        <a:spcAft>
                          <a:spcPts val="0"/>
                        </a:spcAft>
                      </a:pPr>
                      <a:r>
                        <a:rPr lang="en-GB" sz="1100">
                          <a:effectLst/>
                        </a:rPr>
                        <a:t>userID</a:t>
                      </a:r>
                      <a:endParaRPr lang="en-GB"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topScore</a:t>
                      </a:r>
                      <a:endParaRPr lang="en-GB"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970996"/>
                  </a:ext>
                </a:extLst>
              </a:tr>
              <a:tr h="0">
                <a:tc>
                  <a:txBody>
                    <a:bodyPr/>
                    <a:lstStyle/>
                    <a:p>
                      <a:pPr>
                        <a:lnSpc>
                          <a:spcPct val="107000"/>
                        </a:lnSpc>
                        <a:spcAft>
                          <a:spcPts val="0"/>
                        </a:spcAft>
                      </a:pPr>
                      <a:r>
                        <a:rPr lang="en-GB" sz="1100">
                          <a:effectLst/>
                        </a:rPr>
                        <a:t>AAA01</a:t>
                      </a:r>
                      <a:endParaRPr lang="en-GB"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135</a:t>
                      </a:r>
                      <a:endParaRPr lang="en-GB"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50920889"/>
                  </a:ext>
                </a:extLst>
              </a:tr>
              <a:tr h="0">
                <a:tc>
                  <a:txBody>
                    <a:bodyPr/>
                    <a:lstStyle/>
                    <a:p>
                      <a:pPr>
                        <a:lnSpc>
                          <a:spcPct val="107000"/>
                        </a:lnSpc>
                        <a:spcAft>
                          <a:spcPts val="0"/>
                        </a:spcAft>
                      </a:pPr>
                      <a:r>
                        <a:rPr lang="en-GB" sz="1100">
                          <a:effectLst/>
                        </a:rPr>
                        <a:t>BBB01</a:t>
                      </a:r>
                      <a:endParaRPr lang="en-GB"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87</a:t>
                      </a:r>
                      <a:endParaRPr lang="en-GB"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22571039"/>
                  </a:ext>
                </a:extLst>
              </a:tr>
              <a:tr h="0">
                <a:tc>
                  <a:txBody>
                    <a:bodyPr/>
                    <a:lstStyle/>
                    <a:p>
                      <a:pPr>
                        <a:lnSpc>
                          <a:spcPct val="107000"/>
                        </a:lnSpc>
                        <a:spcAft>
                          <a:spcPts val="0"/>
                        </a:spcAft>
                      </a:pPr>
                      <a:r>
                        <a:rPr lang="en-GB" sz="1100">
                          <a:effectLst/>
                        </a:rPr>
                        <a:t>CCC01</a:t>
                      </a:r>
                      <a:endParaRPr lang="en-GB"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a:effectLst/>
                        </a:rPr>
                        <a:t>188</a:t>
                      </a:r>
                      <a:endParaRPr lang="en-GB"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0782767"/>
                  </a:ext>
                </a:extLst>
              </a:tr>
              <a:tr h="0">
                <a:tc>
                  <a:txBody>
                    <a:bodyPr/>
                    <a:lstStyle/>
                    <a:p>
                      <a:pPr>
                        <a:lnSpc>
                          <a:spcPct val="107000"/>
                        </a:lnSpc>
                        <a:spcAft>
                          <a:spcPts val="0"/>
                        </a:spcAft>
                      </a:pPr>
                      <a:r>
                        <a:rPr lang="en-GB" sz="1100">
                          <a:effectLst/>
                        </a:rPr>
                        <a:t>DDD01</a:t>
                      </a:r>
                      <a:endParaRPr lang="en-GB" sz="110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GB" sz="1100" dirty="0">
                          <a:effectLst/>
                        </a:rPr>
                        <a:t>109</a:t>
                      </a:r>
                      <a:endParaRPr lang="en-GB" sz="11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07846473"/>
                  </a:ext>
                </a:extLst>
              </a:tr>
            </a:tbl>
          </a:graphicData>
        </a:graphic>
      </p:graphicFrame>
      <p:sp>
        <p:nvSpPr>
          <p:cNvPr id="4" name="Rectangle 3">
            <a:extLst>
              <a:ext uri="{FF2B5EF4-FFF2-40B4-BE49-F238E27FC236}">
                <a16:creationId xmlns:a16="http://schemas.microsoft.com/office/drawing/2014/main" id="{5E252295-3EAA-8C91-CA92-FA8A04CC0B15}"/>
              </a:ext>
            </a:extLst>
          </p:cNvPr>
          <p:cNvSpPr/>
          <p:nvPr/>
        </p:nvSpPr>
        <p:spPr>
          <a:xfrm>
            <a:off x="5323114" y="91440"/>
            <a:ext cx="6640286" cy="17373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Test Data – </a:t>
            </a:r>
          </a:p>
          <a:p>
            <a:pPr algn="ctr"/>
            <a:r>
              <a:rPr lang="en-GB" sz="1600" dirty="0"/>
              <a:t>AAA01 with score higher than 135 should update in the array</a:t>
            </a:r>
          </a:p>
          <a:p>
            <a:pPr algn="ctr"/>
            <a:r>
              <a:rPr lang="en-GB" sz="1600" dirty="0"/>
              <a:t>BBB01 with score lower than 87 should not update in the array</a:t>
            </a:r>
          </a:p>
          <a:p>
            <a:pPr algn="ctr"/>
            <a:r>
              <a:rPr lang="en-GB" sz="1600" dirty="0"/>
              <a:t>EEE01 with a random number should be appended to the array</a:t>
            </a:r>
          </a:p>
          <a:p>
            <a:pPr algn="ctr"/>
            <a:r>
              <a:rPr lang="en-GB" sz="1600" dirty="0"/>
              <a:t>Run through each value and produce a random number – if it is greater, it should update</a:t>
            </a:r>
          </a:p>
        </p:txBody>
      </p:sp>
    </p:spTree>
    <p:extLst>
      <p:ext uri="{BB962C8B-B14F-4D97-AF65-F5344CB8AC3E}">
        <p14:creationId xmlns:p14="http://schemas.microsoft.com/office/powerpoint/2010/main" val="7817739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Example answer:</a:t>
            </a:r>
          </a:p>
        </p:txBody>
      </p:sp>
      <p:pic>
        <p:nvPicPr>
          <p:cNvPr id="5" name="Picture 4">
            <a:extLst>
              <a:ext uri="{FF2B5EF4-FFF2-40B4-BE49-F238E27FC236}">
                <a16:creationId xmlns:a16="http://schemas.microsoft.com/office/drawing/2014/main" id="{99DC9654-7466-B7C6-3694-AA675C36B99A}"/>
              </a:ext>
            </a:extLst>
          </p:cNvPr>
          <p:cNvPicPr>
            <a:picLocks noChangeAspect="1"/>
          </p:cNvPicPr>
          <p:nvPr/>
        </p:nvPicPr>
        <p:blipFill>
          <a:blip r:embed="rId2"/>
          <a:stretch>
            <a:fillRect/>
          </a:stretch>
        </p:blipFill>
        <p:spPr>
          <a:xfrm>
            <a:off x="6096000" y="153881"/>
            <a:ext cx="5625498" cy="6550238"/>
          </a:xfrm>
          <a:prstGeom prst="rect">
            <a:avLst/>
          </a:prstGeom>
        </p:spPr>
      </p:pic>
    </p:spTree>
    <p:extLst>
      <p:ext uri="{BB962C8B-B14F-4D97-AF65-F5344CB8AC3E}">
        <p14:creationId xmlns:p14="http://schemas.microsoft.com/office/powerpoint/2010/main" val="9641449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Data Type programming challenges</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20649087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challenges</a:t>
            </a:r>
          </a:p>
        </p:txBody>
      </p:sp>
      <p:sp>
        <p:nvSpPr>
          <p:cNvPr id="3" name="Content Placeholder 2"/>
          <p:cNvSpPr>
            <a:spLocks noGrp="1"/>
          </p:cNvSpPr>
          <p:nvPr>
            <p:ph idx="1"/>
          </p:nvPr>
        </p:nvSpPr>
        <p:spPr/>
        <p:txBody>
          <a:bodyPr>
            <a:normAutofit fontScale="47500" lnSpcReduction="20000"/>
          </a:bodyPr>
          <a:lstStyle/>
          <a:p>
            <a:pPr marL="0" indent="0" fontAlgn="base">
              <a:lnSpc>
                <a:spcPct val="120000"/>
              </a:lnSpc>
              <a:spcBef>
                <a:spcPts val="0"/>
              </a:spcBef>
              <a:spcAft>
                <a:spcPts val="0"/>
              </a:spcAft>
            </a:pPr>
            <a:r>
              <a:rPr lang="en-US" sz="2300" i="1" u="sng" dirty="0"/>
              <a:t>Sing Along </a:t>
            </a:r>
            <a:r>
              <a:rPr lang="en-US" sz="2300" dirty="0"/>
              <a:t> </a:t>
            </a:r>
          </a:p>
          <a:p>
            <a:pPr marL="0" indent="0" fontAlgn="base">
              <a:lnSpc>
                <a:spcPct val="120000"/>
              </a:lnSpc>
              <a:spcBef>
                <a:spcPts val="0"/>
              </a:spcBef>
              <a:spcAft>
                <a:spcPts val="0"/>
              </a:spcAft>
            </a:pPr>
            <a:r>
              <a:rPr lang="en-US" sz="2300" dirty="0"/>
              <a:t>Create a program that prints the lyrics to the song ‘10 green bottles’ in as few lines of code as possible.  </a:t>
            </a:r>
          </a:p>
          <a:p>
            <a:pPr marL="0" indent="0" fontAlgn="base">
              <a:lnSpc>
                <a:spcPct val="120000"/>
              </a:lnSpc>
              <a:spcBef>
                <a:spcPts val="0"/>
              </a:spcBef>
              <a:spcAft>
                <a:spcPts val="0"/>
              </a:spcAft>
            </a:pPr>
            <a:r>
              <a:rPr lang="en-US" sz="2300" b="1" dirty="0"/>
              <a:t>Extension: </a:t>
            </a:r>
            <a:r>
              <a:rPr lang="en-US" sz="2300" dirty="0"/>
              <a:t> </a:t>
            </a:r>
          </a:p>
          <a:p>
            <a:pPr marL="0" indent="0" fontAlgn="base">
              <a:lnSpc>
                <a:spcPct val="120000"/>
              </a:lnSpc>
              <a:spcBef>
                <a:spcPts val="0"/>
              </a:spcBef>
              <a:spcAft>
                <a:spcPts val="0"/>
              </a:spcAft>
            </a:pPr>
            <a:r>
              <a:rPr lang="en-US" sz="2300" dirty="0"/>
              <a:t>1. Develop this program so that you can enter any starting number and it will count down from there  </a:t>
            </a:r>
          </a:p>
          <a:p>
            <a:pPr marL="0" indent="0" fontAlgn="base">
              <a:lnSpc>
                <a:spcPct val="120000"/>
              </a:lnSpc>
              <a:spcBef>
                <a:spcPts val="0"/>
              </a:spcBef>
              <a:spcAft>
                <a:spcPts val="0"/>
              </a:spcAft>
            </a:pPr>
            <a:r>
              <a:rPr lang="en-US" sz="2300" i="1" u="sng" dirty="0"/>
              <a:t>Speed Tracker </a:t>
            </a:r>
            <a:r>
              <a:rPr lang="en-US" sz="2300" dirty="0"/>
              <a:t> </a:t>
            </a:r>
          </a:p>
          <a:p>
            <a:pPr marL="0" indent="0" fontAlgn="base">
              <a:lnSpc>
                <a:spcPct val="120000"/>
              </a:lnSpc>
              <a:spcBef>
                <a:spcPts val="0"/>
              </a:spcBef>
              <a:spcAft>
                <a:spcPts val="0"/>
              </a:spcAft>
            </a:pPr>
            <a:r>
              <a:rPr lang="en-US" sz="2300" dirty="0"/>
              <a:t>Create a program that takes a time for a car going past a speed camera, the time going past the next one and the distance between them to calculate the average speed for the car in mph. The cameras are one mile apart.  </a:t>
            </a:r>
          </a:p>
          <a:p>
            <a:pPr marL="0" indent="0" fontAlgn="base">
              <a:lnSpc>
                <a:spcPct val="120000"/>
              </a:lnSpc>
              <a:spcBef>
                <a:spcPts val="0"/>
              </a:spcBef>
              <a:spcAft>
                <a:spcPts val="0"/>
              </a:spcAft>
            </a:pPr>
            <a:r>
              <a:rPr lang="en-US" sz="2300" b="1" dirty="0"/>
              <a:t>Try to add these: </a:t>
            </a:r>
            <a:r>
              <a:rPr lang="en-US" sz="2300" dirty="0"/>
              <a:t> </a:t>
            </a:r>
          </a:p>
          <a:p>
            <a:pPr marL="0" indent="0" fontAlgn="base">
              <a:lnSpc>
                <a:spcPct val="120000"/>
              </a:lnSpc>
              <a:spcBef>
                <a:spcPts val="0"/>
              </a:spcBef>
              <a:spcAft>
                <a:spcPts val="0"/>
              </a:spcAft>
            </a:pPr>
            <a:r>
              <a:rPr lang="en-US" sz="2300" dirty="0"/>
              <a:t>Speed cameras know the timings of each car going past, through number plate recognition. Valid number plates are two letters, two numbers and three letters afterwards, for example XX77 787. Produce a part of the program that checks whether a number plate matches the given pattern. Tell the user either way.  </a:t>
            </a:r>
          </a:p>
          <a:p>
            <a:pPr marL="0" indent="0" fontAlgn="base">
              <a:lnSpc>
                <a:spcPct val="120000"/>
              </a:lnSpc>
              <a:spcBef>
                <a:spcPts val="0"/>
              </a:spcBef>
              <a:spcAft>
                <a:spcPts val="0"/>
              </a:spcAft>
            </a:pPr>
            <a:r>
              <a:rPr lang="en-US" sz="2300" dirty="0"/>
              <a:t>Create a program for creating a file of details for vehicles exceeding the speed limit set for a section of road. You will need to create a suitable file with test data, including </a:t>
            </a:r>
            <a:r>
              <a:rPr lang="en-US" sz="2300" dirty="0" err="1"/>
              <a:t>randomised</a:t>
            </a:r>
            <a:r>
              <a:rPr lang="en-US" sz="2300" dirty="0"/>
              <a:t> number plates and times. You will then use the code you’ve already written to process this list to determine who is breaking the speed limit (70mph) and who has invalid number plates.  </a:t>
            </a:r>
          </a:p>
          <a:p>
            <a:pPr marL="0" indent="0" fontAlgn="base">
              <a:lnSpc>
                <a:spcPct val="120000"/>
              </a:lnSpc>
              <a:spcBef>
                <a:spcPts val="0"/>
              </a:spcBef>
              <a:spcAft>
                <a:spcPts val="0"/>
              </a:spcAft>
            </a:pPr>
            <a:r>
              <a:rPr lang="en-US" sz="2300" i="1" u="sng" dirty="0"/>
              <a:t>Thief! </a:t>
            </a:r>
            <a:r>
              <a:rPr lang="en-US" sz="2300" dirty="0"/>
              <a:t> </a:t>
            </a:r>
          </a:p>
          <a:p>
            <a:pPr marL="0" indent="0" fontAlgn="base">
              <a:lnSpc>
                <a:spcPct val="120000"/>
              </a:lnSpc>
              <a:spcBef>
                <a:spcPts val="0"/>
              </a:spcBef>
              <a:spcAft>
                <a:spcPts val="0"/>
              </a:spcAft>
            </a:pPr>
            <a:r>
              <a:rPr lang="en-US" sz="2300" dirty="0"/>
              <a:t>A thief has managed to find out the four digits for an online PIN code, but doesn’t know the correct sequence needed to hack into the account.  </a:t>
            </a:r>
          </a:p>
          <a:p>
            <a:pPr marL="0" indent="0" fontAlgn="base">
              <a:lnSpc>
                <a:spcPct val="120000"/>
              </a:lnSpc>
              <a:spcBef>
                <a:spcPts val="0"/>
              </a:spcBef>
              <a:spcAft>
                <a:spcPts val="0"/>
              </a:spcAft>
            </a:pPr>
            <a:r>
              <a:rPr lang="en-US" sz="2300" dirty="0"/>
              <a:t>Design and write a program that displays all the possible combinations for any four numerical digits entered by the user. The program should avoid displaying the same combination more than once. </a:t>
            </a:r>
          </a:p>
          <a:p>
            <a:pPr marL="0" indent="0" fontAlgn="base">
              <a:lnSpc>
                <a:spcPct val="120000"/>
              </a:lnSpc>
              <a:spcBef>
                <a:spcPts val="0"/>
              </a:spcBef>
              <a:spcAft>
                <a:spcPts val="0"/>
              </a:spcAft>
            </a:pPr>
            <a:r>
              <a:rPr lang="en-US" sz="2300" dirty="0"/>
              <a:t> </a:t>
            </a:r>
            <a:r>
              <a:rPr lang="en-US" sz="2300" i="1" u="sng" dirty="0"/>
              <a:t>Fruit Machine </a:t>
            </a:r>
            <a:r>
              <a:rPr lang="en-US" sz="2300" dirty="0"/>
              <a:t> </a:t>
            </a:r>
          </a:p>
          <a:p>
            <a:pPr marL="0" indent="0" fontAlgn="base">
              <a:lnSpc>
                <a:spcPct val="120000"/>
              </a:lnSpc>
              <a:spcBef>
                <a:spcPts val="0"/>
              </a:spcBef>
              <a:spcAft>
                <a:spcPts val="0"/>
              </a:spcAft>
            </a:pPr>
            <a:r>
              <a:rPr lang="en-US" sz="2300" dirty="0"/>
              <a:t>Write a program to simulate a Fruit Machine that displays three symbols at random from Cherry, Bell, Lemon, Orange, Star, Skull.  </a:t>
            </a:r>
          </a:p>
          <a:p>
            <a:pPr marL="0" indent="0" fontAlgn="base">
              <a:lnSpc>
                <a:spcPct val="120000"/>
              </a:lnSpc>
              <a:spcBef>
                <a:spcPts val="0"/>
              </a:spcBef>
              <a:spcAft>
                <a:spcPts val="0"/>
              </a:spcAft>
            </a:pPr>
            <a:r>
              <a:rPr lang="en-US" sz="2300" dirty="0"/>
              <a:t>The player starts with £1 credit, with each go costing 20p. If the Fruit Machine “rolls” two of the same symbol, the user wins 50p. The player wins £1 for three of the same and £5 for 3 Bells. The player loses £1 if two skulls are rolled and all of his/her money if three skulls are rolled. The player can choose to quit with the winnings after each roll or keep playing until there is no money left.  </a:t>
            </a:r>
          </a:p>
          <a:p>
            <a:endParaRPr lang="en-GB" dirty="0"/>
          </a:p>
        </p:txBody>
      </p:sp>
    </p:spTree>
    <p:extLst>
      <p:ext uri="{BB962C8B-B14F-4D97-AF65-F5344CB8AC3E}">
        <p14:creationId xmlns:p14="http://schemas.microsoft.com/office/powerpoint/2010/main" val="1124952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Additional information and help</a:t>
            </a:r>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361955337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 module</a:t>
            </a:r>
          </a:p>
        </p:txBody>
      </p:sp>
      <p:pic>
        <p:nvPicPr>
          <p:cNvPr id="4" name="Picture 3"/>
          <p:cNvPicPr>
            <a:picLocks noChangeAspect="1"/>
          </p:cNvPicPr>
          <p:nvPr/>
        </p:nvPicPr>
        <p:blipFill>
          <a:blip r:embed="rId2"/>
          <a:stretch>
            <a:fillRect/>
          </a:stretch>
        </p:blipFill>
        <p:spPr>
          <a:xfrm>
            <a:off x="1926185" y="2084832"/>
            <a:ext cx="8153237" cy="2153338"/>
          </a:xfrm>
          <a:prstGeom prst="rect">
            <a:avLst/>
          </a:prstGeom>
        </p:spPr>
      </p:pic>
      <p:pic>
        <p:nvPicPr>
          <p:cNvPr id="5" name="Picture 4"/>
          <p:cNvPicPr>
            <a:picLocks noChangeAspect="1"/>
          </p:cNvPicPr>
          <p:nvPr/>
        </p:nvPicPr>
        <p:blipFill>
          <a:blip r:embed="rId3"/>
          <a:stretch>
            <a:fillRect/>
          </a:stretch>
        </p:blipFill>
        <p:spPr>
          <a:xfrm>
            <a:off x="1926184" y="4479871"/>
            <a:ext cx="5325954" cy="2141363"/>
          </a:xfrm>
          <a:prstGeom prst="rect">
            <a:avLst/>
          </a:prstGeom>
        </p:spPr>
      </p:pic>
    </p:spTree>
    <p:extLst>
      <p:ext uri="{BB962C8B-B14F-4D97-AF65-F5344CB8AC3E}">
        <p14:creationId xmlns:p14="http://schemas.microsoft.com/office/powerpoint/2010/main" val="14174260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 module</a:t>
            </a:r>
          </a:p>
        </p:txBody>
      </p:sp>
      <p:pic>
        <p:nvPicPr>
          <p:cNvPr id="4" name="Picture 3"/>
          <p:cNvPicPr>
            <a:picLocks noChangeAspect="1"/>
          </p:cNvPicPr>
          <p:nvPr/>
        </p:nvPicPr>
        <p:blipFill>
          <a:blip r:embed="rId2"/>
          <a:stretch>
            <a:fillRect/>
          </a:stretch>
        </p:blipFill>
        <p:spPr>
          <a:xfrm>
            <a:off x="1680834" y="2232298"/>
            <a:ext cx="8794243" cy="1120502"/>
          </a:xfrm>
          <a:prstGeom prst="rect">
            <a:avLst/>
          </a:prstGeom>
        </p:spPr>
      </p:pic>
      <p:pic>
        <p:nvPicPr>
          <p:cNvPr id="5" name="Picture 4"/>
          <p:cNvPicPr>
            <a:picLocks noChangeAspect="1"/>
          </p:cNvPicPr>
          <p:nvPr/>
        </p:nvPicPr>
        <p:blipFill>
          <a:blip r:embed="rId3"/>
          <a:stretch>
            <a:fillRect/>
          </a:stretch>
        </p:blipFill>
        <p:spPr>
          <a:xfrm>
            <a:off x="2804511" y="3352800"/>
            <a:ext cx="6265224" cy="3312244"/>
          </a:xfrm>
          <a:prstGeom prst="rect">
            <a:avLst/>
          </a:prstGeom>
        </p:spPr>
      </p:pic>
    </p:spTree>
    <p:extLst>
      <p:ext uri="{BB962C8B-B14F-4D97-AF65-F5344CB8AC3E}">
        <p14:creationId xmlns:p14="http://schemas.microsoft.com/office/powerpoint/2010/main" val="275366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 module</a:t>
            </a:r>
          </a:p>
        </p:txBody>
      </p:sp>
      <p:pic>
        <p:nvPicPr>
          <p:cNvPr id="4" name="Picture 3"/>
          <p:cNvPicPr>
            <a:picLocks noChangeAspect="1"/>
          </p:cNvPicPr>
          <p:nvPr/>
        </p:nvPicPr>
        <p:blipFill>
          <a:blip r:embed="rId2"/>
          <a:stretch>
            <a:fillRect/>
          </a:stretch>
        </p:blipFill>
        <p:spPr>
          <a:xfrm>
            <a:off x="1660399" y="2319994"/>
            <a:ext cx="8660761" cy="1639565"/>
          </a:xfrm>
          <a:prstGeom prst="rect">
            <a:avLst/>
          </a:prstGeom>
        </p:spPr>
      </p:pic>
    </p:spTree>
    <p:extLst>
      <p:ext uri="{BB962C8B-B14F-4D97-AF65-F5344CB8AC3E}">
        <p14:creationId xmlns:p14="http://schemas.microsoft.com/office/powerpoint/2010/main" val="1350374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 module</a:t>
            </a:r>
          </a:p>
        </p:txBody>
      </p:sp>
      <p:pic>
        <p:nvPicPr>
          <p:cNvPr id="4" name="Picture 3"/>
          <p:cNvPicPr>
            <a:picLocks noChangeAspect="1"/>
          </p:cNvPicPr>
          <p:nvPr/>
        </p:nvPicPr>
        <p:blipFill>
          <a:blip r:embed="rId2"/>
          <a:stretch>
            <a:fillRect/>
          </a:stretch>
        </p:blipFill>
        <p:spPr>
          <a:xfrm>
            <a:off x="1737163" y="2365813"/>
            <a:ext cx="8828660" cy="2395373"/>
          </a:xfrm>
          <a:prstGeom prst="rect">
            <a:avLst/>
          </a:prstGeom>
        </p:spPr>
      </p:pic>
    </p:spTree>
    <p:extLst>
      <p:ext uri="{BB962C8B-B14F-4D97-AF65-F5344CB8AC3E}">
        <p14:creationId xmlns:p14="http://schemas.microsoft.com/office/powerpoint/2010/main" val="28664773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Links to further resources</a:t>
            </a:r>
          </a:p>
        </p:txBody>
      </p:sp>
      <p:sp>
        <p:nvSpPr>
          <p:cNvPr id="3" name="Content Placeholder 2"/>
          <p:cNvSpPr>
            <a:spLocks noGrp="1"/>
          </p:cNvSpPr>
          <p:nvPr>
            <p:ph idx="1"/>
          </p:nvPr>
        </p:nvSpPr>
        <p:spPr/>
        <p:txBody>
          <a:bodyPr/>
          <a:lstStyle/>
          <a:p>
            <a:r>
              <a:rPr lang="en-GB" dirty="0"/>
              <a:t>Useful links: </a:t>
            </a:r>
          </a:p>
          <a:p>
            <a:endParaRPr lang="en-GB" dirty="0"/>
          </a:p>
          <a:p>
            <a:r>
              <a:rPr lang="en-GB" dirty="0">
                <a:hlinkClick r:id="rId2"/>
              </a:rPr>
              <a:t>https://www.w3resource.com/python/python-data-type.php</a:t>
            </a:r>
            <a:endParaRPr lang="en-GB" dirty="0"/>
          </a:p>
        </p:txBody>
      </p:sp>
    </p:spTree>
    <p:extLst>
      <p:ext uri="{BB962C8B-B14F-4D97-AF65-F5344CB8AC3E}">
        <p14:creationId xmlns:p14="http://schemas.microsoft.com/office/powerpoint/2010/main" val="35581558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Red Violet">
      <a:dk1>
        <a:sysClr val="windowText" lastClr="000000"/>
      </a:dk1>
      <a:lt1>
        <a:sysClr val="window" lastClr="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603</TotalTime>
  <Words>2869</Words>
  <Application>Microsoft Office PowerPoint</Application>
  <PresentationFormat>Widescreen</PresentationFormat>
  <Paragraphs>516</Paragraphs>
  <Slides>68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68</vt:i4>
      </vt:variant>
    </vt:vector>
  </HeadingPairs>
  <TitlesOfParts>
    <vt:vector size="76" baseType="lpstr">
      <vt:lpstr>Arial</vt:lpstr>
      <vt:lpstr>Calibri</vt:lpstr>
      <vt:lpstr>Courier New</vt:lpstr>
      <vt:lpstr>Tw Cen MT</vt:lpstr>
      <vt:lpstr>Tw Cen MT Condensed</vt:lpstr>
      <vt:lpstr>Wingdings</vt:lpstr>
      <vt:lpstr>Wingdings 3</vt:lpstr>
      <vt:lpstr>Integral</vt:lpstr>
      <vt:lpstr>4.1.1.1 Data types</vt:lpstr>
      <vt:lpstr>Specification</vt:lpstr>
      <vt:lpstr>Learning objectives</vt:lpstr>
      <vt:lpstr>Do now: Data types</vt:lpstr>
      <vt:lpstr>Data types – your one note</vt:lpstr>
      <vt:lpstr>Integer</vt:lpstr>
      <vt:lpstr>Real/float</vt:lpstr>
      <vt:lpstr>Boolean</vt:lpstr>
      <vt:lpstr>character</vt:lpstr>
      <vt:lpstr>string</vt:lpstr>
      <vt:lpstr>Strings- print vs concatenate</vt:lpstr>
      <vt:lpstr>Strings – escape sequences</vt:lpstr>
      <vt:lpstr>Strings – escape sequences</vt:lpstr>
      <vt:lpstr>Data types - casting</vt:lpstr>
      <vt:lpstr>Date/time</vt:lpstr>
      <vt:lpstr>Date/time examples</vt:lpstr>
      <vt:lpstr>Data types – your one note</vt:lpstr>
      <vt:lpstr>Pointer/reference</vt:lpstr>
      <vt:lpstr>Records (or equivalent)</vt:lpstr>
      <vt:lpstr>Arrays (or equivalent)</vt:lpstr>
      <vt:lpstr>Tuple</vt:lpstr>
      <vt:lpstr>Tuples - unchangeable</vt:lpstr>
      <vt:lpstr>Part 2</vt:lpstr>
      <vt:lpstr>starter</vt:lpstr>
      <vt:lpstr>listS</vt:lpstr>
      <vt:lpstr>LIST OPERATIONS – PROGRAM THESE AND FIND OUT WHAT ALL OF THEM DO!</vt:lpstr>
      <vt:lpstr>LIST EXAMPLES</vt:lpstr>
      <vt:lpstr>LISts – concatenate and slicing</vt:lpstr>
      <vt:lpstr>2D arrays</vt:lpstr>
      <vt:lpstr>LISts – 2d and 3d lists</vt:lpstr>
      <vt:lpstr>Part 3</vt:lpstr>
      <vt:lpstr>starter</vt:lpstr>
      <vt:lpstr>starter</vt:lpstr>
      <vt:lpstr>starter</vt:lpstr>
      <vt:lpstr>starter</vt:lpstr>
      <vt:lpstr>starter</vt:lpstr>
      <vt:lpstr>starter</vt:lpstr>
      <vt:lpstr>starter</vt:lpstr>
      <vt:lpstr>starter</vt:lpstr>
      <vt:lpstr>Dictionary</vt:lpstr>
      <vt:lpstr>dictionary</vt:lpstr>
      <vt:lpstr>dictionary</vt:lpstr>
      <vt:lpstr>dictionary</vt:lpstr>
      <vt:lpstr>dictionary</vt:lpstr>
      <vt:lpstr>dictionary</vt:lpstr>
      <vt:lpstr>dictionary</vt:lpstr>
      <vt:lpstr>Data types – your one note</vt:lpstr>
      <vt:lpstr>Check your knowledge</vt:lpstr>
      <vt:lpstr>Check your knowledge</vt:lpstr>
      <vt:lpstr>Check your knowledge</vt:lpstr>
      <vt:lpstr>Check your knowledge</vt:lpstr>
      <vt:lpstr>Check your knowledge</vt:lpstr>
      <vt:lpstr>Check your knowledge</vt:lpstr>
      <vt:lpstr>1-3 tasks</vt:lpstr>
      <vt:lpstr>Tasks</vt:lpstr>
      <vt:lpstr>Example answer:</vt:lpstr>
      <vt:lpstr>Tasks</vt:lpstr>
      <vt:lpstr>Example answer:</vt:lpstr>
      <vt:lpstr>Tasks</vt:lpstr>
      <vt:lpstr>Example answer:</vt:lpstr>
      <vt:lpstr>Data Type programming challenges</vt:lpstr>
      <vt:lpstr>challenges</vt:lpstr>
      <vt:lpstr>Additional information and help</vt:lpstr>
      <vt:lpstr>Time module</vt:lpstr>
      <vt:lpstr>Time module</vt:lpstr>
      <vt:lpstr>Time module</vt:lpstr>
      <vt:lpstr>Time module</vt:lpstr>
      <vt:lpstr>Links to further resources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4.1.1.1 Data types</dc:title>
  <dc:creator>gibbo</dc:creator>
  <cp:lastModifiedBy>Leighton Marley</cp:lastModifiedBy>
  <cp:revision>60</cp:revision>
  <dcterms:created xsi:type="dcterms:W3CDTF">2020-05-20T09:42:34Z</dcterms:created>
  <dcterms:modified xsi:type="dcterms:W3CDTF">2025-09-09T13:48:26Z</dcterms:modified>
</cp:coreProperties>
</file>