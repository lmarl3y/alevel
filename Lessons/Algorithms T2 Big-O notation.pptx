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5"/>
  </p:notesMasterIdLst>
  <p:sldIdLst>
    <p:sldId id="260" r:id="rId2"/>
    <p:sldId id="261" r:id="rId3"/>
    <p:sldId id="262" r:id="rId4"/>
    <p:sldId id="265" r:id="rId5"/>
    <p:sldId id="263" r:id="rId6"/>
    <p:sldId id="284" r:id="rId7"/>
    <p:sldId id="266" r:id="rId8"/>
    <p:sldId id="267" r:id="rId9"/>
    <p:sldId id="285" r:id="rId10"/>
    <p:sldId id="268" r:id="rId11"/>
    <p:sldId id="269" r:id="rId12"/>
    <p:sldId id="270" r:id="rId13"/>
    <p:sldId id="271" r:id="rId14"/>
    <p:sldId id="272" r:id="rId15"/>
    <p:sldId id="273" r:id="rId16"/>
    <p:sldId id="274" r:id="rId17"/>
    <p:sldId id="276" r:id="rId18"/>
    <p:sldId id="277" r:id="rId19"/>
    <p:sldId id="275" r:id="rId20"/>
    <p:sldId id="278" r:id="rId21"/>
    <p:sldId id="279" r:id="rId22"/>
    <p:sldId id="280" r:id="rId23"/>
    <p:sldId id="281" r:id="rId24"/>
  </p:sldIdLst>
  <p:sldSz cx="9144000" cy="6858000" type="screen4x3"/>
  <p:notesSz cx="6858000" cy="9144000"/>
  <p:embeddedFontLst>
    <p:embeddedFont>
      <p:font typeface="Museo 100" panose="02000000000000000000" pitchFamily="2" charset="0"/>
      <p:regular r:id="rId26"/>
    </p:embeddedFont>
    <p:embeddedFont>
      <p:font typeface="Consolas" panose="020B0609020204030204" pitchFamily="49" charset="0"/>
      <p:regular r:id="rId27"/>
      <p:bold r:id="rId28"/>
      <p:italic r:id="rId29"/>
      <p:boldItalic r:id="rId30"/>
    </p:embeddedFont>
    <p:embeddedFont>
      <p:font typeface="Museo900-Regular" panose="02000000000000000000" pitchFamily="2" charset="0"/>
      <p:bold r:id="rId31"/>
    </p:embeddedFont>
    <p:embeddedFont>
      <p:font typeface="Calibri" panose="020F0502020204030204" pitchFamily="34" charset="0"/>
      <p:regular r:id="rId32"/>
      <p:bold r:id="rId33"/>
      <p:italic r:id="rId34"/>
      <p:boldItalic r:id="rId35"/>
    </p:embeddedFont>
    <p:embeddedFont>
      <p:font typeface="Museo 500" panose="02000000000000000000" pitchFamily="2" charset="0"/>
      <p:regular r:id="rId36"/>
    </p:embeddedFont>
    <p:embeddedFont>
      <p:font typeface="Museo 900" panose="02000000000000000000" pitchFamily="2" charset="0"/>
      <p:bold r:id="rId37"/>
    </p:embeddedFont>
    <p:embeddedFont>
      <p:font typeface="Museo 700" panose="02000000000000000000" pitchFamily="2" charset="0"/>
      <p:bold r:id="rId38"/>
    </p:embeddedFont>
    <p:embeddedFont>
      <p:font typeface="SimSun" panose="02010600030101010101" pitchFamily="2" charset="-122"/>
      <p:regular r:id="rId3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45">
          <p15:clr>
            <a:srgbClr val="A4A3A4"/>
          </p15:clr>
        </p15:guide>
        <p15:guide id="2" orient="horz" pos="3232">
          <p15:clr>
            <a:srgbClr val="A4A3A4"/>
          </p15:clr>
        </p15:guide>
        <p15:guide id="3" orient="horz" pos="1912">
          <p15:clr>
            <a:srgbClr val="A4A3A4"/>
          </p15:clr>
        </p15:guide>
        <p15:guide id="4" pos="5380">
          <p15:clr>
            <a:srgbClr val="A4A3A4"/>
          </p15:clr>
        </p15:guide>
        <p15:guide id="5" pos="2959">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hn Woollard" initials="" lastIdx="2" clrIdx="0"/>
  <p:cmAuthor id="1" name="CSelby" initials="CCS" lastIdx="6" clrIdx="1">
    <p:extLst>
      <p:ext uri="{19B8F6BF-5375-455C-9EA6-DF929625EA0E}">
        <p15:presenceInfo xmlns:p15="http://schemas.microsoft.com/office/powerpoint/2012/main" userId="CSelby"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6320"/>
    <a:srgbClr val="E329B2"/>
    <a:srgbClr val="2F586A"/>
    <a:srgbClr val="2B75A6"/>
    <a:srgbClr val="364656"/>
    <a:srgbClr val="274754"/>
    <a:srgbClr val="979A78"/>
    <a:srgbClr val="8D8959"/>
    <a:srgbClr val="50AAC1"/>
    <a:srgbClr val="D6832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0" autoAdjust="0"/>
    <p:restoredTop sz="88795" autoAdjust="0"/>
  </p:normalViewPr>
  <p:slideViewPr>
    <p:cSldViewPr snapToGrid="0" snapToObjects="1" showGuides="1">
      <p:cViewPr varScale="1">
        <p:scale>
          <a:sx n="70" d="100"/>
          <a:sy n="70" d="100"/>
        </p:scale>
        <p:origin x="72" y="210"/>
      </p:cViewPr>
      <p:guideLst>
        <p:guide orient="horz" pos="1245"/>
        <p:guide orient="horz" pos="3232"/>
        <p:guide orient="horz" pos="1912"/>
        <p:guide pos="5380"/>
        <p:guide pos="2959"/>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56C703-0827-4D98-8015-40DEE3C186A7}" type="datetimeFigureOut">
              <a:rPr lang="en-GB" smtClean="0"/>
              <a:t>29/11/2016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798D5B-57F4-4A7F-8DDC-A432FF1B0DAA}" type="slidenum">
              <a:rPr lang="en-GB" smtClean="0"/>
              <a:t>‹#›</a:t>
            </a:fld>
            <a:endParaRPr lang="en-GB"/>
          </a:p>
        </p:txBody>
      </p:sp>
    </p:spTree>
    <p:extLst>
      <p:ext uri="{BB962C8B-B14F-4D97-AF65-F5344CB8AC3E}">
        <p14:creationId xmlns:p14="http://schemas.microsoft.com/office/powerpoint/2010/main" val="804381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798D5B-57F4-4A7F-8DDC-A432FF1B0DAA}" type="slidenum">
              <a:rPr lang="en-GB" smtClean="0"/>
              <a:t>18</a:t>
            </a:fld>
            <a:endParaRPr lang="en-GB"/>
          </a:p>
        </p:txBody>
      </p:sp>
    </p:spTree>
    <p:extLst>
      <p:ext uri="{BB962C8B-B14F-4D97-AF65-F5344CB8AC3E}">
        <p14:creationId xmlns:p14="http://schemas.microsoft.com/office/powerpoint/2010/main" val="28798504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798D5B-57F4-4A7F-8DDC-A432FF1B0DAA}" type="slidenum">
              <a:rPr lang="en-GB" smtClean="0"/>
              <a:t>22</a:t>
            </a:fld>
            <a:endParaRPr lang="en-GB"/>
          </a:p>
        </p:txBody>
      </p:sp>
    </p:spTree>
    <p:extLst>
      <p:ext uri="{BB962C8B-B14F-4D97-AF65-F5344CB8AC3E}">
        <p14:creationId xmlns:p14="http://schemas.microsoft.com/office/powerpoint/2010/main" val="7139337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descr="Unit 8.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cxnSp>
        <p:nvCxnSpPr>
          <p:cNvPr id="14" name="Straight Connector 13"/>
          <p:cNvCxnSpPr/>
          <p:nvPr userDrawn="1"/>
        </p:nvCxnSpPr>
        <p:spPr>
          <a:xfrm>
            <a:off x="4559300" y="1905000"/>
            <a:ext cx="0" cy="2551766"/>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0" name="Text Placeholder 19"/>
          <p:cNvSpPr>
            <a:spLocks noGrp="1"/>
          </p:cNvSpPr>
          <p:nvPr>
            <p:ph type="body" sz="quarter" idx="10"/>
          </p:nvPr>
        </p:nvSpPr>
        <p:spPr>
          <a:xfrm>
            <a:off x="1803400" y="1841231"/>
            <a:ext cx="2527300" cy="2201863"/>
          </a:xfrm>
          <a:prstGeom prst="rect">
            <a:avLst/>
          </a:prstGeom>
        </p:spPr>
        <p:txBody>
          <a:bodyPr vert="horz" lIns="0"/>
          <a:lstStyle>
            <a:lvl1pPr marL="0" indent="0">
              <a:lnSpc>
                <a:spcPts val="4800"/>
              </a:lnSpc>
              <a:spcBef>
                <a:spcPts val="0"/>
              </a:spcBef>
              <a:buNone/>
              <a:defRPr sz="4500" b="1" kern="0" spc="-140">
                <a:solidFill>
                  <a:schemeClr val="bg1"/>
                </a:solidFill>
                <a:latin typeface="Arial"/>
                <a:cs typeface="Arial"/>
              </a:defRPr>
            </a:lvl1pPr>
            <a:lvl2pPr marL="0" indent="0">
              <a:lnSpc>
                <a:spcPts val="2500"/>
              </a:lnSpc>
              <a:spcBef>
                <a:spcPts val="0"/>
              </a:spcBef>
              <a:buNone/>
              <a:defRPr sz="2500" kern="0" spc="-140">
                <a:solidFill>
                  <a:schemeClr val="bg1"/>
                </a:solidFill>
                <a:latin typeface="Arial"/>
                <a:cs typeface="Arial"/>
              </a:defRPr>
            </a:lvl2pPr>
            <a:lvl3pPr marL="0" indent="0">
              <a:lnSpc>
                <a:spcPts val="4800"/>
              </a:lnSpc>
              <a:spcBef>
                <a:spcPts val="0"/>
              </a:spcBef>
              <a:buNone/>
              <a:defRPr sz="4500">
                <a:solidFill>
                  <a:schemeClr val="bg1"/>
                </a:solidFill>
                <a:latin typeface="Arial"/>
                <a:cs typeface="Arial"/>
              </a:defRPr>
            </a:lvl3pPr>
            <a:lvl4pPr marL="0" indent="0">
              <a:lnSpc>
                <a:spcPts val="2600"/>
              </a:lnSpc>
              <a:spcBef>
                <a:spcPts val="0"/>
              </a:spcBef>
              <a:buNone/>
              <a:defRPr sz="3000">
                <a:solidFill>
                  <a:srgbClr val="274754"/>
                </a:solidFill>
                <a:latin typeface="Arial"/>
                <a:cs typeface="Arial"/>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Text Placeholder 19"/>
          <p:cNvSpPr>
            <a:spLocks noGrp="1"/>
          </p:cNvSpPr>
          <p:nvPr>
            <p:ph type="body" sz="quarter" idx="11"/>
          </p:nvPr>
        </p:nvSpPr>
        <p:spPr>
          <a:xfrm>
            <a:off x="4800600" y="1841231"/>
            <a:ext cx="2768600" cy="2201863"/>
          </a:xfrm>
          <a:prstGeom prst="rect">
            <a:avLst/>
          </a:prstGeom>
        </p:spPr>
        <p:txBody>
          <a:bodyPr vert="horz" lIns="0"/>
          <a:lstStyle>
            <a:lvl1pPr marL="0" indent="0">
              <a:lnSpc>
                <a:spcPts val="2600"/>
              </a:lnSpc>
              <a:spcBef>
                <a:spcPts val="0"/>
              </a:spcBef>
              <a:buNone/>
              <a:defRPr sz="2600" b="1" kern="0" spc="-60">
                <a:solidFill>
                  <a:schemeClr val="bg1"/>
                </a:solidFill>
                <a:latin typeface="Arial"/>
                <a:cs typeface="Arial"/>
              </a:defRPr>
            </a:lvl1pPr>
            <a:lvl2pPr marL="0" indent="0">
              <a:lnSpc>
                <a:spcPts val="2000"/>
              </a:lnSpc>
              <a:spcBef>
                <a:spcPts val="500"/>
              </a:spcBef>
              <a:buNone/>
              <a:defRPr sz="1800">
                <a:solidFill>
                  <a:schemeClr val="bg1"/>
                </a:solidFill>
                <a:latin typeface="Arial"/>
                <a:cs typeface="Arial"/>
              </a:defRPr>
            </a:lvl2pPr>
            <a:lvl3pPr marL="0" indent="0">
              <a:buNone/>
              <a:defRPr sz="3000">
                <a:solidFill>
                  <a:srgbClr val="ECCC7B"/>
                </a:solidFill>
                <a:latin typeface="Arial"/>
                <a:cs typeface="Arial"/>
              </a:defRPr>
            </a:lvl3pPr>
            <a:lvl4pPr marL="1371600" indent="0">
              <a:buNone/>
              <a:defRPr/>
            </a:lvl4pPr>
            <a:lvl5pPr marL="1828800" indent="0">
              <a:buNone/>
              <a:defRPr/>
            </a:lvl5pPr>
          </a:lstStyle>
          <a:p>
            <a:pPr lvl="0"/>
            <a:r>
              <a:rPr lang="en-US"/>
              <a:t>Click to edit Master text styles</a:t>
            </a:r>
          </a:p>
          <a:p>
            <a:pPr lvl="1"/>
            <a:r>
              <a:rPr lang="en-US"/>
              <a:t>Second level</a:t>
            </a:r>
          </a:p>
        </p:txBody>
      </p:sp>
      <p:pic>
        <p:nvPicPr>
          <p:cNvPr id="8" name="Picture 7" descr="Logo.ai"/>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50685" y="4018819"/>
            <a:ext cx="2291515" cy="456997"/>
          </a:xfrm>
          <a:prstGeom prst="rect">
            <a:avLst/>
          </a:prstGeom>
        </p:spPr>
      </p:pic>
      <p:sp>
        <p:nvSpPr>
          <p:cNvPr id="10" name="Hexagon 9"/>
          <p:cNvSpPr/>
          <p:nvPr userDrawn="1"/>
        </p:nvSpPr>
        <p:spPr>
          <a:xfrm>
            <a:off x="1072794" y="4100382"/>
            <a:ext cx="1080000" cy="972000"/>
          </a:xfrm>
          <a:prstGeom prst="hexagon">
            <a:avLst/>
          </a:prstGeom>
          <a:noFill/>
          <a:ln w="114300">
            <a:solidFill>
              <a:srgbClr val="274754"/>
            </a:solidFill>
            <a:miter lim="800000"/>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4500" b="1" dirty="0">
                <a:solidFill>
                  <a:srgbClr val="274754"/>
                </a:solidFill>
                <a:latin typeface="Arial"/>
                <a:cs typeface="Arial"/>
              </a:rPr>
              <a:t>2</a:t>
            </a:r>
          </a:p>
        </p:txBody>
      </p:sp>
    </p:spTree>
    <p:extLst>
      <p:ext uri="{BB962C8B-B14F-4D97-AF65-F5344CB8AC3E}">
        <p14:creationId xmlns:p14="http://schemas.microsoft.com/office/powerpoint/2010/main" val="3886385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rgbClr val="274754"/>
        </a:solidFill>
        <a:effectLst/>
      </p:bgPr>
    </p:bg>
    <p:spTree>
      <p:nvGrpSpPr>
        <p:cNvPr id="1" name=""/>
        <p:cNvGrpSpPr/>
        <p:nvPr/>
      </p:nvGrpSpPr>
      <p:grpSpPr>
        <a:xfrm>
          <a:off x="0" y="0"/>
          <a:ext cx="0" cy="0"/>
          <a:chOff x="0" y="0"/>
          <a:chExt cx="0" cy="0"/>
        </a:xfrm>
      </p:grpSpPr>
      <p:cxnSp>
        <p:nvCxnSpPr>
          <p:cNvPr id="8" name="Straight Connector 7"/>
          <p:cNvCxnSpPr/>
          <p:nvPr userDrawn="1"/>
        </p:nvCxnSpPr>
        <p:spPr>
          <a:xfrm>
            <a:off x="584200" y="1702800"/>
            <a:ext cx="0" cy="3198384"/>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0"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a:t>Click to edit Master text styles</a:t>
            </a:r>
          </a:p>
        </p:txBody>
      </p:sp>
      <p:sp>
        <p:nvSpPr>
          <p:cNvPr id="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Tree>
    <p:extLst>
      <p:ext uri="{BB962C8B-B14F-4D97-AF65-F5344CB8AC3E}">
        <p14:creationId xmlns:p14="http://schemas.microsoft.com/office/powerpoint/2010/main" val="2265425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rgbClr val="364656"/>
        </a:solidFill>
        <a:effectLst/>
      </p:bgPr>
    </p:bg>
    <p:spTree>
      <p:nvGrpSpPr>
        <p:cNvPr id="1" name=""/>
        <p:cNvGrpSpPr/>
        <p:nvPr/>
      </p:nvGrpSpPr>
      <p:grpSpPr>
        <a:xfrm>
          <a:off x="0" y="0"/>
          <a:ext cx="0" cy="0"/>
          <a:chOff x="0" y="0"/>
          <a:chExt cx="0" cy="0"/>
        </a:xfrm>
      </p:grpSpPr>
      <p:cxnSp>
        <p:nvCxnSpPr>
          <p:cNvPr id="9" name="Straight Connector 8"/>
          <p:cNvCxnSpPr/>
          <p:nvPr userDrawn="1"/>
        </p:nvCxnSpPr>
        <p:spPr>
          <a:xfrm>
            <a:off x="584200" y="1702800"/>
            <a:ext cx="0" cy="17145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10"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a:t>Click to edit Master text styles</a:t>
            </a:r>
          </a:p>
        </p:txBody>
      </p:sp>
    </p:spTree>
    <p:extLst>
      <p:ext uri="{BB962C8B-B14F-4D97-AF65-F5344CB8AC3E}">
        <p14:creationId xmlns:p14="http://schemas.microsoft.com/office/powerpoint/2010/main" val="393927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1" name="Picture 20" descr="Unit 8.jpg"/>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9144000" cy="660400"/>
          </a:xfrm>
          <a:prstGeom prst="rect">
            <a:avLst/>
          </a:prstGeom>
        </p:spPr>
      </p:pic>
      <p:pic>
        <p:nvPicPr>
          <p:cNvPr id="6" name="Picture 5" descr="Untitled-1.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16500" y="901700"/>
            <a:ext cx="2979807" cy="3251200"/>
          </a:xfrm>
          <a:prstGeom prst="rect">
            <a:avLst/>
          </a:prstGeom>
        </p:spPr>
      </p:pic>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8"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956320"/>
                </a:solidFill>
                <a:latin typeface="Arial"/>
                <a:cs typeface="Arial"/>
              </a:defRPr>
            </a:lvl2pPr>
            <a:lvl3pPr marL="723900" indent="-279400">
              <a:lnSpc>
                <a:spcPct val="100000"/>
              </a:lnSpc>
              <a:buFont typeface="Arial"/>
              <a:buChar char="•"/>
              <a:defRPr lang="en-US" sz="2000" kern="1200" baseline="0" dirty="0" smtClean="0">
                <a:solidFill>
                  <a:srgbClr val="364656"/>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
        <p:nvSpPr>
          <p:cNvPr id="3" name="TextBox 2"/>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Big-O notation</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dirty="0">
                <a:solidFill>
                  <a:srgbClr val="FFFFFF"/>
                </a:solidFill>
                <a:latin typeface="Arial"/>
                <a:cs typeface="Arial"/>
              </a:rPr>
              <a:t>Unit 8 Algorithms</a:t>
            </a:r>
          </a:p>
        </p:txBody>
      </p:sp>
      <p:pic>
        <p:nvPicPr>
          <p:cNvPr id="22" name="Picture 21" descr="Logo Unit 8.ai"/>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3600" y="6339600"/>
            <a:ext cx="1476000" cy="294359"/>
          </a:xfrm>
          <a:prstGeom prst="rect">
            <a:avLst/>
          </a:prstGeom>
        </p:spPr>
      </p:pic>
    </p:spTree>
    <p:extLst>
      <p:ext uri="{BB962C8B-B14F-4D97-AF65-F5344CB8AC3E}">
        <p14:creationId xmlns:p14="http://schemas.microsoft.com/office/powerpoint/2010/main" val="2849720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23" name="Picture 22" descr="Logo Unit 8.ai"/>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93600" y="6339600"/>
            <a:ext cx="1476000" cy="294359"/>
          </a:xfrm>
          <a:prstGeom prst="rect">
            <a:avLst/>
          </a:prstGeom>
        </p:spPr>
      </p:pic>
      <p:pic>
        <p:nvPicPr>
          <p:cNvPr id="24" name="Picture 23" descr="Unit 8.jpg"/>
          <p:cNvPicPr>
            <a:picLocks noChangeAspect="1"/>
          </p:cNvPicPr>
          <p:nvPr userDrawn="1"/>
        </p:nvPicPr>
        <p:blipFill rotWithShape="1">
          <a:blip r:embed="rId3">
            <a:extLst>
              <a:ext uri="{28A0092B-C50C-407E-A947-70E740481C1C}">
                <a14:useLocalDpi xmlns:a14="http://schemas.microsoft.com/office/drawing/2010/main" val="0"/>
              </a:ext>
            </a:extLst>
          </a:blip>
          <a:srcRect/>
          <a:stretch/>
        </p:blipFill>
        <p:spPr>
          <a:xfrm>
            <a:off x="0" y="0"/>
            <a:ext cx="9144000" cy="660400"/>
          </a:xfrm>
          <a:prstGeom prst="rect">
            <a:avLst/>
          </a:prstGeom>
        </p:spPr>
      </p:pic>
      <p:sp>
        <p:nvSpPr>
          <p:cNvPr id="2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7"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956320"/>
                </a:solidFill>
                <a:latin typeface="Arial"/>
                <a:cs typeface="Arial"/>
              </a:defRPr>
            </a:lvl2pPr>
            <a:lvl3pPr marL="723900" indent="-279400">
              <a:lnSpc>
                <a:spcPct val="100000"/>
              </a:lnSpc>
              <a:buFont typeface="Arial"/>
              <a:buChar char="•"/>
              <a:defRPr lang="en-US" sz="2000" kern="1200" baseline="0" dirty="0" smtClean="0">
                <a:solidFill>
                  <a:srgbClr val="364656"/>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
        <p:nvSpPr>
          <p:cNvPr id="28" name="TextBox 27"/>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Big-O notation</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dirty="0">
                <a:solidFill>
                  <a:srgbClr val="FFFFFF"/>
                </a:solidFill>
                <a:latin typeface="Arial"/>
                <a:cs typeface="Arial"/>
              </a:rPr>
              <a:t>Unit 8 Algorithms</a:t>
            </a:r>
          </a:p>
          <a:p>
            <a:pPr>
              <a:spcBef>
                <a:spcPts val="288"/>
              </a:spcBef>
            </a:pPr>
            <a:endParaRPr lang="en-US" sz="1200" b="0" dirty="0">
              <a:solidFill>
                <a:srgbClr val="FFFFFF"/>
              </a:solidFill>
              <a:latin typeface="Arial"/>
              <a:cs typeface="Arial"/>
            </a:endParaRPr>
          </a:p>
        </p:txBody>
      </p:sp>
    </p:spTree>
    <p:extLst>
      <p:ext uri="{BB962C8B-B14F-4D97-AF65-F5344CB8AC3E}">
        <p14:creationId xmlns:p14="http://schemas.microsoft.com/office/powerpoint/2010/main" val="4180777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10" name="Picture 9" descr="Untitled-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16500" y="901700"/>
            <a:ext cx="2979807" cy="3251200"/>
          </a:xfrm>
          <a:prstGeom prst="rect">
            <a:avLst/>
          </a:prstGeom>
        </p:spPr>
      </p:pic>
      <p:pic>
        <p:nvPicPr>
          <p:cNvPr id="20" name="Picture 19" descr="Unit 8.jpg"/>
          <p:cNvPicPr>
            <a:picLocks noChangeAspect="1"/>
          </p:cNvPicPr>
          <p:nvPr userDrawn="1"/>
        </p:nvPicPr>
        <p:blipFill rotWithShape="1">
          <a:blip r:embed="rId3">
            <a:extLst>
              <a:ext uri="{28A0092B-C50C-407E-A947-70E740481C1C}">
                <a14:useLocalDpi xmlns:a14="http://schemas.microsoft.com/office/drawing/2010/main" val="0"/>
              </a:ext>
            </a:extLst>
          </a:blip>
          <a:srcRect/>
          <a:stretch/>
        </p:blipFill>
        <p:spPr>
          <a:xfrm>
            <a:off x="0" y="0"/>
            <a:ext cx="9144000" cy="660400"/>
          </a:xfrm>
          <a:prstGeom prst="rect">
            <a:avLst/>
          </a:prstGeom>
        </p:spPr>
      </p:pic>
      <p:sp>
        <p:nvSpPr>
          <p:cNvPr id="22"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3"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956320"/>
                </a:solidFill>
                <a:latin typeface="Arial"/>
                <a:cs typeface="Arial"/>
              </a:defRPr>
            </a:lvl2pPr>
            <a:lvl3pPr marL="723900" indent="-279400">
              <a:lnSpc>
                <a:spcPct val="100000"/>
              </a:lnSpc>
              <a:buFont typeface="Arial"/>
              <a:buChar char="•"/>
              <a:defRPr lang="en-US" sz="2000" kern="1200" baseline="0" dirty="0" smtClean="0">
                <a:solidFill>
                  <a:srgbClr val="364656"/>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
        <p:nvSpPr>
          <p:cNvPr id="24" name="TextBox 23"/>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Big-O notation</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dirty="0">
                <a:solidFill>
                  <a:srgbClr val="FFFFFF"/>
                </a:solidFill>
                <a:latin typeface="Arial"/>
                <a:cs typeface="Arial"/>
              </a:rPr>
              <a:t>Unit 8 Algorithms</a:t>
            </a:r>
          </a:p>
        </p:txBody>
      </p:sp>
    </p:spTree>
    <p:extLst>
      <p:ext uri="{BB962C8B-B14F-4D97-AF65-F5344CB8AC3E}">
        <p14:creationId xmlns:p14="http://schemas.microsoft.com/office/powerpoint/2010/main" val="2400860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pic>
        <p:nvPicPr>
          <p:cNvPr id="18" name="Picture 17" descr="Unit 8.jpg"/>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9144000" cy="660400"/>
          </a:xfrm>
          <a:prstGeom prst="rect">
            <a:avLst/>
          </a:prstGeom>
        </p:spPr>
      </p:pic>
      <p:sp>
        <p:nvSpPr>
          <p:cNvPr id="20"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1"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956320"/>
                </a:solidFill>
                <a:latin typeface="Arial"/>
                <a:cs typeface="Arial"/>
              </a:defRPr>
            </a:lvl2pPr>
            <a:lvl3pPr marL="723900" indent="-279400">
              <a:lnSpc>
                <a:spcPct val="100000"/>
              </a:lnSpc>
              <a:buFont typeface="Arial"/>
              <a:buChar char="•"/>
              <a:defRPr lang="en-US" sz="2000" kern="1200" baseline="0" dirty="0" smtClean="0">
                <a:solidFill>
                  <a:srgbClr val="364656"/>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
        <p:nvSpPr>
          <p:cNvPr id="22" name="TextBox 21"/>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Big-O notation</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dirty="0">
                <a:solidFill>
                  <a:srgbClr val="FFFFFF"/>
                </a:solidFill>
                <a:latin typeface="Arial"/>
                <a:cs typeface="Arial"/>
              </a:rPr>
              <a:t>Unit 8 Algorithms</a:t>
            </a:r>
          </a:p>
        </p:txBody>
      </p:sp>
    </p:spTree>
    <p:extLst>
      <p:ext uri="{BB962C8B-B14F-4D97-AF65-F5344CB8AC3E}">
        <p14:creationId xmlns:p14="http://schemas.microsoft.com/office/powerpoint/2010/main" val="3315833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4_Custom Layout">
    <p:bg>
      <p:bgPr>
        <a:solidFill>
          <a:schemeClr val="tx1"/>
        </a:solidFill>
        <a:effectLst/>
      </p:bgPr>
    </p:bg>
    <p:spTree>
      <p:nvGrpSpPr>
        <p:cNvPr id="1" name=""/>
        <p:cNvGrpSpPr/>
        <p:nvPr/>
      </p:nvGrpSpPr>
      <p:grpSpPr>
        <a:xfrm>
          <a:off x="0" y="0"/>
          <a:ext cx="0" cy="0"/>
          <a:chOff x="0" y="0"/>
          <a:chExt cx="0" cy="0"/>
        </a:xfrm>
      </p:grpSpPr>
      <p:pic>
        <p:nvPicPr>
          <p:cNvPr id="23" name="Picture 22" descr="Logo Unit 8.ai"/>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93600" y="6339600"/>
            <a:ext cx="1476000" cy="294359"/>
          </a:xfrm>
          <a:prstGeom prst="rect">
            <a:avLst/>
          </a:prstGeom>
        </p:spPr>
      </p:pic>
      <p:pic>
        <p:nvPicPr>
          <p:cNvPr id="24" name="Picture 23" descr="Unit 8.jpg"/>
          <p:cNvPicPr>
            <a:picLocks noChangeAspect="1"/>
          </p:cNvPicPr>
          <p:nvPr userDrawn="1"/>
        </p:nvPicPr>
        <p:blipFill rotWithShape="1">
          <a:blip r:embed="rId3">
            <a:extLst>
              <a:ext uri="{28A0092B-C50C-407E-A947-70E740481C1C}">
                <a14:useLocalDpi xmlns:a14="http://schemas.microsoft.com/office/drawing/2010/main" val="0"/>
              </a:ext>
            </a:extLst>
          </a:blip>
          <a:srcRect/>
          <a:stretch/>
        </p:blipFill>
        <p:spPr>
          <a:xfrm>
            <a:off x="0" y="0"/>
            <a:ext cx="9144000" cy="660400"/>
          </a:xfrm>
          <a:prstGeom prst="rect">
            <a:avLst/>
          </a:prstGeom>
        </p:spPr>
      </p:pic>
      <p:sp>
        <p:nvSpPr>
          <p:cNvPr id="28" name="TextBox 27"/>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Big-O notation</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dirty="0">
                <a:solidFill>
                  <a:srgbClr val="FFFFFF"/>
                </a:solidFill>
                <a:latin typeface="Arial"/>
                <a:cs typeface="Arial"/>
              </a:rPr>
              <a:t>Unit 8 Algorithms</a:t>
            </a:r>
          </a:p>
        </p:txBody>
      </p:sp>
      <p:sp>
        <p:nvSpPr>
          <p:cNvPr id="7" name="Rectangle 6"/>
          <p:cNvSpPr/>
          <p:nvPr userDrawn="1"/>
        </p:nvSpPr>
        <p:spPr>
          <a:xfrm>
            <a:off x="676274" y="1701461"/>
            <a:ext cx="7829551" cy="4555093"/>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Copyright</a:t>
            </a:r>
            <a:endParaRPr kumimoji="0" lang="en-GB" sz="12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 2016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contents of this unit are protected by copyright. </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unit and all the worksheets, PowerPoint presentations, teaching guides and other associated files distributed with it are supplied to you by PG Online Limited under licence and may be used and copied by you only in accordance with the terms of the licence. Except as expressly permitted by the licence, no part of the materials distributed with this unit may be used, reproduced, stored in a retrieval system, or transmitted, in any form or by any means, electronic or otherwise, without the prior written permission of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Licence agreement</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is a legal agreement between you, the end user, and PG Online Limited. This unit and all the worksheets, PowerPoint presentations, teaching guides and other associated files distributed with it is licensed, not sold, to you by PG Online Limited for use under the terms of the licence.</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materials distributed with this unit may be freely copied and used by members of a single institution on a single site only. You are not permitted to share in any way any of the materials or part of the materials with any third party, including users on another site or individuals who are members of a separate institution. You acknowledge that the materials must remain with you, the licencing institution, and no part of the materials may be transferred to another institution. You also agree not to procure, authorise, encourage, facilitate or enable any third party to reproduce these materials in whole or in part without the prior permission of PG Online Limited.</a:t>
            </a:r>
            <a:endParaRPr lang="en-GB" sz="1200" dirty="0">
              <a:solidFill>
                <a:schemeClr val="bg1"/>
              </a:solidFill>
            </a:endParaRPr>
          </a:p>
        </p:txBody>
      </p:sp>
    </p:spTree>
    <p:extLst>
      <p:ext uri="{BB962C8B-B14F-4D97-AF65-F5344CB8AC3E}">
        <p14:creationId xmlns:p14="http://schemas.microsoft.com/office/powerpoint/2010/main" val="291043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734550"/>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64" r:id="rId3"/>
    <p:sldLayoutId id="2147483652" r:id="rId4"/>
    <p:sldLayoutId id="2147483653" r:id="rId5"/>
    <p:sldLayoutId id="2147483655" r:id="rId6"/>
    <p:sldLayoutId id="2147483656" r:id="rId7"/>
    <p:sldLayoutId id="2147483665"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1803399" y="1841231"/>
            <a:ext cx="2750617" cy="2201863"/>
          </a:xfrm>
        </p:spPr>
        <p:txBody>
          <a:bodyPr/>
          <a:lstStyle/>
          <a:p>
            <a:r>
              <a:rPr lang="en-US" dirty="0">
                <a:latin typeface="Museo 700" panose="02000000000000000000" pitchFamily="50" charset="0"/>
              </a:rPr>
              <a:t>AQA</a:t>
            </a:r>
            <a:endParaRPr lang="en-US" b="0" dirty="0">
              <a:latin typeface="Museo900-Regular"/>
              <a:cs typeface="Museo900-Regular"/>
            </a:endParaRPr>
          </a:p>
          <a:p>
            <a:pPr lvl="2"/>
            <a:r>
              <a:rPr lang="en-US" dirty="0">
                <a:latin typeface="Museo 500" panose="02000000000000000000" pitchFamily="50" charset="0"/>
              </a:rPr>
              <a:t>A Level</a:t>
            </a:r>
          </a:p>
          <a:p>
            <a:pPr lvl="3"/>
            <a:r>
              <a:rPr lang="en-US" sz="2500" dirty="0">
                <a:solidFill>
                  <a:schemeClr val="bg1"/>
                </a:solidFill>
                <a:latin typeface="Museo 100" panose="02000000000000000000" pitchFamily="50" charset="0"/>
              </a:rPr>
              <a:t>Computer Science</a:t>
            </a:r>
          </a:p>
          <a:p>
            <a:pPr lvl="3">
              <a:lnSpc>
                <a:spcPts val="3000"/>
              </a:lnSpc>
            </a:pPr>
            <a:r>
              <a:rPr lang="en-US" sz="2500" dirty="0">
                <a:latin typeface="Museo 100" panose="02000000000000000000" pitchFamily="50" charset="0"/>
              </a:rPr>
              <a:t>Paper 1</a:t>
            </a:r>
          </a:p>
          <a:p>
            <a:pPr lvl="3">
              <a:lnSpc>
                <a:spcPts val="4000"/>
              </a:lnSpc>
            </a:pPr>
            <a:endParaRPr lang="en-US" sz="3200" dirty="0">
              <a:latin typeface="Museo 100" panose="02000000000000000000" pitchFamily="50" charset="0"/>
            </a:endParaRPr>
          </a:p>
        </p:txBody>
      </p:sp>
      <p:sp>
        <p:nvSpPr>
          <p:cNvPr id="6" name="Text Placeholder 5"/>
          <p:cNvSpPr>
            <a:spLocks noGrp="1"/>
          </p:cNvSpPr>
          <p:nvPr>
            <p:ph type="body" sz="quarter" idx="11"/>
          </p:nvPr>
        </p:nvSpPr>
        <p:spPr>
          <a:xfrm>
            <a:off x="4800600" y="1860085"/>
            <a:ext cx="2768600" cy="2201863"/>
          </a:xfrm>
        </p:spPr>
        <p:txBody>
          <a:bodyPr/>
          <a:lstStyle/>
          <a:p>
            <a:r>
              <a:rPr lang="en-US" dirty="0">
                <a:latin typeface="Museo 900" panose="02000000000000000000" pitchFamily="50" charset="0"/>
              </a:rPr>
              <a:t>Big-O notation</a:t>
            </a:r>
            <a:endParaRPr lang="en-US" dirty="0">
              <a:latin typeface="Museo 100" panose="02000000000000000000" pitchFamily="50" charset="0"/>
            </a:endParaRPr>
          </a:p>
          <a:p>
            <a:pPr lvl="1"/>
            <a:r>
              <a:rPr lang="en-US" sz="2000" dirty="0">
                <a:latin typeface="Museo 100" panose="02000000000000000000" pitchFamily="50" charset="0"/>
              </a:rPr>
              <a:t/>
            </a:r>
            <a:br>
              <a:rPr lang="en-US" sz="2000" dirty="0">
                <a:latin typeface="Museo 100" panose="02000000000000000000" pitchFamily="50" charset="0"/>
              </a:rPr>
            </a:br>
            <a:r>
              <a:rPr lang="en-US" sz="2000" dirty="0">
                <a:latin typeface="Museo 100" panose="02000000000000000000" pitchFamily="50" charset="0"/>
              </a:rPr>
              <a:t/>
            </a:r>
            <a:br>
              <a:rPr lang="en-US" sz="2000" dirty="0">
                <a:latin typeface="Museo 100" panose="02000000000000000000" pitchFamily="50" charset="0"/>
              </a:rPr>
            </a:br>
            <a:r>
              <a:rPr lang="en-US" sz="2000" dirty="0">
                <a:latin typeface="Museo 100" panose="02000000000000000000" pitchFamily="50" charset="0"/>
              </a:rPr>
              <a:t/>
            </a:r>
            <a:br>
              <a:rPr lang="en-US" sz="2000" dirty="0">
                <a:latin typeface="Museo 100" panose="02000000000000000000" pitchFamily="50" charset="0"/>
              </a:rPr>
            </a:br>
            <a:r>
              <a:rPr lang="en-US" sz="2000" dirty="0">
                <a:latin typeface="Museo 100" panose="02000000000000000000" pitchFamily="50" charset="0"/>
              </a:rPr>
              <a:t>Unit 8</a:t>
            </a:r>
          </a:p>
          <a:p>
            <a:pPr lvl="1"/>
            <a:r>
              <a:rPr lang="en-US" sz="2000" dirty="0">
                <a:latin typeface="Museo 100" panose="02000000000000000000" pitchFamily="50" charset="0"/>
              </a:rPr>
              <a:t>Algorithms</a:t>
            </a:r>
          </a:p>
        </p:txBody>
      </p:sp>
    </p:spTree>
    <p:extLst>
      <p:ext uri="{BB962C8B-B14F-4D97-AF65-F5344CB8AC3E}">
        <p14:creationId xmlns:p14="http://schemas.microsoft.com/office/powerpoint/2010/main" val="30973585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r>
              <a:rPr lang="en-GB" dirty="0">
                <a:solidFill>
                  <a:schemeClr val="bg1"/>
                </a:solidFill>
              </a:rPr>
              <a:t>Be familiar with the concept of a function as a mapping from one set of values to another</a:t>
            </a:r>
          </a:p>
          <a:p>
            <a:r>
              <a:rPr lang="en-GB" dirty="0">
                <a:solidFill>
                  <a:schemeClr val="bg1"/>
                </a:solidFill>
              </a:rPr>
              <a:t>Be familiar with the concept of constant, linear, polynomial, exponential and logarithmic functions</a:t>
            </a:r>
          </a:p>
          <a:p>
            <a:r>
              <a:rPr lang="en-GB" dirty="0">
                <a:solidFill>
                  <a:schemeClr val="bg1"/>
                </a:solidFill>
              </a:rPr>
              <a:t>Be familiar with the notion of permutation of a set of objects or values</a:t>
            </a:r>
          </a:p>
          <a:p>
            <a:r>
              <a:rPr lang="en-GB" dirty="0">
                <a:solidFill>
                  <a:schemeClr val="bg1"/>
                </a:solidFill>
              </a:rPr>
              <a:t>Be familiar with the Big-O notation to express time complexity</a:t>
            </a:r>
          </a:p>
          <a:p>
            <a:r>
              <a:rPr lang="en-GB" dirty="0">
                <a:solidFill>
                  <a:schemeClr val="bg1"/>
                </a:solidFill>
              </a:rPr>
              <a:t>Be able to derive the time complexity of an algorithm</a:t>
            </a:r>
          </a:p>
        </p:txBody>
      </p:sp>
      <p:sp>
        <p:nvSpPr>
          <p:cNvPr id="3" name="Text Placeholder 2"/>
          <p:cNvSpPr>
            <a:spLocks noGrp="1"/>
          </p:cNvSpPr>
          <p:nvPr>
            <p:ph type="body" sz="quarter" idx="13"/>
          </p:nvPr>
        </p:nvSpPr>
        <p:spPr/>
        <p:txBody>
          <a:bodyPr/>
          <a:lstStyle/>
          <a:p>
            <a:r>
              <a:rPr lang="en-GB" dirty="0"/>
              <a:t>Objectives</a:t>
            </a:r>
          </a:p>
        </p:txBody>
      </p:sp>
    </p:spTree>
    <p:extLst>
      <p:ext uri="{BB962C8B-B14F-4D97-AF65-F5344CB8AC3E}">
        <p14:creationId xmlns:p14="http://schemas.microsoft.com/office/powerpoint/2010/main" val="1132202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How efficient is an algorithm?</a:t>
            </a:r>
          </a:p>
        </p:txBody>
      </p:sp>
      <p:sp>
        <p:nvSpPr>
          <p:cNvPr id="5" name="Text Placeholder 4"/>
          <p:cNvSpPr>
            <a:spLocks noGrp="1"/>
          </p:cNvSpPr>
          <p:nvPr>
            <p:ph type="body" sz="quarter" idx="14"/>
          </p:nvPr>
        </p:nvSpPr>
        <p:spPr>
          <a:xfrm>
            <a:off x="724280" y="1704179"/>
            <a:ext cx="7797230" cy="4140030"/>
          </a:xfrm>
        </p:spPr>
        <p:txBody>
          <a:bodyPr/>
          <a:lstStyle/>
          <a:p>
            <a:r>
              <a:rPr lang="en-GB" dirty="0"/>
              <a:t>We can sum the numbers from 1 to 1000 using the following algorithm:</a:t>
            </a:r>
          </a:p>
          <a:p>
            <a:pPr marL="273050" indent="0">
              <a:spcAft>
                <a:spcPts val="300"/>
              </a:spcAft>
              <a:buNone/>
            </a:pPr>
            <a:r>
              <a:rPr lang="en-GB" sz="2000" dirty="0">
                <a:solidFill>
                  <a:srgbClr val="274754"/>
                </a:solidFill>
                <a:latin typeface="Consolas" panose="020B0609020204030204" pitchFamily="49" charset="0"/>
              </a:rPr>
              <a:t>	</a:t>
            </a:r>
            <a:r>
              <a:rPr lang="en-GB" sz="2000" dirty="0">
                <a:solidFill>
                  <a:srgbClr val="956320"/>
                </a:solidFill>
                <a:latin typeface="Consolas" panose="020B0609020204030204" pitchFamily="49" charset="0"/>
              </a:rPr>
              <a:t>sum = 0</a:t>
            </a:r>
          </a:p>
          <a:p>
            <a:pPr marL="273050" indent="0">
              <a:spcAft>
                <a:spcPts val="300"/>
              </a:spcAft>
              <a:buNone/>
            </a:pPr>
            <a:r>
              <a:rPr lang="en-GB" sz="2000" dirty="0">
                <a:solidFill>
                  <a:srgbClr val="956320"/>
                </a:solidFill>
                <a:latin typeface="Consolas" panose="020B0609020204030204" pitchFamily="49" charset="0"/>
              </a:rPr>
              <a:t>	FOR count = 1 TO 1000</a:t>
            </a:r>
          </a:p>
          <a:p>
            <a:pPr marL="273050" indent="0">
              <a:spcAft>
                <a:spcPts val="300"/>
              </a:spcAft>
              <a:buNone/>
            </a:pPr>
            <a:r>
              <a:rPr lang="en-GB" sz="2000" dirty="0">
                <a:solidFill>
                  <a:srgbClr val="956320"/>
                </a:solidFill>
                <a:latin typeface="Consolas" panose="020B0609020204030204" pitchFamily="49" charset="0"/>
              </a:rPr>
              <a:t>		sum = sum + count</a:t>
            </a:r>
          </a:p>
          <a:p>
            <a:pPr marL="273050" indent="0">
              <a:spcAft>
                <a:spcPts val="300"/>
              </a:spcAft>
              <a:buNone/>
            </a:pPr>
            <a:r>
              <a:rPr lang="en-GB" sz="2000" dirty="0">
                <a:solidFill>
                  <a:srgbClr val="956320"/>
                </a:solidFill>
                <a:latin typeface="Consolas" panose="020B0609020204030204" pitchFamily="49" charset="0"/>
              </a:rPr>
              <a:t>	ENDFOR</a:t>
            </a:r>
          </a:p>
          <a:p>
            <a:r>
              <a:rPr lang="en-GB" dirty="0"/>
              <a:t>Or, we can use a single statement to calculate the sum:</a:t>
            </a:r>
          </a:p>
          <a:p>
            <a:pPr marL="0" indent="0">
              <a:buNone/>
            </a:pPr>
            <a:r>
              <a:rPr lang="en-GB" sz="2000" dirty="0">
                <a:solidFill>
                  <a:srgbClr val="274754"/>
                </a:solidFill>
                <a:latin typeface="Consolas" panose="020B0609020204030204" pitchFamily="49" charset="0"/>
              </a:rPr>
              <a:t>	</a:t>
            </a:r>
            <a:r>
              <a:rPr lang="en-GB" sz="2000" dirty="0">
                <a:solidFill>
                  <a:srgbClr val="956320"/>
                </a:solidFill>
                <a:latin typeface="Consolas" panose="020B0609020204030204" pitchFamily="49" charset="0"/>
              </a:rPr>
              <a:t>sum = 1000 * (1000 + 1)/2</a:t>
            </a:r>
          </a:p>
          <a:p>
            <a:r>
              <a:rPr lang="en-GB" dirty="0"/>
              <a:t>Which is more efficient? Why?</a:t>
            </a:r>
          </a:p>
          <a:p>
            <a:pPr marL="0" indent="0">
              <a:buNone/>
            </a:pPr>
            <a:endParaRPr lang="en-GB" dirty="0"/>
          </a:p>
        </p:txBody>
      </p:sp>
    </p:spTree>
    <p:extLst>
      <p:ext uri="{BB962C8B-B14F-4D97-AF65-F5344CB8AC3E}">
        <p14:creationId xmlns:p14="http://schemas.microsoft.com/office/powerpoint/2010/main" val="9529271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A measure of efficiency</a:t>
            </a:r>
          </a:p>
        </p:txBody>
      </p:sp>
      <p:sp>
        <p:nvSpPr>
          <p:cNvPr id="5" name="Text Placeholder 4"/>
          <p:cNvSpPr>
            <a:spLocks noGrp="1"/>
          </p:cNvSpPr>
          <p:nvPr>
            <p:ph type="body" sz="quarter" idx="14"/>
          </p:nvPr>
        </p:nvSpPr>
        <p:spPr>
          <a:xfrm>
            <a:off x="724280" y="1704178"/>
            <a:ext cx="7797230" cy="4921909"/>
          </a:xfrm>
        </p:spPr>
        <p:txBody>
          <a:bodyPr/>
          <a:lstStyle/>
          <a:p>
            <a:pPr>
              <a:spcAft>
                <a:spcPts val="600"/>
              </a:spcAft>
            </a:pPr>
            <a:r>
              <a:rPr lang="en-GB" dirty="0"/>
              <a:t>The number of assignment statements to be executed in the first algorithm is 1001</a:t>
            </a:r>
          </a:p>
          <a:p>
            <a:pPr marL="273050" indent="0">
              <a:spcAft>
                <a:spcPts val="300"/>
              </a:spcAft>
              <a:buNone/>
            </a:pPr>
            <a:r>
              <a:rPr lang="en-GB" sz="2000" dirty="0">
                <a:solidFill>
                  <a:srgbClr val="956320"/>
                </a:solidFill>
                <a:latin typeface="Consolas" panose="020B0609020204030204" pitchFamily="49" charset="0"/>
              </a:rPr>
              <a:t>	sum = 0</a:t>
            </a:r>
          </a:p>
          <a:p>
            <a:pPr marL="273050" indent="0">
              <a:spcAft>
                <a:spcPts val="300"/>
              </a:spcAft>
              <a:buNone/>
            </a:pPr>
            <a:r>
              <a:rPr lang="en-GB" sz="2000" dirty="0">
                <a:solidFill>
                  <a:srgbClr val="956320"/>
                </a:solidFill>
                <a:latin typeface="Consolas" panose="020B0609020204030204" pitchFamily="49" charset="0"/>
              </a:rPr>
              <a:t>	FOR count = 1 TO 1000</a:t>
            </a:r>
          </a:p>
          <a:p>
            <a:pPr marL="273050" indent="0">
              <a:spcAft>
                <a:spcPts val="300"/>
              </a:spcAft>
              <a:buNone/>
            </a:pPr>
            <a:r>
              <a:rPr lang="en-GB" sz="2000" dirty="0">
                <a:solidFill>
                  <a:srgbClr val="956320"/>
                </a:solidFill>
                <a:latin typeface="Consolas" panose="020B0609020204030204" pitchFamily="49" charset="0"/>
              </a:rPr>
              <a:t>		sum = sum + count</a:t>
            </a:r>
          </a:p>
          <a:p>
            <a:pPr marL="273050" indent="0">
              <a:spcAft>
                <a:spcPts val="300"/>
              </a:spcAft>
              <a:buNone/>
            </a:pPr>
            <a:r>
              <a:rPr lang="en-GB" sz="2000" dirty="0">
                <a:solidFill>
                  <a:srgbClr val="956320"/>
                </a:solidFill>
                <a:latin typeface="Consolas" panose="020B0609020204030204" pitchFamily="49" charset="0"/>
              </a:rPr>
              <a:t>	ENDFOR</a:t>
            </a:r>
          </a:p>
          <a:p>
            <a:pPr>
              <a:spcAft>
                <a:spcPts val="600"/>
              </a:spcAft>
            </a:pPr>
            <a:r>
              <a:rPr lang="en-GB" dirty="0"/>
              <a:t>In the second algorithm, only two statements are executed:</a:t>
            </a:r>
          </a:p>
          <a:p>
            <a:pPr marL="0" indent="0">
              <a:spcAft>
                <a:spcPts val="300"/>
              </a:spcAft>
              <a:buNone/>
            </a:pPr>
            <a:r>
              <a:rPr lang="en-GB" sz="2000" dirty="0">
                <a:solidFill>
                  <a:srgbClr val="274754"/>
                </a:solidFill>
                <a:latin typeface="Consolas" panose="020B0609020204030204" pitchFamily="49" charset="0"/>
              </a:rPr>
              <a:t>	</a:t>
            </a:r>
            <a:r>
              <a:rPr lang="en-GB" sz="2000" dirty="0">
                <a:solidFill>
                  <a:srgbClr val="956320"/>
                </a:solidFill>
                <a:latin typeface="Consolas" panose="020B0609020204030204" pitchFamily="49" charset="0"/>
              </a:rPr>
              <a:t>n = 1000		</a:t>
            </a:r>
          </a:p>
          <a:p>
            <a:pPr marL="0" indent="0">
              <a:spcAft>
                <a:spcPts val="300"/>
              </a:spcAft>
              <a:buNone/>
            </a:pPr>
            <a:r>
              <a:rPr lang="en-GB" sz="2000" dirty="0">
                <a:solidFill>
                  <a:srgbClr val="956320"/>
                </a:solidFill>
                <a:latin typeface="Consolas" panose="020B0609020204030204" pitchFamily="49" charset="0"/>
              </a:rPr>
              <a:t>	sum = n * (n + 1)/2</a:t>
            </a:r>
          </a:p>
          <a:p>
            <a:r>
              <a:rPr lang="en-GB" dirty="0"/>
              <a:t>The number of assignment statements is a good basic measure of efficiency</a:t>
            </a:r>
          </a:p>
          <a:p>
            <a:pPr marL="0" indent="0">
              <a:buNone/>
            </a:pPr>
            <a:endParaRPr lang="en-GB" dirty="0"/>
          </a:p>
        </p:txBody>
      </p:sp>
    </p:spTree>
    <p:extLst>
      <p:ext uri="{BB962C8B-B14F-4D97-AF65-F5344CB8AC3E}">
        <p14:creationId xmlns:p14="http://schemas.microsoft.com/office/powerpoint/2010/main" val="14970870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Execution time vs problem size</a:t>
            </a:r>
          </a:p>
        </p:txBody>
      </p:sp>
      <p:sp>
        <p:nvSpPr>
          <p:cNvPr id="3" name="Text Placeholder 2"/>
          <p:cNvSpPr>
            <a:spLocks noGrp="1"/>
          </p:cNvSpPr>
          <p:nvPr>
            <p:ph type="body" sz="quarter" idx="14"/>
          </p:nvPr>
        </p:nvSpPr>
        <p:spPr>
          <a:xfrm>
            <a:off x="724280" y="1709935"/>
            <a:ext cx="7797230" cy="4214191"/>
          </a:xfrm>
        </p:spPr>
        <p:txBody>
          <a:bodyPr/>
          <a:lstStyle/>
          <a:p>
            <a:r>
              <a:rPr lang="en-GB" dirty="0"/>
              <a:t>For most problems, the larger the size of the problem or amount of data, the longer the execution time</a:t>
            </a:r>
          </a:p>
          <a:p>
            <a:r>
              <a:rPr lang="en-GB" dirty="0"/>
              <a:t>How many steps will it take to sum n </a:t>
            </a:r>
            <a:r>
              <a:rPr lang="en-GB" dirty="0" smtClean="0"/>
              <a:t>items?</a:t>
            </a:r>
            <a:endParaRPr lang="en-GB" dirty="0"/>
          </a:p>
          <a:p>
            <a:pPr marL="273050" indent="0">
              <a:spcAft>
                <a:spcPts val="300"/>
              </a:spcAft>
              <a:buNone/>
            </a:pPr>
            <a:r>
              <a:rPr lang="en-GB" sz="2000" dirty="0">
                <a:solidFill>
                  <a:srgbClr val="956320"/>
                </a:solidFill>
                <a:latin typeface="Consolas" panose="020B0609020204030204" pitchFamily="49" charset="0"/>
              </a:rPr>
              <a:t>	sum = 0</a:t>
            </a:r>
          </a:p>
          <a:p>
            <a:pPr marL="273050" indent="0">
              <a:spcAft>
                <a:spcPts val="300"/>
              </a:spcAft>
              <a:buNone/>
            </a:pPr>
            <a:r>
              <a:rPr lang="en-GB" sz="2000" dirty="0">
                <a:solidFill>
                  <a:srgbClr val="956320"/>
                </a:solidFill>
                <a:latin typeface="Consolas" panose="020B0609020204030204" pitchFamily="49" charset="0"/>
              </a:rPr>
              <a:t>	FOR count = 1 TO n</a:t>
            </a:r>
          </a:p>
          <a:p>
            <a:pPr marL="273050" indent="0">
              <a:spcAft>
                <a:spcPts val="300"/>
              </a:spcAft>
              <a:buNone/>
            </a:pPr>
            <a:r>
              <a:rPr lang="en-GB" sz="2000" dirty="0">
                <a:solidFill>
                  <a:srgbClr val="956320"/>
                </a:solidFill>
                <a:latin typeface="Consolas" panose="020B0609020204030204" pitchFamily="49" charset="0"/>
              </a:rPr>
              <a:t>		sum = sum + count</a:t>
            </a:r>
          </a:p>
          <a:p>
            <a:pPr marL="273050" indent="0">
              <a:spcAft>
                <a:spcPts val="300"/>
              </a:spcAft>
              <a:buNone/>
            </a:pPr>
            <a:r>
              <a:rPr lang="en-GB" sz="2000" dirty="0">
                <a:solidFill>
                  <a:srgbClr val="956320"/>
                </a:solidFill>
                <a:latin typeface="Consolas" panose="020B0609020204030204" pitchFamily="49" charset="0"/>
              </a:rPr>
              <a:t>	ENDFOR</a:t>
            </a:r>
          </a:p>
          <a:p>
            <a:pPr>
              <a:spcAft>
                <a:spcPts val="600"/>
              </a:spcAft>
            </a:pPr>
            <a:r>
              <a:rPr lang="en-GB" dirty="0"/>
              <a:t>How many statements in the second algorithm?</a:t>
            </a:r>
          </a:p>
          <a:p>
            <a:pPr marL="0" indent="0">
              <a:buNone/>
            </a:pPr>
            <a:r>
              <a:rPr lang="en-GB" sz="2000" dirty="0">
                <a:solidFill>
                  <a:srgbClr val="274754"/>
                </a:solidFill>
                <a:latin typeface="Consolas" panose="020B0609020204030204" pitchFamily="49" charset="0"/>
              </a:rPr>
              <a:t>	</a:t>
            </a:r>
            <a:r>
              <a:rPr lang="en-GB" sz="2000" dirty="0">
                <a:solidFill>
                  <a:srgbClr val="956320"/>
                </a:solidFill>
                <a:latin typeface="Consolas" panose="020B0609020204030204" pitchFamily="49" charset="0"/>
              </a:rPr>
              <a:t>sum = sum + n * (n + 1)/2</a:t>
            </a:r>
          </a:p>
          <a:p>
            <a:endParaRPr lang="en-GB" dirty="0"/>
          </a:p>
          <a:p>
            <a:endParaRPr lang="en-GB" dirty="0"/>
          </a:p>
        </p:txBody>
      </p:sp>
    </p:spTree>
    <p:extLst>
      <p:ext uri="{BB962C8B-B14F-4D97-AF65-F5344CB8AC3E}">
        <p14:creationId xmlns:p14="http://schemas.microsoft.com/office/powerpoint/2010/main" val="34979225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Mathematics revision</a:t>
            </a:r>
            <a:endParaRPr lang="en-GB" dirty="0"/>
          </a:p>
        </p:txBody>
      </p:sp>
      <p:sp>
        <p:nvSpPr>
          <p:cNvPr id="3" name="Text Placeholder 2"/>
          <p:cNvSpPr>
            <a:spLocks noGrp="1"/>
          </p:cNvSpPr>
          <p:nvPr>
            <p:ph type="body" sz="quarter" idx="14"/>
          </p:nvPr>
        </p:nvSpPr>
        <p:spPr/>
        <p:txBody>
          <a:bodyPr/>
          <a:lstStyle/>
          <a:p>
            <a:r>
              <a:rPr lang="en-GB" dirty="0" smtClean="0"/>
              <a:t>Recall from mathematics</a:t>
            </a:r>
          </a:p>
          <a:p>
            <a:pPr lvl="1"/>
            <a:r>
              <a:rPr lang="en-GB" dirty="0" smtClean="0"/>
              <a:t>A function is defined by an equation such as y = 3x + 2</a:t>
            </a:r>
          </a:p>
          <a:p>
            <a:pPr lvl="1"/>
            <a:r>
              <a:rPr lang="en-GB" dirty="0" smtClean="0"/>
              <a:t>A generalised form would be f(n) = 3n + 2</a:t>
            </a:r>
          </a:p>
        </p:txBody>
      </p:sp>
    </p:spTree>
    <p:extLst>
      <p:ext uri="{BB962C8B-B14F-4D97-AF65-F5344CB8AC3E}">
        <p14:creationId xmlns:p14="http://schemas.microsoft.com/office/powerpoint/2010/main" val="1626015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Linear </a:t>
            </a:r>
            <a:r>
              <a:rPr lang="en-GB" dirty="0"/>
              <a:t>functions</a:t>
            </a:r>
          </a:p>
        </p:txBody>
      </p:sp>
      <p:sp>
        <p:nvSpPr>
          <p:cNvPr id="3" name="Text Placeholder 2"/>
          <p:cNvSpPr>
            <a:spLocks noGrp="1"/>
          </p:cNvSpPr>
          <p:nvPr>
            <p:ph type="body" sz="quarter" idx="14"/>
          </p:nvPr>
        </p:nvSpPr>
        <p:spPr>
          <a:xfrm>
            <a:off x="724280" y="1704179"/>
            <a:ext cx="7797230" cy="4590604"/>
          </a:xfrm>
        </p:spPr>
        <p:txBody>
          <a:bodyPr/>
          <a:lstStyle/>
          <a:p>
            <a:r>
              <a:rPr lang="en-GB" dirty="0"/>
              <a:t>A linear function takes the form </a:t>
            </a:r>
            <a:r>
              <a:rPr lang="en-GB" dirty="0">
                <a:solidFill>
                  <a:srgbClr val="956320"/>
                </a:solidFill>
              </a:rPr>
              <a:t>f(n) = an + b </a:t>
            </a:r>
            <a:r>
              <a:rPr lang="en-GB" dirty="0"/>
              <a:t>where </a:t>
            </a:r>
            <a:r>
              <a:rPr lang="en-GB" dirty="0">
                <a:solidFill>
                  <a:srgbClr val="956320"/>
                </a:solidFill>
              </a:rPr>
              <a:t>a</a:t>
            </a:r>
            <a:r>
              <a:rPr lang="en-GB" dirty="0">
                <a:solidFill>
                  <a:srgbClr val="2F586A"/>
                </a:solidFill>
              </a:rPr>
              <a:t> </a:t>
            </a:r>
            <a:r>
              <a:rPr lang="en-GB" dirty="0"/>
              <a:t>and </a:t>
            </a:r>
            <a:r>
              <a:rPr lang="en-GB" dirty="0">
                <a:solidFill>
                  <a:srgbClr val="956320"/>
                </a:solidFill>
              </a:rPr>
              <a:t>b</a:t>
            </a:r>
            <a:r>
              <a:rPr lang="en-GB" dirty="0"/>
              <a:t> are constants</a:t>
            </a:r>
          </a:p>
          <a:p>
            <a:pPr lvl="1"/>
            <a:r>
              <a:rPr lang="en-GB" dirty="0">
                <a:solidFill>
                  <a:srgbClr val="956320"/>
                </a:solidFill>
              </a:rPr>
              <a:t>f(n) = 3n</a:t>
            </a:r>
            <a:r>
              <a:rPr lang="en-GB" dirty="0"/>
              <a:t>, </a:t>
            </a:r>
            <a:r>
              <a:rPr lang="en-GB" dirty="0">
                <a:solidFill>
                  <a:srgbClr val="956320"/>
                </a:solidFill>
              </a:rPr>
              <a:t>f(n) = n + 5</a:t>
            </a:r>
            <a:r>
              <a:rPr lang="en-GB" dirty="0"/>
              <a:t>, </a:t>
            </a:r>
            <a:r>
              <a:rPr lang="en-GB" dirty="0">
                <a:solidFill>
                  <a:srgbClr val="956320"/>
                </a:solidFill>
              </a:rPr>
              <a:t>f(n) = 6n + 1 </a:t>
            </a:r>
            <a:r>
              <a:rPr lang="en-GB" dirty="0"/>
              <a:t>are all examples of linear functions </a:t>
            </a:r>
          </a:p>
          <a:p>
            <a:pPr lvl="1"/>
            <a:r>
              <a:rPr lang="en-GB" dirty="0">
                <a:solidFill>
                  <a:srgbClr val="956320"/>
                </a:solidFill>
              </a:rPr>
              <a:t>f(1)</a:t>
            </a:r>
            <a:r>
              <a:rPr lang="en-GB" dirty="0"/>
              <a:t> is a constant function – no matter how large n gets, f(1) stays the same size. </a:t>
            </a:r>
            <a:r>
              <a:rPr lang="en-GB" dirty="0" smtClean="0"/>
              <a:t>f(3</a:t>
            </a:r>
            <a:r>
              <a:rPr lang="en-GB" dirty="0"/>
              <a:t>), f(100) are all constant </a:t>
            </a:r>
            <a:r>
              <a:rPr lang="en-GB" dirty="0" smtClean="0"/>
              <a:t>functions</a:t>
            </a:r>
          </a:p>
          <a:p>
            <a:pPr lvl="1"/>
            <a:r>
              <a:rPr lang="en-GB" dirty="0" smtClean="0"/>
              <a:t>The </a:t>
            </a:r>
            <a:r>
              <a:rPr lang="en-GB" dirty="0"/>
              <a:t>order of </a:t>
            </a:r>
            <a:r>
              <a:rPr lang="en-GB" dirty="0" smtClean="0"/>
              <a:t>magnitude for </a:t>
            </a:r>
            <a:r>
              <a:rPr lang="en-GB" dirty="0"/>
              <a:t>a </a:t>
            </a:r>
            <a:r>
              <a:rPr lang="en-GB" dirty="0" smtClean="0"/>
              <a:t>linear function </a:t>
            </a:r>
            <a:r>
              <a:rPr lang="en-GB" dirty="0"/>
              <a:t>is </a:t>
            </a:r>
            <a:r>
              <a:rPr lang="en-GB" dirty="0" smtClean="0"/>
              <a:t>written </a:t>
            </a:r>
            <a:r>
              <a:rPr lang="en-GB" dirty="0" smtClean="0">
                <a:solidFill>
                  <a:srgbClr val="956320"/>
                </a:solidFill>
              </a:rPr>
              <a:t>O(n</a:t>
            </a:r>
            <a:r>
              <a:rPr lang="en-GB" dirty="0" smtClean="0">
                <a:solidFill>
                  <a:srgbClr val="956320"/>
                </a:solidFill>
              </a:rPr>
              <a:t>)</a:t>
            </a:r>
            <a:br>
              <a:rPr lang="en-GB" dirty="0" smtClean="0">
                <a:solidFill>
                  <a:srgbClr val="956320"/>
                </a:solidFill>
              </a:rPr>
            </a:br>
            <a:r>
              <a:rPr lang="en-GB" dirty="0" smtClean="0">
                <a:solidFill>
                  <a:srgbClr val="956320"/>
                </a:solidFill>
              </a:rPr>
              <a:t>(note: O stands for “Order”)</a:t>
            </a:r>
            <a:endParaRPr lang="en-GB" dirty="0">
              <a:solidFill>
                <a:srgbClr val="956320"/>
              </a:solidFill>
            </a:endParaRPr>
          </a:p>
          <a:p>
            <a:endParaRPr lang="en-GB" dirty="0"/>
          </a:p>
        </p:txBody>
      </p:sp>
      <p:pic>
        <p:nvPicPr>
          <p:cNvPr id="1026" name="Picture 2" descr="C:\Users\Rob\AppData\Roaming\PixelMetrics\CaptureWiz\Temp\1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7437" y="4883253"/>
            <a:ext cx="4376835" cy="1273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37465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Quadratic functions</a:t>
            </a:r>
          </a:p>
        </p:txBody>
      </p:sp>
      <p:sp>
        <p:nvSpPr>
          <p:cNvPr id="3" name="Text Placeholder 2"/>
          <p:cNvSpPr>
            <a:spLocks noGrp="1"/>
          </p:cNvSpPr>
          <p:nvPr>
            <p:ph type="body" sz="quarter" idx="14"/>
          </p:nvPr>
        </p:nvSpPr>
        <p:spPr/>
        <p:txBody>
          <a:bodyPr/>
          <a:lstStyle/>
          <a:p>
            <a:r>
              <a:rPr lang="en-GB" dirty="0"/>
              <a:t>A quadratic function takes the form</a:t>
            </a:r>
          </a:p>
          <a:p>
            <a:pPr marL="0" indent="0" algn="ctr">
              <a:buNone/>
            </a:pPr>
            <a:r>
              <a:rPr lang="en-GB" dirty="0">
                <a:solidFill>
                  <a:srgbClr val="956320"/>
                </a:solidFill>
              </a:rPr>
              <a:t>f(n) = an</a:t>
            </a:r>
            <a:r>
              <a:rPr lang="en-GB" baseline="30000" dirty="0">
                <a:solidFill>
                  <a:srgbClr val="956320"/>
                </a:solidFill>
              </a:rPr>
              <a:t>2</a:t>
            </a:r>
            <a:r>
              <a:rPr lang="en-GB" dirty="0">
                <a:solidFill>
                  <a:srgbClr val="956320"/>
                </a:solidFill>
              </a:rPr>
              <a:t> +</a:t>
            </a:r>
            <a:r>
              <a:rPr lang="en-GB" dirty="0" err="1">
                <a:solidFill>
                  <a:srgbClr val="956320"/>
                </a:solidFill>
              </a:rPr>
              <a:t>bn</a:t>
            </a:r>
            <a:r>
              <a:rPr lang="en-GB" dirty="0">
                <a:solidFill>
                  <a:srgbClr val="956320"/>
                </a:solidFill>
              </a:rPr>
              <a:t> + c </a:t>
            </a:r>
            <a:r>
              <a:rPr lang="en-GB" dirty="0"/>
              <a:t>where a, b and c are constants</a:t>
            </a:r>
          </a:p>
          <a:p>
            <a:r>
              <a:rPr lang="en-GB" dirty="0"/>
              <a:t>As n becomes large, the n</a:t>
            </a:r>
            <a:r>
              <a:rPr lang="en-GB" baseline="30000" dirty="0"/>
              <a:t>2</a:t>
            </a:r>
            <a:r>
              <a:rPr lang="en-GB" dirty="0"/>
              <a:t> term increases very much faster than either of the other terms</a:t>
            </a:r>
          </a:p>
          <a:p>
            <a:r>
              <a:rPr lang="en-GB" dirty="0"/>
              <a:t>The order of magnitude of a quadratic function is written </a:t>
            </a:r>
            <a:r>
              <a:rPr lang="en-GB" dirty="0">
                <a:solidFill>
                  <a:srgbClr val="956320"/>
                </a:solidFill>
              </a:rPr>
              <a:t>O(n</a:t>
            </a:r>
            <a:r>
              <a:rPr lang="en-GB" baseline="30000" dirty="0">
                <a:solidFill>
                  <a:srgbClr val="956320"/>
                </a:solidFill>
              </a:rPr>
              <a:t>2</a:t>
            </a:r>
            <a:r>
              <a:rPr lang="en-GB" dirty="0" smtClean="0">
                <a:solidFill>
                  <a:srgbClr val="956320"/>
                </a:solidFill>
              </a:rPr>
              <a:t>)</a:t>
            </a:r>
            <a:r>
              <a:rPr lang="en-GB" dirty="0"/>
              <a:t> </a:t>
            </a:r>
            <a:endParaRPr lang="en-GB" dirty="0" smtClean="0"/>
          </a:p>
          <a:p>
            <a:r>
              <a:rPr lang="en-GB" dirty="0" smtClean="0"/>
              <a:t>The </a:t>
            </a:r>
            <a:r>
              <a:rPr lang="en-GB" dirty="0"/>
              <a:t>dominant term is the one used when comparing </a:t>
            </a:r>
            <a:r>
              <a:rPr lang="en-GB" dirty="0" smtClean="0"/>
              <a:t>algorithms, so the </a:t>
            </a:r>
            <a:r>
              <a:rPr lang="en-GB" dirty="0" err="1" smtClean="0">
                <a:solidFill>
                  <a:srgbClr val="956320"/>
                </a:solidFill>
              </a:rPr>
              <a:t>bn</a:t>
            </a:r>
            <a:r>
              <a:rPr lang="en-GB" dirty="0" smtClean="0">
                <a:solidFill>
                  <a:srgbClr val="956320"/>
                </a:solidFill>
              </a:rPr>
              <a:t> </a:t>
            </a:r>
            <a:r>
              <a:rPr lang="en-GB" dirty="0" smtClean="0"/>
              <a:t>and</a:t>
            </a:r>
            <a:r>
              <a:rPr lang="en-GB" dirty="0" smtClean="0">
                <a:solidFill>
                  <a:srgbClr val="956320"/>
                </a:solidFill>
              </a:rPr>
              <a:t> c</a:t>
            </a:r>
            <a:r>
              <a:rPr lang="en-GB" dirty="0" smtClean="0"/>
              <a:t> terms are </a:t>
            </a:r>
            <a:r>
              <a:rPr lang="en-GB" dirty="0" smtClean="0"/>
              <a:t>not considered</a:t>
            </a:r>
            <a:endParaRPr lang="en-GB" dirty="0"/>
          </a:p>
          <a:p>
            <a:endParaRPr lang="en-GB" dirty="0">
              <a:solidFill>
                <a:srgbClr val="956320"/>
              </a:solidFill>
            </a:endParaRPr>
          </a:p>
        </p:txBody>
      </p:sp>
    </p:spTree>
    <p:extLst>
      <p:ext uri="{BB962C8B-B14F-4D97-AF65-F5344CB8AC3E}">
        <p14:creationId xmlns:p14="http://schemas.microsoft.com/office/powerpoint/2010/main" val="30096917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Logarithmic functions</a:t>
            </a:r>
          </a:p>
        </p:txBody>
      </p:sp>
      <p:sp>
        <p:nvSpPr>
          <p:cNvPr id="3" name="Text Placeholder 2"/>
          <p:cNvSpPr>
            <a:spLocks noGrp="1"/>
          </p:cNvSpPr>
          <p:nvPr>
            <p:ph type="body" sz="quarter" idx="14"/>
          </p:nvPr>
        </p:nvSpPr>
        <p:spPr>
          <a:xfrm>
            <a:off x="724280" y="1704179"/>
            <a:ext cx="7797230" cy="4776134"/>
          </a:xfrm>
        </p:spPr>
        <p:txBody>
          <a:bodyPr/>
          <a:lstStyle/>
          <a:p>
            <a:r>
              <a:rPr lang="en-GB" dirty="0" smtClean="0"/>
              <a:t>A </a:t>
            </a:r>
            <a:r>
              <a:rPr lang="en-GB" dirty="0"/>
              <a:t>logarithmic function takes the form </a:t>
            </a:r>
            <a:r>
              <a:rPr lang="en-GB" dirty="0">
                <a:solidFill>
                  <a:srgbClr val="956320"/>
                </a:solidFill>
              </a:rPr>
              <a:t>f(n</a:t>
            </a:r>
            <a:r>
              <a:rPr lang="en-GB" dirty="0" smtClean="0">
                <a:solidFill>
                  <a:srgbClr val="956320"/>
                </a:solidFill>
              </a:rPr>
              <a:t>) = alog</a:t>
            </a:r>
            <a:r>
              <a:rPr lang="en-GB" baseline="-25000" dirty="0" smtClean="0">
                <a:solidFill>
                  <a:srgbClr val="956320"/>
                </a:solidFill>
              </a:rPr>
              <a:t>2</a:t>
            </a:r>
            <a:r>
              <a:rPr lang="en-GB" dirty="0" smtClean="0">
                <a:solidFill>
                  <a:srgbClr val="956320"/>
                </a:solidFill>
              </a:rPr>
              <a:t>n</a:t>
            </a:r>
            <a:endParaRPr lang="en-GB" dirty="0">
              <a:solidFill>
                <a:srgbClr val="956320"/>
              </a:solidFill>
            </a:endParaRPr>
          </a:p>
          <a:p>
            <a:pPr marL="444500" lvl="1" indent="0">
              <a:buNone/>
            </a:pPr>
            <a:r>
              <a:rPr lang="en-GB" dirty="0" smtClean="0"/>
              <a:t>“The logarithm of a number is the power to which the base must be raised to make it equal to the number”</a:t>
            </a:r>
          </a:p>
          <a:p>
            <a:r>
              <a:rPr lang="en-GB" dirty="0" smtClean="0"/>
              <a:t>8=2</a:t>
            </a:r>
            <a:r>
              <a:rPr lang="en-GB" baseline="30000" dirty="0" smtClean="0"/>
              <a:t>3</a:t>
            </a:r>
            <a:r>
              <a:rPr lang="en-GB" dirty="0" smtClean="0"/>
              <a:t> </a:t>
            </a:r>
            <a:r>
              <a:rPr lang="en-GB" dirty="0">
                <a:sym typeface="Wingdings" panose="05000000000000000000" pitchFamily="2" charset="2"/>
              </a:rPr>
              <a:t> </a:t>
            </a:r>
            <a:r>
              <a:rPr lang="en-GB" dirty="0" smtClean="0">
                <a:sym typeface="Wingdings" panose="05000000000000000000" pitchFamily="2" charset="2"/>
              </a:rPr>
              <a:t>log</a:t>
            </a:r>
            <a:r>
              <a:rPr lang="en-GB" baseline="-25000" dirty="0" smtClean="0">
                <a:sym typeface="Wingdings" panose="05000000000000000000" pitchFamily="2" charset="2"/>
              </a:rPr>
              <a:t>2</a:t>
            </a:r>
            <a:r>
              <a:rPr lang="en-GB" dirty="0" smtClean="0">
                <a:sym typeface="Wingdings" panose="05000000000000000000" pitchFamily="2" charset="2"/>
              </a:rPr>
              <a:t>8=3 </a:t>
            </a:r>
            <a:r>
              <a:rPr lang="en-GB" dirty="0">
                <a:sym typeface="Wingdings" panose="05000000000000000000" pitchFamily="2" charset="2"/>
              </a:rPr>
              <a:t>and 1024</a:t>
            </a:r>
            <a:r>
              <a:rPr lang="en-GB" dirty="0"/>
              <a:t>=2</a:t>
            </a:r>
            <a:r>
              <a:rPr lang="en-GB" baseline="30000" dirty="0"/>
              <a:t>10 </a:t>
            </a:r>
            <a:r>
              <a:rPr lang="en-GB" dirty="0">
                <a:sym typeface="Wingdings" panose="05000000000000000000" pitchFamily="2" charset="2"/>
              </a:rPr>
              <a:t> </a:t>
            </a:r>
            <a:r>
              <a:rPr lang="en-GB" dirty="0" smtClean="0">
                <a:sym typeface="Wingdings" panose="05000000000000000000" pitchFamily="2" charset="2"/>
              </a:rPr>
              <a:t>log</a:t>
            </a:r>
            <a:r>
              <a:rPr lang="en-GB" baseline="-25000" dirty="0" smtClean="0">
                <a:sym typeface="Wingdings" panose="05000000000000000000" pitchFamily="2" charset="2"/>
              </a:rPr>
              <a:t>2</a:t>
            </a:r>
            <a:r>
              <a:rPr lang="en-GB" dirty="0" smtClean="0">
                <a:sym typeface="Wingdings" panose="05000000000000000000" pitchFamily="2" charset="2"/>
              </a:rPr>
              <a:t>1024=10</a:t>
            </a:r>
            <a:endParaRPr lang="en-GB" dirty="0">
              <a:sym typeface="Wingdings" panose="05000000000000000000" pitchFamily="2" charset="2"/>
            </a:endParaRPr>
          </a:p>
          <a:p>
            <a:r>
              <a:rPr lang="en-GB" dirty="0"/>
              <a:t>f(n) increases very slowly in relation to n</a:t>
            </a:r>
          </a:p>
          <a:p>
            <a:r>
              <a:rPr lang="en-GB" dirty="0"/>
              <a:t>The order of magnitude </a:t>
            </a:r>
            <a:r>
              <a:rPr lang="en-GB" dirty="0" smtClean="0"/>
              <a:t>of a </a:t>
            </a:r>
            <a:r>
              <a:rPr lang="en-GB" dirty="0"/>
              <a:t>logarithmic function is written </a:t>
            </a:r>
            <a:r>
              <a:rPr lang="en-GB" dirty="0">
                <a:solidFill>
                  <a:srgbClr val="956320"/>
                </a:solidFill>
              </a:rPr>
              <a:t>O(log n)</a:t>
            </a:r>
          </a:p>
          <a:p>
            <a:r>
              <a:rPr lang="en-GB" dirty="0"/>
              <a:t>We’re only concerned with base 2, </a:t>
            </a:r>
            <a:r>
              <a:rPr lang="en-GB" dirty="0" smtClean="0"/>
              <a:t>so it is not necessary to specify it in the notation O(log n)</a:t>
            </a:r>
            <a:endParaRPr lang="en-GB" dirty="0"/>
          </a:p>
          <a:p>
            <a:endParaRPr lang="en-GB" dirty="0"/>
          </a:p>
        </p:txBody>
      </p:sp>
    </p:spTree>
    <p:extLst>
      <p:ext uri="{BB962C8B-B14F-4D97-AF65-F5344CB8AC3E}">
        <p14:creationId xmlns:p14="http://schemas.microsoft.com/office/powerpoint/2010/main" val="2329606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Big-O notation</a:t>
            </a:r>
          </a:p>
        </p:txBody>
      </p:sp>
      <p:sp>
        <p:nvSpPr>
          <p:cNvPr id="3" name="Text Placeholder 2"/>
          <p:cNvSpPr>
            <a:spLocks noGrp="1"/>
          </p:cNvSpPr>
          <p:nvPr>
            <p:ph type="body" sz="quarter" idx="14"/>
          </p:nvPr>
        </p:nvSpPr>
        <p:spPr>
          <a:xfrm>
            <a:off x="724280" y="1704179"/>
            <a:ext cx="7797230" cy="4683369"/>
          </a:xfrm>
        </p:spPr>
        <p:txBody>
          <a:bodyPr/>
          <a:lstStyle/>
          <a:p>
            <a:r>
              <a:rPr lang="en-GB" dirty="0"/>
              <a:t>Big-O notation is a measure of the </a:t>
            </a:r>
            <a:r>
              <a:rPr lang="en-GB" dirty="0">
                <a:solidFill>
                  <a:srgbClr val="956320"/>
                </a:solidFill>
              </a:rPr>
              <a:t>time complexity </a:t>
            </a:r>
            <a:r>
              <a:rPr lang="en-GB" dirty="0"/>
              <a:t>of an algorithm</a:t>
            </a:r>
          </a:p>
          <a:p>
            <a:pPr lvl="1"/>
            <a:r>
              <a:rPr lang="en-GB" dirty="0"/>
              <a:t>It is a useful approximation of the time taken to execute an algorithm for a given number </a:t>
            </a:r>
            <a:r>
              <a:rPr lang="en-GB" dirty="0" smtClean="0"/>
              <a:t>of </a:t>
            </a:r>
            <a:r>
              <a:rPr lang="en-GB" dirty="0"/>
              <a:t>items in a data set</a:t>
            </a:r>
          </a:p>
          <a:p>
            <a:r>
              <a:rPr lang="en-GB" dirty="0" smtClean="0"/>
              <a:t>An </a:t>
            </a:r>
            <a:r>
              <a:rPr lang="en-GB" dirty="0"/>
              <a:t>algorithm of time complexity O(n) increases linearly</a:t>
            </a:r>
          </a:p>
          <a:p>
            <a:pPr lvl="1"/>
            <a:r>
              <a:rPr lang="en-GB" dirty="0"/>
              <a:t>10,000 items will take approximately twice as long as 5,000 items to process</a:t>
            </a:r>
          </a:p>
          <a:p>
            <a:r>
              <a:rPr lang="en-GB" dirty="0"/>
              <a:t>There is no such thing as, for example, O(2n + 1) </a:t>
            </a:r>
          </a:p>
          <a:p>
            <a:r>
              <a:rPr lang="en-GB" dirty="0"/>
              <a:t> Only the dominant term counts, so it is O(n)</a:t>
            </a:r>
          </a:p>
          <a:p>
            <a:pPr marL="0" indent="0">
              <a:buNone/>
            </a:pPr>
            <a:endParaRPr lang="en-GB" dirty="0"/>
          </a:p>
          <a:p>
            <a:endParaRPr lang="en-GB" dirty="0"/>
          </a:p>
        </p:txBody>
      </p:sp>
    </p:spTree>
    <p:extLst>
      <p:ext uri="{BB962C8B-B14F-4D97-AF65-F5344CB8AC3E}">
        <p14:creationId xmlns:p14="http://schemas.microsoft.com/office/powerpoint/2010/main" val="31448991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Analysing an algorithm</a:t>
            </a:r>
          </a:p>
        </p:txBody>
      </p:sp>
      <p:sp>
        <p:nvSpPr>
          <p:cNvPr id="3" name="Text Placeholder 2"/>
          <p:cNvSpPr>
            <a:spLocks noGrp="1"/>
          </p:cNvSpPr>
          <p:nvPr>
            <p:ph type="body" sz="quarter" idx="14"/>
          </p:nvPr>
        </p:nvSpPr>
        <p:spPr/>
        <p:txBody>
          <a:bodyPr/>
          <a:lstStyle/>
          <a:p>
            <a:r>
              <a:rPr lang="en-GB" dirty="0"/>
              <a:t>What is the number of steps in the following computation?</a:t>
            </a:r>
          </a:p>
          <a:p>
            <a:pPr marL="273050" indent="0">
              <a:spcAft>
                <a:spcPts val="300"/>
              </a:spcAft>
              <a:buNone/>
              <a:tabLst>
                <a:tab pos="622300" algn="l"/>
                <a:tab pos="901700" algn="l"/>
                <a:tab pos="1166813" algn="l"/>
              </a:tabLst>
            </a:pPr>
            <a:r>
              <a:rPr lang="en-GB" sz="2000" dirty="0">
                <a:solidFill>
                  <a:srgbClr val="956320"/>
                </a:solidFill>
                <a:latin typeface="Consolas" panose="020B0609020204030204" pitchFamily="49" charset="0"/>
              </a:rPr>
              <a:t>	total </a:t>
            </a:r>
            <a:r>
              <a:rPr lang="en-GB" sz="2000" dirty="0">
                <a:solidFill>
                  <a:srgbClr val="956320"/>
                </a:solidFill>
                <a:latin typeface="Consolas" panose="020B0609020204030204" pitchFamily="49" charset="0"/>
                <a:sym typeface="Wingdings" panose="05000000000000000000" pitchFamily="2" charset="2"/>
              </a:rPr>
              <a:t></a:t>
            </a:r>
            <a:r>
              <a:rPr lang="en-GB" sz="2000" dirty="0">
                <a:solidFill>
                  <a:srgbClr val="956320"/>
                </a:solidFill>
                <a:latin typeface="Consolas" panose="020B0609020204030204" pitchFamily="49" charset="0"/>
              </a:rPr>
              <a:t> 0</a:t>
            </a:r>
          </a:p>
          <a:p>
            <a:pPr marL="273050" indent="0">
              <a:spcAft>
                <a:spcPts val="300"/>
              </a:spcAft>
              <a:buNone/>
              <a:tabLst>
                <a:tab pos="622300" algn="l"/>
                <a:tab pos="901700" algn="l"/>
                <a:tab pos="1166813" algn="l"/>
              </a:tabLst>
            </a:pPr>
            <a:r>
              <a:rPr lang="en-GB" sz="2000" dirty="0">
                <a:solidFill>
                  <a:srgbClr val="956320"/>
                </a:solidFill>
                <a:latin typeface="Consolas" panose="020B0609020204030204" pitchFamily="49" charset="0"/>
              </a:rPr>
              <a:t>	FOR student </a:t>
            </a:r>
            <a:r>
              <a:rPr lang="en-GB" sz="2000" dirty="0">
                <a:solidFill>
                  <a:srgbClr val="956320"/>
                </a:solidFill>
                <a:latin typeface="Consolas" panose="020B0609020204030204" pitchFamily="49" charset="0"/>
                <a:sym typeface="Wingdings" panose="05000000000000000000" pitchFamily="2" charset="2"/>
              </a:rPr>
              <a:t></a:t>
            </a:r>
            <a:r>
              <a:rPr lang="en-GB" sz="2000" dirty="0">
                <a:solidFill>
                  <a:srgbClr val="956320"/>
                </a:solidFill>
                <a:latin typeface="Consolas" panose="020B0609020204030204" pitchFamily="49" charset="0"/>
              </a:rPr>
              <a:t> 1 TO n</a:t>
            </a:r>
          </a:p>
          <a:p>
            <a:pPr marL="273050" indent="0">
              <a:spcAft>
                <a:spcPts val="300"/>
              </a:spcAft>
              <a:buNone/>
              <a:tabLst>
                <a:tab pos="622300" algn="l"/>
                <a:tab pos="901700" algn="l"/>
                <a:tab pos="1166813" algn="l"/>
              </a:tabLst>
            </a:pPr>
            <a:r>
              <a:rPr lang="en-GB" sz="2000" dirty="0">
                <a:solidFill>
                  <a:srgbClr val="956320"/>
                </a:solidFill>
                <a:latin typeface="Consolas" panose="020B0609020204030204" pitchFamily="49" charset="0"/>
              </a:rPr>
              <a:t>		FOR mark </a:t>
            </a:r>
            <a:r>
              <a:rPr lang="en-GB" sz="2000" dirty="0">
                <a:solidFill>
                  <a:srgbClr val="956320"/>
                </a:solidFill>
                <a:latin typeface="Consolas" panose="020B0609020204030204" pitchFamily="49" charset="0"/>
                <a:sym typeface="Wingdings" panose="05000000000000000000" pitchFamily="2" charset="2"/>
              </a:rPr>
              <a:t></a:t>
            </a:r>
            <a:r>
              <a:rPr lang="en-GB" sz="2000" dirty="0">
                <a:solidFill>
                  <a:srgbClr val="956320"/>
                </a:solidFill>
                <a:latin typeface="Consolas" panose="020B0609020204030204" pitchFamily="49" charset="0"/>
              </a:rPr>
              <a:t> 1 TO 3</a:t>
            </a:r>
          </a:p>
          <a:p>
            <a:pPr marL="273050" indent="0">
              <a:spcAft>
                <a:spcPts val="300"/>
              </a:spcAft>
              <a:buNone/>
              <a:tabLst>
                <a:tab pos="622300" algn="l"/>
                <a:tab pos="901700" algn="l"/>
                <a:tab pos="1166813" algn="l"/>
              </a:tabLst>
            </a:pPr>
            <a:r>
              <a:rPr lang="en-GB" sz="2000" dirty="0">
                <a:solidFill>
                  <a:srgbClr val="956320"/>
                </a:solidFill>
                <a:latin typeface="Consolas" panose="020B0609020204030204" pitchFamily="49" charset="0"/>
              </a:rPr>
              <a:t>			total </a:t>
            </a:r>
            <a:r>
              <a:rPr lang="en-GB" sz="2000" dirty="0">
                <a:solidFill>
                  <a:srgbClr val="956320"/>
                </a:solidFill>
                <a:latin typeface="Consolas" panose="020B0609020204030204" pitchFamily="49" charset="0"/>
                <a:sym typeface="Wingdings" panose="05000000000000000000" pitchFamily="2" charset="2"/>
              </a:rPr>
              <a:t></a:t>
            </a:r>
            <a:r>
              <a:rPr lang="en-GB" sz="2000" dirty="0">
                <a:solidFill>
                  <a:srgbClr val="956320"/>
                </a:solidFill>
                <a:latin typeface="Consolas" panose="020B0609020204030204" pitchFamily="49" charset="0"/>
              </a:rPr>
              <a:t> total + results[student][mark]</a:t>
            </a:r>
          </a:p>
          <a:p>
            <a:pPr marL="273050" indent="0">
              <a:spcAft>
                <a:spcPts val="300"/>
              </a:spcAft>
              <a:buNone/>
              <a:tabLst>
                <a:tab pos="622300" algn="l"/>
                <a:tab pos="901700" algn="l"/>
                <a:tab pos="1166813" algn="l"/>
              </a:tabLst>
            </a:pPr>
            <a:r>
              <a:rPr lang="en-GB" sz="2000" dirty="0">
                <a:solidFill>
                  <a:srgbClr val="956320"/>
                </a:solidFill>
                <a:latin typeface="Consolas" panose="020B0609020204030204" pitchFamily="49" charset="0"/>
              </a:rPr>
              <a:t>		ENDFOR</a:t>
            </a:r>
          </a:p>
          <a:p>
            <a:pPr marL="273050" indent="0">
              <a:spcAft>
                <a:spcPts val="300"/>
              </a:spcAft>
              <a:buNone/>
              <a:tabLst>
                <a:tab pos="622300" algn="l"/>
                <a:tab pos="901700" algn="l"/>
                <a:tab pos="1166813" algn="l"/>
              </a:tabLst>
            </a:pPr>
            <a:r>
              <a:rPr lang="en-GB" sz="2000" dirty="0">
                <a:solidFill>
                  <a:srgbClr val="956320"/>
                </a:solidFill>
                <a:latin typeface="Consolas" panose="020B0609020204030204" pitchFamily="49" charset="0"/>
              </a:rPr>
              <a:t>	ENDFOR</a:t>
            </a:r>
          </a:p>
          <a:p>
            <a:pPr marL="273050" indent="0">
              <a:spcAft>
                <a:spcPts val="300"/>
              </a:spcAft>
              <a:buNone/>
              <a:tabLst>
                <a:tab pos="622300" algn="l"/>
                <a:tab pos="901700" algn="l"/>
                <a:tab pos="1166813" algn="l"/>
              </a:tabLst>
            </a:pPr>
            <a:r>
              <a:rPr lang="en-GB" dirty="0">
                <a:solidFill>
                  <a:srgbClr val="956320"/>
                </a:solidFill>
              </a:rPr>
              <a:t>	</a:t>
            </a:r>
            <a:r>
              <a:rPr lang="en-GB" sz="2000" dirty="0">
                <a:solidFill>
                  <a:srgbClr val="956320"/>
                </a:solidFill>
                <a:latin typeface="Consolas" panose="020B0609020204030204" pitchFamily="49" charset="0"/>
              </a:rPr>
              <a:t>FOR students </a:t>
            </a:r>
            <a:r>
              <a:rPr lang="en-GB" sz="2000" dirty="0">
                <a:solidFill>
                  <a:srgbClr val="956320"/>
                </a:solidFill>
                <a:latin typeface="Consolas" panose="020B0609020204030204" pitchFamily="49" charset="0"/>
                <a:sym typeface="Wingdings" panose="05000000000000000000" pitchFamily="2" charset="2"/>
              </a:rPr>
              <a:t></a:t>
            </a:r>
            <a:r>
              <a:rPr lang="en-GB" sz="2000" dirty="0">
                <a:solidFill>
                  <a:srgbClr val="956320"/>
                </a:solidFill>
                <a:latin typeface="Consolas" panose="020B0609020204030204" pitchFamily="49" charset="0"/>
              </a:rPr>
              <a:t> 1 TO n</a:t>
            </a:r>
          </a:p>
          <a:p>
            <a:pPr marL="273050" indent="0" defTabSz="542925">
              <a:spcAft>
                <a:spcPts val="300"/>
              </a:spcAft>
              <a:buNone/>
              <a:tabLst>
                <a:tab pos="622300" algn="l"/>
                <a:tab pos="901700" algn="l"/>
                <a:tab pos="1166813" algn="l"/>
              </a:tabLst>
            </a:pPr>
            <a:r>
              <a:rPr lang="en-GB" sz="2000" dirty="0">
                <a:solidFill>
                  <a:srgbClr val="956320"/>
                </a:solidFill>
                <a:latin typeface="Consolas" panose="020B0609020204030204" pitchFamily="49" charset="0"/>
              </a:rPr>
              <a:t>		average[student] </a:t>
            </a:r>
            <a:r>
              <a:rPr lang="en-GB" sz="2000" dirty="0">
                <a:solidFill>
                  <a:srgbClr val="956320"/>
                </a:solidFill>
                <a:latin typeface="Consolas" panose="020B0609020204030204" pitchFamily="49" charset="0"/>
                <a:sym typeface="Wingdings" panose="05000000000000000000" pitchFamily="2" charset="2"/>
              </a:rPr>
              <a:t></a:t>
            </a:r>
            <a:r>
              <a:rPr lang="en-GB" sz="2000" dirty="0">
                <a:solidFill>
                  <a:srgbClr val="956320"/>
                </a:solidFill>
                <a:latin typeface="Consolas" panose="020B0609020204030204" pitchFamily="49" charset="0"/>
              </a:rPr>
              <a:t> (mark[1]+mark[2]+[mark[3])/3</a:t>
            </a:r>
          </a:p>
          <a:p>
            <a:pPr marL="273050" indent="0" defTabSz="542925">
              <a:spcAft>
                <a:spcPts val="300"/>
              </a:spcAft>
              <a:buNone/>
              <a:tabLst>
                <a:tab pos="622300" algn="l"/>
                <a:tab pos="901700" algn="l"/>
                <a:tab pos="1166813" algn="l"/>
              </a:tabLst>
            </a:pPr>
            <a:r>
              <a:rPr lang="en-GB" sz="2000" dirty="0">
                <a:solidFill>
                  <a:srgbClr val="956320"/>
                </a:solidFill>
                <a:latin typeface="Consolas" panose="020B0609020204030204" pitchFamily="49" charset="0"/>
              </a:rPr>
              <a:t>	ENDFOR</a:t>
            </a:r>
          </a:p>
          <a:p>
            <a:pPr marL="0" indent="0">
              <a:buNone/>
            </a:pPr>
            <a:endParaRPr lang="en-GB" dirty="0"/>
          </a:p>
          <a:p>
            <a:endParaRPr lang="en-GB" dirty="0"/>
          </a:p>
        </p:txBody>
      </p:sp>
    </p:spTree>
    <p:extLst>
      <p:ext uri="{BB962C8B-B14F-4D97-AF65-F5344CB8AC3E}">
        <p14:creationId xmlns:p14="http://schemas.microsoft.com/office/powerpoint/2010/main" val="307288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Deriving Big-O</a:t>
            </a:r>
          </a:p>
        </p:txBody>
      </p:sp>
      <p:sp>
        <p:nvSpPr>
          <p:cNvPr id="3" name="Text Placeholder 2"/>
          <p:cNvSpPr>
            <a:spLocks noGrp="1"/>
          </p:cNvSpPr>
          <p:nvPr>
            <p:ph type="body" sz="quarter" idx="14"/>
          </p:nvPr>
        </p:nvSpPr>
        <p:spPr/>
        <p:txBody>
          <a:bodyPr/>
          <a:lstStyle/>
          <a:p>
            <a:r>
              <a:rPr lang="en-GB" dirty="0"/>
              <a:t>There are </a:t>
            </a:r>
            <a:r>
              <a:rPr lang="en-GB" dirty="0">
                <a:solidFill>
                  <a:srgbClr val="E329B2"/>
                </a:solidFill>
              </a:rPr>
              <a:t>1</a:t>
            </a:r>
            <a:r>
              <a:rPr lang="en-GB" dirty="0"/>
              <a:t> + </a:t>
            </a:r>
            <a:r>
              <a:rPr lang="en-GB" dirty="0">
                <a:solidFill>
                  <a:srgbClr val="00B050"/>
                </a:solidFill>
              </a:rPr>
              <a:t>3</a:t>
            </a:r>
            <a:r>
              <a:rPr lang="en-GB" dirty="0">
                <a:solidFill>
                  <a:srgbClr val="00B0F0"/>
                </a:solidFill>
              </a:rPr>
              <a:t>n</a:t>
            </a:r>
            <a:r>
              <a:rPr lang="en-GB" dirty="0"/>
              <a:t> + </a:t>
            </a:r>
            <a:r>
              <a:rPr lang="en-GB" dirty="0">
                <a:solidFill>
                  <a:srgbClr val="7030A0"/>
                </a:solidFill>
              </a:rPr>
              <a:t>n</a:t>
            </a:r>
            <a:r>
              <a:rPr lang="en-GB" dirty="0"/>
              <a:t> assignment statements</a:t>
            </a:r>
          </a:p>
          <a:p>
            <a:r>
              <a:rPr lang="en-GB" dirty="0"/>
              <a:t>The algorithm has time complexity O(n)</a:t>
            </a:r>
          </a:p>
          <a:p>
            <a:pPr marL="273050" indent="0">
              <a:spcAft>
                <a:spcPts val="300"/>
              </a:spcAft>
              <a:buNone/>
              <a:tabLst>
                <a:tab pos="622300" algn="l"/>
                <a:tab pos="901700" algn="l"/>
                <a:tab pos="1166813" algn="l"/>
              </a:tabLst>
            </a:pPr>
            <a:r>
              <a:rPr lang="en-GB" sz="2000" dirty="0">
                <a:solidFill>
                  <a:srgbClr val="956320"/>
                </a:solidFill>
                <a:latin typeface="Consolas" panose="020B0609020204030204" pitchFamily="49" charset="0"/>
              </a:rPr>
              <a:t>	</a:t>
            </a:r>
            <a:r>
              <a:rPr lang="en-GB" sz="2000" dirty="0">
                <a:solidFill>
                  <a:srgbClr val="E329B2"/>
                </a:solidFill>
                <a:latin typeface="Consolas" panose="020B0609020204030204" pitchFamily="49" charset="0"/>
              </a:rPr>
              <a:t>total </a:t>
            </a:r>
            <a:r>
              <a:rPr lang="en-GB" sz="2000" dirty="0">
                <a:solidFill>
                  <a:srgbClr val="E329B2"/>
                </a:solidFill>
                <a:latin typeface="Consolas" panose="020B0609020204030204" pitchFamily="49" charset="0"/>
                <a:sym typeface="Wingdings" panose="05000000000000000000" pitchFamily="2" charset="2"/>
              </a:rPr>
              <a:t></a:t>
            </a:r>
            <a:r>
              <a:rPr lang="en-GB" sz="2000" dirty="0">
                <a:solidFill>
                  <a:srgbClr val="E329B2"/>
                </a:solidFill>
                <a:latin typeface="Consolas" panose="020B0609020204030204" pitchFamily="49" charset="0"/>
              </a:rPr>
              <a:t> 0</a:t>
            </a:r>
          </a:p>
          <a:p>
            <a:pPr marL="273050" indent="0">
              <a:spcAft>
                <a:spcPts val="300"/>
              </a:spcAft>
              <a:buNone/>
              <a:tabLst>
                <a:tab pos="622300" algn="l"/>
                <a:tab pos="901700" algn="l"/>
                <a:tab pos="1166813" algn="l"/>
              </a:tabLst>
            </a:pPr>
            <a:r>
              <a:rPr lang="en-GB" sz="2000" dirty="0">
                <a:solidFill>
                  <a:srgbClr val="956320"/>
                </a:solidFill>
                <a:latin typeface="Consolas" panose="020B0609020204030204" pitchFamily="49" charset="0"/>
              </a:rPr>
              <a:t>	</a:t>
            </a:r>
            <a:r>
              <a:rPr lang="en-GB" sz="2000" dirty="0">
                <a:solidFill>
                  <a:srgbClr val="00B0F0"/>
                </a:solidFill>
                <a:latin typeface="Consolas" panose="020B0609020204030204" pitchFamily="49" charset="0"/>
              </a:rPr>
              <a:t>FOR student </a:t>
            </a:r>
            <a:r>
              <a:rPr lang="en-GB" sz="2000" dirty="0">
                <a:solidFill>
                  <a:srgbClr val="00B0F0"/>
                </a:solidFill>
                <a:latin typeface="Consolas" panose="020B0609020204030204" pitchFamily="49" charset="0"/>
                <a:sym typeface="Wingdings" panose="05000000000000000000" pitchFamily="2" charset="2"/>
              </a:rPr>
              <a:t></a:t>
            </a:r>
            <a:r>
              <a:rPr lang="en-GB" sz="2000" dirty="0">
                <a:solidFill>
                  <a:srgbClr val="00B0F0"/>
                </a:solidFill>
                <a:latin typeface="Consolas" panose="020B0609020204030204" pitchFamily="49" charset="0"/>
              </a:rPr>
              <a:t> 1 TO n</a:t>
            </a:r>
          </a:p>
          <a:p>
            <a:pPr marL="273050" indent="0">
              <a:spcAft>
                <a:spcPts val="300"/>
              </a:spcAft>
              <a:buNone/>
              <a:tabLst>
                <a:tab pos="622300" algn="l"/>
                <a:tab pos="901700" algn="l"/>
                <a:tab pos="1166813" algn="l"/>
              </a:tabLst>
            </a:pPr>
            <a:r>
              <a:rPr lang="en-GB" sz="2000" dirty="0">
                <a:solidFill>
                  <a:srgbClr val="956320"/>
                </a:solidFill>
                <a:latin typeface="Consolas" panose="020B0609020204030204" pitchFamily="49" charset="0"/>
              </a:rPr>
              <a:t>		</a:t>
            </a:r>
            <a:r>
              <a:rPr lang="en-GB" sz="2000" dirty="0">
                <a:solidFill>
                  <a:srgbClr val="00B050"/>
                </a:solidFill>
                <a:latin typeface="Consolas" panose="020B0609020204030204" pitchFamily="49" charset="0"/>
              </a:rPr>
              <a:t>FOR mark </a:t>
            </a:r>
            <a:r>
              <a:rPr lang="en-GB" sz="2000" dirty="0">
                <a:solidFill>
                  <a:srgbClr val="00B050"/>
                </a:solidFill>
                <a:latin typeface="Consolas" panose="020B0609020204030204" pitchFamily="49" charset="0"/>
                <a:sym typeface="Wingdings" panose="05000000000000000000" pitchFamily="2" charset="2"/>
              </a:rPr>
              <a:t></a:t>
            </a:r>
            <a:r>
              <a:rPr lang="en-GB" sz="2000" dirty="0">
                <a:solidFill>
                  <a:srgbClr val="00B050"/>
                </a:solidFill>
                <a:latin typeface="Consolas" panose="020B0609020204030204" pitchFamily="49" charset="0"/>
              </a:rPr>
              <a:t> 1 TO 3</a:t>
            </a:r>
          </a:p>
          <a:p>
            <a:pPr marL="273050" indent="0">
              <a:spcAft>
                <a:spcPts val="300"/>
              </a:spcAft>
              <a:buNone/>
              <a:tabLst>
                <a:tab pos="622300" algn="l"/>
                <a:tab pos="901700" algn="l"/>
                <a:tab pos="1166813" algn="l"/>
              </a:tabLst>
            </a:pPr>
            <a:r>
              <a:rPr lang="en-GB" sz="2000" dirty="0">
                <a:solidFill>
                  <a:srgbClr val="00B050"/>
                </a:solidFill>
                <a:latin typeface="Consolas" panose="020B0609020204030204" pitchFamily="49" charset="0"/>
              </a:rPr>
              <a:t>			total </a:t>
            </a:r>
            <a:r>
              <a:rPr lang="en-GB" sz="2000" dirty="0">
                <a:solidFill>
                  <a:srgbClr val="00B050"/>
                </a:solidFill>
                <a:latin typeface="Consolas" panose="020B0609020204030204" pitchFamily="49" charset="0"/>
                <a:sym typeface="Wingdings" panose="05000000000000000000" pitchFamily="2" charset="2"/>
              </a:rPr>
              <a:t></a:t>
            </a:r>
            <a:r>
              <a:rPr lang="en-GB" sz="2000" dirty="0">
                <a:solidFill>
                  <a:srgbClr val="00B050"/>
                </a:solidFill>
                <a:latin typeface="Consolas" panose="020B0609020204030204" pitchFamily="49" charset="0"/>
              </a:rPr>
              <a:t> total + results[student][mark]</a:t>
            </a:r>
          </a:p>
          <a:p>
            <a:pPr marL="273050" indent="0">
              <a:spcAft>
                <a:spcPts val="300"/>
              </a:spcAft>
              <a:buNone/>
              <a:tabLst>
                <a:tab pos="622300" algn="l"/>
                <a:tab pos="901700" algn="l"/>
                <a:tab pos="1166813" algn="l"/>
              </a:tabLst>
            </a:pPr>
            <a:r>
              <a:rPr lang="en-GB" sz="2000" dirty="0">
                <a:solidFill>
                  <a:srgbClr val="00B050"/>
                </a:solidFill>
                <a:latin typeface="Consolas" panose="020B0609020204030204" pitchFamily="49" charset="0"/>
              </a:rPr>
              <a:t>		ENDFOR</a:t>
            </a:r>
          </a:p>
          <a:p>
            <a:pPr marL="273050" indent="0">
              <a:spcAft>
                <a:spcPts val="300"/>
              </a:spcAft>
              <a:buNone/>
              <a:tabLst>
                <a:tab pos="622300" algn="l"/>
                <a:tab pos="901700" algn="l"/>
                <a:tab pos="1166813" algn="l"/>
              </a:tabLst>
            </a:pPr>
            <a:r>
              <a:rPr lang="en-GB" sz="2000" dirty="0">
                <a:solidFill>
                  <a:srgbClr val="956320"/>
                </a:solidFill>
                <a:latin typeface="Consolas" panose="020B0609020204030204" pitchFamily="49" charset="0"/>
              </a:rPr>
              <a:t>	</a:t>
            </a:r>
            <a:r>
              <a:rPr lang="en-GB" sz="2000" dirty="0">
                <a:solidFill>
                  <a:srgbClr val="00B0F0"/>
                </a:solidFill>
                <a:latin typeface="Consolas" panose="020B0609020204030204" pitchFamily="49" charset="0"/>
              </a:rPr>
              <a:t>ENDFOR</a:t>
            </a:r>
          </a:p>
          <a:p>
            <a:pPr marL="273050" indent="0">
              <a:spcAft>
                <a:spcPts val="300"/>
              </a:spcAft>
              <a:buNone/>
              <a:tabLst>
                <a:tab pos="622300" algn="l"/>
                <a:tab pos="901700" algn="l"/>
                <a:tab pos="1166813" algn="l"/>
              </a:tabLst>
            </a:pPr>
            <a:r>
              <a:rPr lang="en-GB" dirty="0">
                <a:solidFill>
                  <a:srgbClr val="956320"/>
                </a:solidFill>
              </a:rPr>
              <a:t>	</a:t>
            </a:r>
            <a:r>
              <a:rPr lang="en-GB" sz="2000" dirty="0">
                <a:solidFill>
                  <a:srgbClr val="7030A0"/>
                </a:solidFill>
                <a:latin typeface="Consolas" panose="020B0609020204030204" pitchFamily="49" charset="0"/>
              </a:rPr>
              <a:t>FOR students </a:t>
            </a:r>
            <a:r>
              <a:rPr lang="en-GB" sz="2000" dirty="0">
                <a:solidFill>
                  <a:srgbClr val="7030A0"/>
                </a:solidFill>
                <a:latin typeface="Consolas" panose="020B0609020204030204" pitchFamily="49" charset="0"/>
                <a:sym typeface="Wingdings" panose="05000000000000000000" pitchFamily="2" charset="2"/>
              </a:rPr>
              <a:t></a:t>
            </a:r>
            <a:r>
              <a:rPr lang="en-GB" sz="2000" dirty="0">
                <a:solidFill>
                  <a:srgbClr val="7030A0"/>
                </a:solidFill>
                <a:latin typeface="Consolas" panose="020B0609020204030204" pitchFamily="49" charset="0"/>
              </a:rPr>
              <a:t> 1 TO n</a:t>
            </a:r>
          </a:p>
          <a:p>
            <a:pPr marL="273050" indent="0" defTabSz="542925">
              <a:spcAft>
                <a:spcPts val="300"/>
              </a:spcAft>
              <a:buNone/>
              <a:tabLst>
                <a:tab pos="622300" algn="l"/>
                <a:tab pos="901700" algn="l"/>
                <a:tab pos="1166813" algn="l"/>
              </a:tabLst>
            </a:pPr>
            <a:r>
              <a:rPr lang="en-GB" sz="2000" dirty="0">
                <a:solidFill>
                  <a:srgbClr val="7030A0"/>
                </a:solidFill>
                <a:latin typeface="Consolas" panose="020B0609020204030204" pitchFamily="49" charset="0"/>
              </a:rPr>
              <a:t>		average[student] </a:t>
            </a:r>
            <a:r>
              <a:rPr lang="en-GB" sz="2000" dirty="0">
                <a:solidFill>
                  <a:srgbClr val="7030A0"/>
                </a:solidFill>
                <a:latin typeface="Consolas" panose="020B0609020204030204" pitchFamily="49" charset="0"/>
                <a:sym typeface="Wingdings" panose="05000000000000000000" pitchFamily="2" charset="2"/>
              </a:rPr>
              <a:t></a:t>
            </a:r>
            <a:r>
              <a:rPr lang="en-GB" sz="2000" dirty="0">
                <a:solidFill>
                  <a:srgbClr val="7030A0"/>
                </a:solidFill>
                <a:latin typeface="Consolas" panose="020B0609020204030204" pitchFamily="49" charset="0"/>
              </a:rPr>
              <a:t> (mark[1]+mark[2]+[mark[3])/3</a:t>
            </a:r>
          </a:p>
          <a:p>
            <a:pPr marL="273050" indent="0" defTabSz="542925">
              <a:spcAft>
                <a:spcPts val="300"/>
              </a:spcAft>
              <a:buNone/>
              <a:tabLst>
                <a:tab pos="622300" algn="l"/>
                <a:tab pos="901700" algn="l"/>
                <a:tab pos="1166813" algn="l"/>
              </a:tabLst>
            </a:pPr>
            <a:r>
              <a:rPr lang="en-GB" sz="2000" dirty="0">
                <a:solidFill>
                  <a:srgbClr val="7030A0"/>
                </a:solidFill>
                <a:latin typeface="Consolas" panose="020B0609020204030204" pitchFamily="49" charset="0"/>
              </a:rPr>
              <a:t>	ENDFOR</a:t>
            </a:r>
          </a:p>
          <a:p>
            <a:pPr marL="0" indent="0">
              <a:buNone/>
            </a:pPr>
            <a:endParaRPr lang="en-GB" dirty="0"/>
          </a:p>
          <a:p>
            <a:endParaRPr lang="en-GB" dirty="0"/>
          </a:p>
        </p:txBody>
      </p:sp>
    </p:spTree>
    <p:extLst>
      <p:ext uri="{BB962C8B-B14F-4D97-AF65-F5344CB8AC3E}">
        <p14:creationId xmlns:p14="http://schemas.microsoft.com/office/powerpoint/2010/main" val="426966800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Logarithmic functions</a:t>
            </a:r>
          </a:p>
        </p:txBody>
      </p:sp>
      <p:sp>
        <p:nvSpPr>
          <p:cNvPr id="3" name="Text Placeholder 2"/>
          <p:cNvSpPr>
            <a:spLocks noGrp="1"/>
          </p:cNvSpPr>
          <p:nvPr>
            <p:ph type="body" sz="quarter" idx="14"/>
          </p:nvPr>
        </p:nvSpPr>
        <p:spPr/>
        <p:txBody>
          <a:bodyPr/>
          <a:lstStyle/>
          <a:p>
            <a:r>
              <a:rPr lang="en-GB" dirty="0"/>
              <a:t>“Divide and conquer” algorithms work by halving the size of the problem at each pass</a:t>
            </a:r>
          </a:p>
          <a:p>
            <a:pPr lvl="1"/>
            <a:r>
              <a:rPr lang="en-GB" dirty="0"/>
              <a:t>A binary tree search algorithm is a good example of this</a:t>
            </a:r>
          </a:p>
          <a:p>
            <a:pPr lvl="1"/>
            <a:r>
              <a:rPr lang="en-GB" dirty="0"/>
              <a:t>For a balanced tree of 1024 (i.e. 2</a:t>
            </a:r>
            <a:r>
              <a:rPr lang="en-GB" baseline="30000" dirty="0"/>
              <a:t>10</a:t>
            </a:r>
            <a:r>
              <a:rPr lang="en-GB" dirty="0"/>
              <a:t>) items, only 10 items need to be examined</a:t>
            </a:r>
          </a:p>
          <a:p>
            <a:pPr lvl="1"/>
            <a:r>
              <a:rPr lang="en-GB" dirty="0"/>
              <a:t>For a tree of 2048 (i.e. 2</a:t>
            </a:r>
            <a:r>
              <a:rPr lang="en-GB" baseline="30000" dirty="0"/>
              <a:t>11</a:t>
            </a:r>
            <a:r>
              <a:rPr lang="en-GB" dirty="0"/>
              <a:t>) items, only 11 items need to be examined</a:t>
            </a:r>
          </a:p>
          <a:p>
            <a:r>
              <a:rPr lang="en-GB" dirty="0"/>
              <a:t>Time complexity increases very slowly as the problem size increases</a:t>
            </a:r>
          </a:p>
          <a:p>
            <a:r>
              <a:rPr lang="en-GB" dirty="0"/>
              <a:t>It is </a:t>
            </a:r>
            <a:r>
              <a:rPr lang="en-GB" dirty="0">
                <a:solidFill>
                  <a:srgbClr val="956320"/>
                </a:solidFill>
              </a:rPr>
              <a:t>logarithmic</a:t>
            </a:r>
            <a:r>
              <a:rPr lang="en-GB" dirty="0"/>
              <a:t>, that is, </a:t>
            </a:r>
            <a:r>
              <a:rPr lang="en-GB" dirty="0">
                <a:solidFill>
                  <a:srgbClr val="956320"/>
                </a:solidFill>
              </a:rPr>
              <a:t>O(log n)</a:t>
            </a:r>
          </a:p>
        </p:txBody>
      </p:sp>
    </p:spTree>
    <p:extLst>
      <p:ext uri="{BB962C8B-B14F-4D97-AF65-F5344CB8AC3E}">
        <p14:creationId xmlns:p14="http://schemas.microsoft.com/office/powerpoint/2010/main" val="24505035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Worksheet 2</a:t>
            </a:r>
          </a:p>
        </p:txBody>
      </p:sp>
      <p:sp>
        <p:nvSpPr>
          <p:cNvPr id="5" name="Text Placeholder 4"/>
          <p:cNvSpPr>
            <a:spLocks noGrp="1"/>
          </p:cNvSpPr>
          <p:nvPr>
            <p:ph type="body" sz="quarter" idx="14"/>
          </p:nvPr>
        </p:nvSpPr>
        <p:spPr/>
        <p:txBody>
          <a:bodyPr/>
          <a:lstStyle/>
          <a:p>
            <a:r>
              <a:rPr lang="en-GB" dirty="0"/>
              <a:t>Try the questions in </a:t>
            </a:r>
            <a:r>
              <a:rPr lang="en-GB" b="1" dirty="0"/>
              <a:t>Task 1</a:t>
            </a:r>
            <a:r>
              <a:rPr lang="en-GB" dirty="0"/>
              <a:t> of the worksheet</a:t>
            </a:r>
          </a:p>
        </p:txBody>
      </p:sp>
      <p:graphicFrame>
        <p:nvGraphicFramePr>
          <p:cNvPr id="2" name="Table 1"/>
          <p:cNvGraphicFramePr>
            <a:graphicFrameLocks noGrp="1"/>
          </p:cNvGraphicFramePr>
          <p:nvPr>
            <p:extLst>
              <p:ext uri="{D42A27DB-BD31-4B8C-83A1-F6EECF244321}">
                <p14:modId xmlns:p14="http://schemas.microsoft.com/office/powerpoint/2010/main" val="3472030204"/>
              </p:ext>
            </p:extLst>
          </p:nvPr>
        </p:nvGraphicFramePr>
        <p:xfrm>
          <a:off x="1007393" y="2574593"/>
          <a:ext cx="7231004" cy="2795265"/>
        </p:xfrm>
        <a:graphic>
          <a:graphicData uri="http://schemas.openxmlformats.org/drawingml/2006/table">
            <a:tbl>
              <a:tblPr firstRow="1" firstCol="1" bandRow="1">
                <a:tableStyleId>{5C22544A-7EE6-4342-B048-85BDC9FD1C3A}</a:tableStyleId>
              </a:tblPr>
              <a:tblGrid>
                <a:gridCol w="1018382">
                  <a:extLst>
                    <a:ext uri="{9D8B030D-6E8A-4147-A177-3AD203B41FA5}">
                      <a16:colId xmlns="" xmlns:a16="http://schemas.microsoft.com/office/drawing/2014/main" val="2102770445"/>
                    </a:ext>
                  </a:extLst>
                </a:gridCol>
                <a:gridCol w="1188000">
                  <a:extLst>
                    <a:ext uri="{9D8B030D-6E8A-4147-A177-3AD203B41FA5}">
                      <a16:colId xmlns="" xmlns:a16="http://schemas.microsoft.com/office/drawing/2014/main" val="3265326806"/>
                    </a:ext>
                  </a:extLst>
                </a:gridCol>
                <a:gridCol w="1188000">
                  <a:extLst>
                    <a:ext uri="{9D8B030D-6E8A-4147-A177-3AD203B41FA5}">
                      <a16:colId xmlns="" xmlns:a16="http://schemas.microsoft.com/office/drawing/2014/main" val="1791246332"/>
                    </a:ext>
                  </a:extLst>
                </a:gridCol>
                <a:gridCol w="1188000">
                  <a:extLst>
                    <a:ext uri="{9D8B030D-6E8A-4147-A177-3AD203B41FA5}">
                      <a16:colId xmlns="" xmlns:a16="http://schemas.microsoft.com/office/drawing/2014/main" val="1915581041"/>
                    </a:ext>
                  </a:extLst>
                </a:gridCol>
                <a:gridCol w="344622">
                  <a:extLst>
                    <a:ext uri="{9D8B030D-6E8A-4147-A177-3AD203B41FA5}">
                      <a16:colId xmlns="" xmlns:a16="http://schemas.microsoft.com/office/drawing/2014/main" val="2483299922"/>
                    </a:ext>
                  </a:extLst>
                </a:gridCol>
                <a:gridCol w="2304000">
                  <a:extLst>
                    <a:ext uri="{9D8B030D-6E8A-4147-A177-3AD203B41FA5}">
                      <a16:colId xmlns="" xmlns:a16="http://schemas.microsoft.com/office/drawing/2014/main" val="17352080"/>
                    </a:ext>
                  </a:extLst>
                </a:gridCol>
              </a:tblGrid>
              <a:tr h="559053">
                <a:tc>
                  <a:txBody>
                    <a:bodyPr/>
                    <a:lstStyle/>
                    <a:p>
                      <a:pPr algn="ctr">
                        <a:spcAft>
                          <a:spcPts val="0"/>
                        </a:spcAft>
                        <a:tabLst>
                          <a:tab pos="630555" algn="l"/>
                          <a:tab pos="810260" algn="l"/>
                          <a:tab pos="1350645" algn="l"/>
                          <a:tab pos="1530350" algn="l"/>
                          <a:tab pos="1710690" algn="l"/>
                          <a:tab pos="5939790" algn="r"/>
                        </a:tabLst>
                      </a:pPr>
                      <a:r>
                        <a:rPr lang="en-GB" sz="2000" dirty="0">
                          <a:effectLst/>
                          <a:latin typeface="Arial" panose="020B0604020202020204" pitchFamily="34" charset="0"/>
                          <a:cs typeface="Arial" panose="020B0604020202020204" pitchFamily="34" charset="0"/>
                        </a:rPr>
                        <a:t>n </a:t>
                      </a:r>
                      <a:endParaRPr lang="en-GB" sz="2000" dirty="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mpd="sng">
                      <a:noFill/>
                    </a:lnL>
                    <a:lnR w="12700" cap="flat" cmpd="sng" algn="ctr">
                      <a:solidFill>
                        <a:srgbClr val="2F586A"/>
                      </a:solidFill>
                      <a:prstDash val="solid"/>
                      <a:round/>
                      <a:headEnd type="none" w="med" len="med"/>
                      <a:tailEnd type="none" w="med" len="med"/>
                    </a:lnR>
                    <a:lnT w="12700" cmpd="sng">
                      <a:noFill/>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solidFill>
                      <a:srgbClr val="2F586A"/>
                    </a:solidFill>
                  </a:tcPr>
                </a:tc>
                <a:tc>
                  <a:txBody>
                    <a:bodyPr/>
                    <a:lstStyle/>
                    <a:p>
                      <a:pPr algn="ctr">
                        <a:spcAft>
                          <a:spcPts val="0"/>
                        </a:spcAft>
                        <a:tabLst>
                          <a:tab pos="630555" algn="l"/>
                          <a:tab pos="810260" algn="l"/>
                          <a:tab pos="1350645" algn="l"/>
                          <a:tab pos="1530350" algn="l"/>
                          <a:tab pos="1710690" algn="l"/>
                          <a:tab pos="5939790" algn="r"/>
                        </a:tabLst>
                      </a:pPr>
                      <a:r>
                        <a:rPr lang="en-GB" sz="2000" dirty="0">
                          <a:effectLst/>
                          <a:latin typeface="Arial" panose="020B0604020202020204" pitchFamily="34" charset="0"/>
                          <a:cs typeface="Arial" panose="020B0604020202020204" pitchFamily="34" charset="0"/>
                        </a:rPr>
                        <a:t>n</a:t>
                      </a:r>
                      <a:r>
                        <a:rPr lang="en-GB" sz="2000" baseline="30000" dirty="0">
                          <a:effectLst/>
                          <a:latin typeface="Arial" panose="020B0604020202020204" pitchFamily="34" charset="0"/>
                          <a:cs typeface="Arial" panose="020B0604020202020204" pitchFamily="34" charset="0"/>
                        </a:rPr>
                        <a:t>2</a:t>
                      </a:r>
                      <a:endParaRPr lang="en-GB" sz="2000" dirty="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mpd="sng">
                      <a:noFill/>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solidFill>
                      <a:srgbClr val="2F586A"/>
                    </a:solidFill>
                  </a:tcPr>
                </a:tc>
                <a:tc>
                  <a:txBody>
                    <a:bodyPr/>
                    <a:lstStyle/>
                    <a:p>
                      <a:pPr algn="ctr">
                        <a:spcAft>
                          <a:spcPts val="0"/>
                        </a:spcAft>
                        <a:tabLst>
                          <a:tab pos="630555" algn="l"/>
                          <a:tab pos="810260" algn="l"/>
                          <a:tab pos="1350645" algn="l"/>
                          <a:tab pos="1530350" algn="l"/>
                          <a:tab pos="1710690" algn="l"/>
                          <a:tab pos="5939790" algn="r"/>
                        </a:tabLst>
                      </a:pPr>
                      <a:r>
                        <a:rPr lang="en-GB" sz="2000" dirty="0">
                          <a:effectLst/>
                          <a:latin typeface="Arial" panose="020B0604020202020204" pitchFamily="34" charset="0"/>
                          <a:cs typeface="Arial" panose="020B0604020202020204" pitchFamily="34" charset="0"/>
                        </a:rPr>
                        <a:t>5n</a:t>
                      </a:r>
                      <a:r>
                        <a:rPr lang="en-GB" sz="2000" baseline="30000" dirty="0">
                          <a:effectLst/>
                          <a:latin typeface="Arial" panose="020B0604020202020204" pitchFamily="34" charset="0"/>
                          <a:cs typeface="Arial" panose="020B0604020202020204" pitchFamily="34" charset="0"/>
                        </a:rPr>
                        <a:t>2</a:t>
                      </a:r>
                      <a:endParaRPr lang="en-GB" sz="2000" dirty="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mpd="sng">
                      <a:noFill/>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solidFill>
                      <a:srgbClr val="2F586A"/>
                    </a:solidFill>
                  </a:tcPr>
                </a:tc>
                <a:tc>
                  <a:txBody>
                    <a:bodyPr/>
                    <a:lstStyle/>
                    <a:p>
                      <a:pPr algn="ctr">
                        <a:spcAft>
                          <a:spcPts val="0"/>
                        </a:spcAft>
                        <a:tabLst>
                          <a:tab pos="630555" algn="l"/>
                          <a:tab pos="810260" algn="l"/>
                          <a:tab pos="1350645" algn="l"/>
                          <a:tab pos="1530350" algn="l"/>
                          <a:tab pos="1710690" algn="l"/>
                          <a:tab pos="5939790" algn="r"/>
                        </a:tabLst>
                      </a:pPr>
                      <a:r>
                        <a:rPr lang="en-GB" sz="2000" dirty="0">
                          <a:effectLst/>
                          <a:latin typeface="Arial" panose="020B0604020202020204" pitchFamily="34" charset="0"/>
                          <a:cs typeface="Arial" panose="020B0604020202020204" pitchFamily="34" charset="0"/>
                        </a:rPr>
                        <a:t>10n</a:t>
                      </a:r>
                      <a:endParaRPr lang="en-GB" sz="2000" dirty="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mpd="sng">
                      <a:noFill/>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solidFill>
                      <a:srgbClr val="2F586A"/>
                    </a:solidFill>
                  </a:tcPr>
                </a:tc>
                <a:tc>
                  <a:txBody>
                    <a:bodyPr/>
                    <a:lstStyle/>
                    <a:p>
                      <a:pPr algn="ctr">
                        <a:spcAft>
                          <a:spcPts val="0"/>
                        </a:spcAft>
                        <a:tabLst>
                          <a:tab pos="630555" algn="l"/>
                          <a:tab pos="810260" algn="l"/>
                          <a:tab pos="1350645" algn="l"/>
                          <a:tab pos="1530350" algn="l"/>
                          <a:tab pos="1710690" algn="l"/>
                          <a:tab pos="5939790" algn="r"/>
                        </a:tabLst>
                      </a:pPr>
                      <a:r>
                        <a:rPr lang="en-GB" sz="2000" dirty="0">
                          <a:effectLst/>
                          <a:latin typeface="Arial" panose="020B0604020202020204" pitchFamily="34" charset="0"/>
                          <a:cs typeface="Arial" panose="020B0604020202020204" pitchFamily="34" charset="0"/>
                        </a:rPr>
                        <a:t>2</a:t>
                      </a:r>
                      <a:endParaRPr lang="en-GB" sz="2000" dirty="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mpd="sng">
                      <a:noFill/>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solidFill>
                      <a:srgbClr val="2F586A"/>
                    </a:solidFill>
                  </a:tcPr>
                </a:tc>
                <a:tc>
                  <a:txBody>
                    <a:bodyPr/>
                    <a:lstStyle/>
                    <a:p>
                      <a:pPr algn="ctr">
                        <a:spcAft>
                          <a:spcPts val="0"/>
                        </a:spcAft>
                        <a:tabLst>
                          <a:tab pos="630555" algn="l"/>
                          <a:tab pos="810260" algn="l"/>
                          <a:tab pos="1350645" algn="l"/>
                          <a:tab pos="1530350" algn="l"/>
                          <a:tab pos="1710690" algn="l"/>
                          <a:tab pos="5939790" algn="r"/>
                        </a:tabLst>
                      </a:pPr>
                      <a:r>
                        <a:rPr lang="en-GB" sz="2000" dirty="0">
                          <a:effectLst/>
                          <a:latin typeface="Arial" panose="020B0604020202020204" pitchFamily="34" charset="0"/>
                          <a:cs typeface="Arial" panose="020B0604020202020204" pitchFamily="34" charset="0"/>
                        </a:rPr>
                        <a:t>f(n)= 5n</a:t>
                      </a:r>
                      <a:r>
                        <a:rPr lang="en-GB" sz="2000" baseline="30000" dirty="0">
                          <a:effectLst/>
                          <a:latin typeface="Arial" panose="020B0604020202020204" pitchFamily="34" charset="0"/>
                          <a:cs typeface="Arial" panose="020B0604020202020204" pitchFamily="34" charset="0"/>
                        </a:rPr>
                        <a:t>2</a:t>
                      </a:r>
                      <a:r>
                        <a:rPr lang="en-GB" sz="2000" dirty="0">
                          <a:effectLst/>
                          <a:latin typeface="Arial" panose="020B0604020202020204" pitchFamily="34" charset="0"/>
                          <a:cs typeface="Arial" panose="020B0604020202020204" pitchFamily="34" charset="0"/>
                        </a:rPr>
                        <a:t>+ 10n + 2 </a:t>
                      </a:r>
                      <a:endParaRPr lang="en-GB" sz="2000" dirty="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mpd="sng">
                      <a:noFill/>
                    </a:lnR>
                    <a:lnT w="12700" cmpd="sng">
                      <a:noFill/>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solidFill>
                      <a:srgbClr val="2F586A"/>
                    </a:solidFill>
                  </a:tcPr>
                </a:tc>
                <a:extLst>
                  <a:ext uri="{0D108BD9-81ED-4DB2-BD59-A6C34878D82A}">
                    <a16:rowId xmlns="" xmlns:a16="http://schemas.microsoft.com/office/drawing/2014/main" val="1992579555"/>
                  </a:ext>
                </a:extLst>
              </a:tr>
              <a:tr h="559053">
                <a:tc>
                  <a:txBody>
                    <a:bodyPr/>
                    <a:lstStyle/>
                    <a:p>
                      <a:pPr algn="ctr">
                        <a:spcAft>
                          <a:spcPts val="0"/>
                        </a:spcAft>
                        <a:tabLst>
                          <a:tab pos="630555" algn="l"/>
                          <a:tab pos="810260" algn="l"/>
                          <a:tab pos="1350645" algn="l"/>
                          <a:tab pos="1530350" algn="l"/>
                          <a:tab pos="1710690" algn="l"/>
                          <a:tab pos="5939790" algn="r"/>
                        </a:tabLst>
                      </a:pPr>
                      <a:r>
                        <a:rPr lang="en-GB" sz="2000" dirty="0">
                          <a:effectLst/>
                          <a:latin typeface="Arial" panose="020B0604020202020204" pitchFamily="34" charset="0"/>
                          <a:cs typeface="Arial" panose="020B0604020202020204" pitchFamily="34" charset="0"/>
                        </a:rPr>
                        <a:t>10</a:t>
                      </a:r>
                      <a:endParaRPr lang="en-GB" sz="2000" dirty="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mpd="sng">
                      <a:noFill/>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solidFill>
                      <a:srgbClr val="2F586A"/>
                    </a:solidFill>
                  </a:tcPr>
                </a:tc>
                <a:tc>
                  <a:txBody>
                    <a:bodyPr/>
                    <a:lstStyle/>
                    <a:p>
                      <a:pPr algn="ctr">
                        <a:spcAft>
                          <a:spcPts val="0"/>
                        </a:spcAft>
                        <a:tabLst>
                          <a:tab pos="630555" algn="l"/>
                          <a:tab pos="810260" algn="l"/>
                          <a:tab pos="1350645" algn="l"/>
                          <a:tab pos="1530350" algn="l"/>
                          <a:tab pos="1710690" algn="l"/>
                          <a:tab pos="5939790" algn="r"/>
                        </a:tabLst>
                      </a:pPr>
                      <a:r>
                        <a:rPr lang="en-GB" sz="2000" dirty="0">
                          <a:effectLst/>
                          <a:latin typeface="Arial" panose="020B0604020202020204" pitchFamily="34" charset="0"/>
                          <a:cs typeface="Arial" panose="020B0604020202020204" pitchFamily="34" charset="0"/>
                        </a:rPr>
                        <a:t> </a:t>
                      </a:r>
                      <a:endParaRPr lang="en-GB" sz="2000" dirty="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tabLst>
                          <a:tab pos="630555" algn="l"/>
                          <a:tab pos="810260" algn="l"/>
                          <a:tab pos="1350645" algn="l"/>
                          <a:tab pos="1530350" algn="l"/>
                          <a:tab pos="1710690" algn="l"/>
                          <a:tab pos="5939790" algn="r"/>
                        </a:tabLst>
                      </a:pPr>
                      <a:r>
                        <a:rPr lang="en-GB" sz="2000">
                          <a:effectLst/>
                          <a:latin typeface="Arial" panose="020B0604020202020204" pitchFamily="34" charset="0"/>
                          <a:cs typeface="Arial" panose="020B0604020202020204" pitchFamily="34" charset="0"/>
                        </a:rPr>
                        <a:t> </a:t>
                      </a:r>
                      <a:endParaRPr lang="en-GB" sz="200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tabLst>
                          <a:tab pos="630555" algn="l"/>
                          <a:tab pos="810260" algn="l"/>
                          <a:tab pos="1350645" algn="l"/>
                          <a:tab pos="1530350" algn="l"/>
                          <a:tab pos="1710690" algn="l"/>
                          <a:tab pos="5939790" algn="r"/>
                        </a:tabLst>
                      </a:pPr>
                      <a:r>
                        <a:rPr lang="en-GB" sz="2000">
                          <a:effectLst/>
                          <a:latin typeface="Arial" panose="020B0604020202020204" pitchFamily="34" charset="0"/>
                          <a:cs typeface="Arial" panose="020B0604020202020204" pitchFamily="34" charset="0"/>
                        </a:rPr>
                        <a:t> </a:t>
                      </a:r>
                      <a:endParaRPr lang="en-GB" sz="200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tabLst>
                          <a:tab pos="630555" algn="l"/>
                          <a:tab pos="810260" algn="l"/>
                          <a:tab pos="1350645" algn="l"/>
                          <a:tab pos="1530350" algn="l"/>
                          <a:tab pos="1710690" algn="l"/>
                          <a:tab pos="5939790" algn="r"/>
                        </a:tabLst>
                      </a:pPr>
                      <a:r>
                        <a:rPr lang="en-GB" sz="2000">
                          <a:effectLst/>
                          <a:latin typeface="Arial" panose="020B0604020202020204" pitchFamily="34" charset="0"/>
                          <a:cs typeface="Arial" panose="020B0604020202020204" pitchFamily="34" charset="0"/>
                        </a:rPr>
                        <a:t>2</a:t>
                      </a:r>
                      <a:endParaRPr lang="en-GB" sz="200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tabLst>
                          <a:tab pos="630555" algn="l"/>
                          <a:tab pos="810260" algn="l"/>
                          <a:tab pos="1350645" algn="l"/>
                          <a:tab pos="1530350" algn="l"/>
                          <a:tab pos="1710690" algn="l"/>
                          <a:tab pos="5939790" algn="r"/>
                        </a:tabLst>
                      </a:pPr>
                      <a:r>
                        <a:rPr lang="en-GB" sz="2000">
                          <a:effectLst/>
                          <a:latin typeface="Arial" panose="020B0604020202020204" pitchFamily="34" charset="0"/>
                          <a:cs typeface="Arial" panose="020B0604020202020204" pitchFamily="34" charset="0"/>
                        </a:rPr>
                        <a:t> </a:t>
                      </a:r>
                      <a:endParaRPr lang="en-GB" sz="200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mpd="sng">
                      <a:noFill/>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4252884321"/>
                  </a:ext>
                </a:extLst>
              </a:tr>
              <a:tr h="559053">
                <a:tc>
                  <a:txBody>
                    <a:bodyPr/>
                    <a:lstStyle/>
                    <a:p>
                      <a:pPr algn="ctr">
                        <a:spcAft>
                          <a:spcPts val="0"/>
                        </a:spcAft>
                        <a:tabLst>
                          <a:tab pos="630555" algn="l"/>
                          <a:tab pos="810260" algn="l"/>
                          <a:tab pos="1350645" algn="l"/>
                          <a:tab pos="1530350" algn="l"/>
                          <a:tab pos="1710690" algn="l"/>
                          <a:tab pos="5939790" algn="r"/>
                        </a:tabLst>
                      </a:pPr>
                      <a:r>
                        <a:rPr lang="en-GB" sz="2000" dirty="0">
                          <a:effectLst/>
                          <a:latin typeface="Arial" panose="020B0604020202020204" pitchFamily="34" charset="0"/>
                          <a:cs typeface="Arial" panose="020B0604020202020204" pitchFamily="34" charset="0"/>
                        </a:rPr>
                        <a:t>100</a:t>
                      </a:r>
                      <a:endParaRPr lang="en-GB" sz="2000" dirty="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mpd="sng">
                      <a:noFill/>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solidFill>
                      <a:srgbClr val="2F586A"/>
                    </a:solidFill>
                  </a:tcPr>
                </a:tc>
                <a:tc>
                  <a:txBody>
                    <a:bodyPr/>
                    <a:lstStyle/>
                    <a:p>
                      <a:pPr algn="ctr">
                        <a:spcAft>
                          <a:spcPts val="0"/>
                        </a:spcAft>
                        <a:tabLst>
                          <a:tab pos="630555" algn="l"/>
                          <a:tab pos="810260" algn="l"/>
                          <a:tab pos="1350645" algn="l"/>
                          <a:tab pos="1530350" algn="l"/>
                          <a:tab pos="1710690" algn="l"/>
                          <a:tab pos="5939790" algn="r"/>
                        </a:tabLst>
                      </a:pPr>
                      <a:r>
                        <a:rPr lang="en-GB" sz="2000" dirty="0">
                          <a:effectLst/>
                          <a:latin typeface="Arial" panose="020B0604020202020204" pitchFamily="34" charset="0"/>
                          <a:cs typeface="Arial" panose="020B0604020202020204" pitchFamily="34" charset="0"/>
                        </a:rPr>
                        <a:t> </a:t>
                      </a:r>
                      <a:endParaRPr lang="en-GB" sz="2000" dirty="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tabLst>
                          <a:tab pos="630555" algn="l"/>
                          <a:tab pos="810260" algn="l"/>
                          <a:tab pos="1350645" algn="l"/>
                          <a:tab pos="1530350" algn="l"/>
                          <a:tab pos="1710690" algn="l"/>
                          <a:tab pos="5939790" algn="r"/>
                        </a:tabLst>
                      </a:pPr>
                      <a:r>
                        <a:rPr lang="en-GB" sz="2000" dirty="0">
                          <a:effectLst/>
                          <a:latin typeface="Arial" panose="020B0604020202020204" pitchFamily="34" charset="0"/>
                          <a:cs typeface="Arial" panose="020B0604020202020204" pitchFamily="34" charset="0"/>
                        </a:rPr>
                        <a:t> </a:t>
                      </a:r>
                      <a:endParaRPr lang="en-GB" sz="2000" dirty="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tabLst>
                          <a:tab pos="630555" algn="l"/>
                          <a:tab pos="810260" algn="l"/>
                          <a:tab pos="1350645" algn="l"/>
                          <a:tab pos="1530350" algn="l"/>
                          <a:tab pos="1710690" algn="l"/>
                          <a:tab pos="5939790" algn="r"/>
                        </a:tabLst>
                      </a:pPr>
                      <a:r>
                        <a:rPr lang="en-GB" sz="2000">
                          <a:effectLst/>
                          <a:latin typeface="Arial" panose="020B0604020202020204" pitchFamily="34" charset="0"/>
                          <a:cs typeface="Arial" panose="020B0604020202020204" pitchFamily="34" charset="0"/>
                        </a:rPr>
                        <a:t> </a:t>
                      </a:r>
                      <a:endParaRPr lang="en-GB" sz="200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tabLst>
                          <a:tab pos="630555" algn="l"/>
                          <a:tab pos="810260" algn="l"/>
                          <a:tab pos="1350645" algn="l"/>
                          <a:tab pos="1530350" algn="l"/>
                          <a:tab pos="1710690" algn="l"/>
                          <a:tab pos="5939790" algn="r"/>
                        </a:tabLst>
                      </a:pPr>
                      <a:r>
                        <a:rPr lang="en-GB" sz="2000">
                          <a:effectLst/>
                          <a:latin typeface="Arial" panose="020B0604020202020204" pitchFamily="34" charset="0"/>
                          <a:cs typeface="Arial" panose="020B0604020202020204" pitchFamily="34" charset="0"/>
                        </a:rPr>
                        <a:t>2</a:t>
                      </a:r>
                      <a:endParaRPr lang="en-GB" sz="200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tabLst>
                          <a:tab pos="630555" algn="l"/>
                          <a:tab pos="810260" algn="l"/>
                          <a:tab pos="1350645" algn="l"/>
                          <a:tab pos="1530350" algn="l"/>
                          <a:tab pos="1710690" algn="l"/>
                          <a:tab pos="5939790" algn="r"/>
                        </a:tabLst>
                      </a:pPr>
                      <a:r>
                        <a:rPr lang="en-GB" sz="2000">
                          <a:effectLst/>
                          <a:latin typeface="Arial" panose="020B0604020202020204" pitchFamily="34" charset="0"/>
                          <a:cs typeface="Arial" panose="020B0604020202020204" pitchFamily="34" charset="0"/>
                        </a:rPr>
                        <a:t> </a:t>
                      </a:r>
                      <a:endParaRPr lang="en-GB" sz="200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mpd="sng">
                      <a:noFill/>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3095726874"/>
                  </a:ext>
                </a:extLst>
              </a:tr>
              <a:tr h="559053">
                <a:tc>
                  <a:txBody>
                    <a:bodyPr/>
                    <a:lstStyle/>
                    <a:p>
                      <a:pPr algn="ctr">
                        <a:spcAft>
                          <a:spcPts val="0"/>
                        </a:spcAft>
                        <a:tabLst>
                          <a:tab pos="630555" algn="l"/>
                          <a:tab pos="810260" algn="l"/>
                          <a:tab pos="1350645" algn="l"/>
                          <a:tab pos="1530350" algn="l"/>
                          <a:tab pos="1710690" algn="l"/>
                          <a:tab pos="5939790" algn="r"/>
                        </a:tabLst>
                      </a:pPr>
                      <a:r>
                        <a:rPr lang="en-GB" sz="2000" dirty="0">
                          <a:effectLst/>
                          <a:latin typeface="Arial" panose="020B0604020202020204" pitchFamily="34" charset="0"/>
                          <a:cs typeface="Arial" panose="020B0604020202020204" pitchFamily="34" charset="0"/>
                        </a:rPr>
                        <a:t>1000</a:t>
                      </a:r>
                      <a:endParaRPr lang="en-GB" sz="2000" dirty="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mpd="sng">
                      <a:noFill/>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solidFill>
                      <a:srgbClr val="2F586A"/>
                    </a:solidFill>
                  </a:tcPr>
                </a:tc>
                <a:tc>
                  <a:txBody>
                    <a:bodyPr/>
                    <a:lstStyle/>
                    <a:p>
                      <a:pPr algn="ctr">
                        <a:spcAft>
                          <a:spcPts val="0"/>
                        </a:spcAft>
                        <a:tabLst>
                          <a:tab pos="630555" algn="l"/>
                          <a:tab pos="810260" algn="l"/>
                          <a:tab pos="1350645" algn="l"/>
                          <a:tab pos="1530350" algn="l"/>
                          <a:tab pos="1710690" algn="l"/>
                          <a:tab pos="5939790" algn="r"/>
                        </a:tabLst>
                      </a:pPr>
                      <a:r>
                        <a:rPr lang="en-GB" sz="2000">
                          <a:effectLst/>
                          <a:latin typeface="Arial" panose="020B0604020202020204" pitchFamily="34" charset="0"/>
                          <a:cs typeface="Arial" panose="020B0604020202020204" pitchFamily="34" charset="0"/>
                        </a:rPr>
                        <a:t> </a:t>
                      </a:r>
                      <a:endParaRPr lang="en-GB" sz="200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tabLst>
                          <a:tab pos="630555" algn="l"/>
                          <a:tab pos="810260" algn="l"/>
                          <a:tab pos="1350645" algn="l"/>
                          <a:tab pos="1530350" algn="l"/>
                          <a:tab pos="1710690" algn="l"/>
                          <a:tab pos="5939790" algn="r"/>
                        </a:tabLst>
                      </a:pPr>
                      <a:r>
                        <a:rPr lang="en-GB" sz="2000" dirty="0">
                          <a:effectLst/>
                          <a:latin typeface="Arial" panose="020B0604020202020204" pitchFamily="34" charset="0"/>
                          <a:cs typeface="Arial" panose="020B0604020202020204" pitchFamily="34" charset="0"/>
                        </a:rPr>
                        <a:t> </a:t>
                      </a:r>
                      <a:endParaRPr lang="en-GB" sz="2000" dirty="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tabLst>
                          <a:tab pos="630555" algn="l"/>
                          <a:tab pos="810260" algn="l"/>
                          <a:tab pos="1350645" algn="l"/>
                          <a:tab pos="1530350" algn="l"/>
                          <a:tab pos="1710690" algn="l"/>
                          <a:tab pos="5939790" algn="r"/>
                        </a:tabLst>
                      </a:pPr>
                      <a:r>
                        <a:rPr lang="en-GB" sz="2000" dirty="0">
                          <a:effectLst/>
                          <a:latin typeface="Arial" panose="020B0604020202020204" pitchFamily="34" charset="0"/>
                          <a:cs typeface="Arial" panose="020B0604020202020204" pitchFamily="34" charset="0"/>
                        </a:rPr>
                        <a:t> </a:t>
                      </a:r>
                      <a:endParaRPr lang="en-GB" sz="2000" dirty="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tabLst>
                          <a:tab pos="630555" algn="l"/>
                          <a:tab pos="810260" algn="l"/>
                          <a:tab pos="1350645" algn="l"/>
                          <a:tab pos="1530350" algn="l"/>
                          <a:tab pos="1710690" algn="l"/>
                          <a:tab pos="5939790" algn="r"/>
                        </a:tabLst>
                      </a:pPr>
                      <a:r>
                        <a:rPr lang="en-GB" sz="2000" dirty="0">
                          <a:effectLst/>
                          <a:latin typeface="Arial" panose="020B0604020202020204" pitchFamily="34" charset="0"/>
                          <a:cs typeface="Arial" panose="020B0604020202020204" pitchFamily="34" charset="0"/>
                        </a:rPr>
                        <a:t>2</a:t>
                      </a:r>
                      <a:endParaRPr lang="en-GB" sz="2000" dirty="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tabLst>
                          <a:tab pos="630555" algn="l"/>
                          <a:tab pos="810260" algn="l"/>
                          <a:tab pos="1350645" algn="l"/>
                          <a:tab pos="1530350" algn="l"/>
                          <a:tab pos="1710690" algn="l"/>
                          <a:tab pos="5939790" algn="r"/>
                        </a:tabLst>
                      </a:pPr>
                      <a:r>
                        <a:rPr lang="en-GB" sz="2000" dirty="0">
                          <a:effectLst/>
                          <a:latin typeface="Arial" panose="020B0604020202020204" pitchFamily="34" charset="0"/>
                          <a:cs typeface="Arial" panose="020B0604020202020204" pitchFamily="34" charset="0"/>
                        </a:rPr>
                        <a:t> </a:t>
                      </a:r>
                      <a:endParaRPr lang="en-GB" sz="2000" dirty="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mpd="sng">
                      <a:noFill/>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3999935822"/>
                  </a:ext>
                </a:extLst>
              </a:tr>
              <a:tr h="559053">
                <a:tc>
                  <a:txBody>
                    <a:bodyPr/>
                    <a:lstStyle/>
                    <a:p>
                      <a:pPr algn="ctr">
                        <a:spcAft>
                          <a:spcPts val="0"/>
                        </a:spcAft>
                        <a:tabLst>
                          <a:tab pos="630555" algn="l"/>
                          <a:tab pos="810260" algn="l"/>
                          <a:tab pos="1350645" algn="l"/>
                          <a:tab pos="1530350" algn="l"/>
                          <a:tab pos="1710690" algn="l"/>
                          <a:tab pos="5939790" algn="r"/>
                        </a:tabLst>
                      </a:pPr>
                      <a:r>
                        <a:rPr lang="en-GB" sz="2000" dirty="0">
                          <a:effectLst/>
                          <a:latin typeface="Arial" panose="020B0604020202020204" pitchFamily="34" charset="0"/>
                          <a:cs typeface="Arial" panose="020B0604020202020204" pitchFamily="34" charset="0"/>
                        </a:rPr>
                        <a:t>10,000</a:t>
                      </a:r>
                      <a:endParaRPr lang="en-GB" sz="2000" dirty="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mpd="sng">
                      <a:noFill/>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solidFill>
                      <a:srgbClr val="2F586A"/>
                    </a:solidFill>
                  </a:tcPr>
                </a:tc>
                <a:tc>
                  <a:txBody>
                    <a:bodyPr/>
                    <a:lstStyle/>
                    <a:p>
                      <a:pPr algn="ctr">
                        <a:spcAft>
                          <a:spcPts val="0"/>
                        </a:spcAft>
                        <a:tabLst>
                          <a:tab pos="630555" algn="l"/>
                          <a:tab pos="810260" algn="l"/>
                          <a:tab pos="1350645" algn="l"/>
                          <a:tab pos="1530350" algn="l"/>
                          <a:tab pos="1710690" algn="l"/>
                          <a:tab pos="5939790" algn="r"/>
                        </a:tabLst>
                      </a:pPr>
                      <a:r>
                        <a:rPr lang="en-GB" sz="2000" dirty="0">
                          <a:effectLst/>
                          <a:latin typeface="Arial" panose="020B0604020202020204" pitchFamily="34" charset="0"/>
                          <a:cs typeface="Arial" panose="020B0604020202020204" pitchFamily="34" charset="0"/>
                        </a:rPr>
                        <a:t> </a:t>
                      </a:r>
                      <a:endParaRPr lang="en-GB" sz="2000" dirty="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tabLst>
                          <a:tab pos="630555" algn="l"/>
                          <a:tab pos="810260" algn="l"/>
                          <a:tab pos="1350645" algn="l"/>
                          <a:tab pos="1530350" algn="l"/>
                          <a:tab pos="1710690" algn="l"/>
                          <a:tab pos="5939790" algn="r"/>
                        </a:tabLst>
                      </a:pPr>
                      <a:r>
                        <a:rPr lang="en-GB" sz="2000" dirty="0">
                          <a:effectLst/>
                          <a:latin typeface="Arial" panose="020B0604020202020204" pitchFamily="34" charset="0"/>
                          <a:cs typeface="Arial" panose="020B0604020202020204" pitchFamily="34" charset="0"/>
                        </a:rPr>
                        <a:t> </a:t>
                      </a:r>
                      <a:endParaRPr lang="en-GB" sz="2000" dirty="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tabLst>
                          <a:tab pos="630555" algn="l"/>
                          <a:tab pos="810260" algn="l"/>
                          <a:tab pos="1350645" algn="l"/>
                          <a:tab pos="1530350" algn="l"/>
                          <a:tab pos="1710690" algn="l"/>
                          <a:tab pos="5939790" algn="r"/>
                        </a:tabLst>
                      </a:pPr>
                      <a:r>
                        <a:rPr lang="en-GB" sz="2000" dirty="0">
                          <a:effectLst/>
                          <a:latin typeface="Arial" panose="020B0604020202020204" pitchFamily="34" charset="0"/>
                          <a:cs typeface="Arial" panose="020B0604020202020204" pitchFamily="34" charset="0"/>
                        </a:rPr>
                        <a:t> </a:t>
                      </a:r>
                      <a:endParaRPr lang="en-GB" sz="2000" dirty="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tabLst>
                          <a:tab pos="630555" algn="l"/>
                          <a:tab pos="810260" algn="l"/>
                          <a:tab pos="1350645" algn="l"/>
                          <a:tab pos="1530350" algn="l"/>
                          <a:tab pos="1710690" algn="l"/>
                          <a:tab pos="5939790" algn="r"/>
                        </a:tabLst>
                      </a:pPr>
                      <a:r>
                        <a:rPr lang="en-GB" sz="2000">
                          <a:effectLst/>
                          <a:latin typeface="Arial" panose="020B0604020202020204" pitchFamily="34" charset="0"/>
                          <a:cs typeface="Arial" panose="020B0604020202020204" pitchFamily="34" charset="0"/>
                        </a:rPr>
                        <a:t>2</a:t>
                      </a:r>
                      <a:endParaRPr lang="en-GB" sz="200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ap="flat" cmpd="sng" algn="ctr">
                      <a:solidFill>
                        <a:srgbClr val="2F586A"/>
                      </a:solidFill>
                      <a:prstDash val="solid"/>
                      <a:round/>
                      <a:headEnd type="none" w="med" len="med"/>
                      <a:tailEnd type="none" w="med" len="med"/>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tabLst>
                          <a:tab pos="630555" algn="l"/>
                          <a:tab pos="810260" algn="l"/>
                          <a:tab pos="1350645" algn="l"/>
                          <a:tab pos="1530350" algn="l"/>
                          <a:tab pos="1710690" algn="l"/>
                          <a:tab pos="5939790" algn="r"/>
                        </a:tabLst>
                      </a:pPr>
                      <a:r>
                        <a:rPr lang="en-GB" sz="2000" dirty="0">
                          <a:effectLst/>
                          <a:latin typeface="Arial" panose="020B0604020202020204" pitchFamily="34" charset="0"/>
                          <a:cs typeface="Arial" panose="020B0604020202020204" pitchFamily="34" charset="0"/>
                        </a:rPr>
                        <a:t> </a:t>
                      </a:r>
                      <a:endParaRPr lang="en-GB" sz="2000" dirty="0">
                        <a:effectLst/>
                        <a:latin typeface="Arial" panose="020B0604020202020204" pitchFamily="34" charset="0"/>
                        <a:ea typeface="SimSun" panose="02010600030101010101" pitchFamily="2" charset="-122"/>
                        <a:cs typeface="Arial" panose="020B0604020202020204" pitchFamily="34" charset="0"/>
                      </a:endParaRPr>
                    </a:p>
                  </a:txBody>
                  <a:tcPr marL="87876" marR="87876" marT="0" marB="0" anchor="ctr">
                    <a:lnL w="12700" cap="flat" cmpd="sng" algn="ctr">
                      <a:solidFill>
                        <a:srgbClr val="2F586A"/>
                      </a:solidFill>
                      <a:prstDash val="solid"/>
                      <a:round/>
                      <a:headEnd type="none" w="med" len="med"/>
                      <a:tailEnd type="none" w="med" len="med"/>
                    </a:lnL>
                    <a:lnR w="12700" cmpd="sng">
                      <a:noFill/>
                    </a:lnR>
                    <a:lnT w="12700" cap="flat" cmpd="sng" algn="ctr">
                      <a:solidFill>
                        <a:srgbClr val="2F586A"/>
                      </a:solidFill>
                      <a:prstDash val="solid"/>
                      <a:round/>
                      <a:headEnd type="none" w="med" len="med"/>
                      <a:tailEnd type="none" w="med" len="med"/>
                    </a:lnT>
                    <a:lnB w="12700" cap="flat" cmpd="sng" algn="ctr">
                      <a:solidFill>
                        <a:srgbClr val="2F586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3636279882"/>
                  </a:ext>
                </a:extLst>
              </a:tr>
            </a:tbl>
          </a:graphicData>
        </a:graphic>
      </p:graphicFrame>
    </p:spTree>
    <p:extLst>
      <p:ext uri="{BB962C8B-B14F-4D97-AF65-F5344CB8AC3E}">
        <p14:creationId xmlns:p14="http://schemas.microsoft.com/office/powerpoint/2010/main" val="38143025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Permutations</a:t>
            </a: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2985249" y="4688543"/>
            <a:ext cx="3048000" cy="1909482"/>
          </a:xfrm>
          <a:prstGeom prst="rect">
            <a:avLst/>
          </a:prstGeom>
        </p:spPr>
      </p:pic>
      <p:sp>
        <p:nvSpPr>
          <p:cNvPr id="5" name="Text Placeholder 4"/>
          <p:cNvSpPr>
            <a:spLocks noGrp="1"/>
          </p:cNvSpPr>
          <p:nvPr>
            <p:ph type="body" sz="quarter" idx="14"/>
          </p:nvPr>
        </p:nvSpPr>
        <p:spPr/>
        <p:txBody>
          <a:bodyPr/>
          <a:lstStyle/>
          <a:p>
            <a:r>
              <a:rPr lang="en-GB" dirty="0"/>
              <a:t>A permutation of </a:t>
            </a:r>
            <a:r>
              <a:rPr lang="en-GB" dirty="0">
                <a:solidFill>
                  <a:srgbClr val="2F586A"/>
                </a:solidFill>
              </a:rPr>
              <a:t>n</a:t>
            </a:r>
            <a:r>
              <a:rPr lang="en-GB" dirty="0"/>
              <a:t> items is the number of ways the n items can be arranged</a:t>
            </a:r>
          </a:p>
          <a:p>
            <a:r>
              <a:rPr lang="en-GB" dirty="0"/>
              <a:t>There are two types of permutation:</a:t>
            </a:r>
          </a:p>
          <a:p>
            <a:pPr lvl="1"/>
            <a:r>
              <a:rPr lang="en-GB" dirty="0"/>
              <a:t>Repetition allowed; for example, a combination lock with 4 digits 0 to 9</a:t>
            </a:r>
          </a:p>
          <a:p>
            <a:pPr lvl="1"/>
            <a:r>
              <a:rPr lang="en-GB" dirty="0"/>
              <a:t>No repetition allowed; for example, you have 4 </a:t>
            </a:r>
            <a:r>
              <a:rPr lang="en-GB" dirty="0" smtClean="0"/>
              <a:t>differently coloured </a:t>
            </a:r>
            <a:r>
              <a:rPr lang="en-GB" dirty="0"/>
              <a:t>balls in a bag, and you draw them out one at a time</a:t>
            </a:r>
          </a:p>
          <a:p>
            <a:pPr lvl="1"/>
            <a:endParaRPr lang="en-GB" dirty="0"/>
          </a:p>
        </p:txBody>
      </p:sp>
    </p:spTree>
    <p:extLst>
      <p:ext uri="{BB962C8B-B14F-4D97-AF65-F5344CB8AC3E}">
        <p14:creationId xmlns:p14="http://schemas.microsoft.com/office/powerpoint/2010/main" val="5851432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Permutations with repetition</a:t>
            </a:r>
          </a:p>
        </p:txBody>
      </p:sp>
      <p:sp>
        <p:nvSpPr>
          <p:cNvPr id="3" name="Text Placeholder 2"/>
          <p:cNvSpPr>
            <a:spLocks noGrp="1"/>
          </p:cNvSpPr>
          <p:nvPr>
            <p:ph type="body" sz="quarter" idx="14"/>
          </p:nvPr>
        </p:nvSpPr>
        <p:spPr/>
        <p:txBody>
          <a:bodyPr/>
          <a:lstStyle/>
          <a:p>
            <a:r>
              <a:rPr lang="en-GB" dirty="0"/>
              <a:t>Suppose you have a combination lock with 2 digits</a:t>
            </a:r>
          </a:p>
          <a:p>
            <a:pPr lvl="1"/>
            <a:r>
              <a:rPr lang="en-GB" dirty="0"/>
              <a:t>There are 10 possibilities for the first digit</a:t>
            </a:r>
          </a:p>
          <a:p>
            <a:r>
              <a:rPr lang="en-GB" dirty="0"/>
              <a:t>For each of these numbers, the second number can be any digit between 0 and 9</a:t>
            </a:r>
          </a:p>
          <a:p>
            <a:pPr lvl="1"/>
            <a:r>
              <a:rPr lang="en-GB" dirty="0"/>
              <a:t>00</a:t>
            </a:r>
            <a:r>
              <a:rPr lang="en-GB" dirty="0" smtClean="0"/>
              <a:t>, 01, 02, 03….. 09</a:t>
            </a:r>
            <a:endParaRPr lang="en-GB" dirty="0"/>
          </a:p>
          <a:p>
            <a:pPr lvl="1"/>
            <a:r>
              <a:rPr lang="en-GB" dirty="0"/>
              <a:t>10,11,12,13…. </a:t>
            </a:r>
            <a:r>
              <a:rPr lang="en-GB" dirty="0" smtClean="0"/>
              <a:t>19 …. …. 90, 91, 92, 93…..99</a:t>
            </a:r>
            <a:endParaRPr lang="en-GB" dirty="0"/>
          </a:p>
          <a:p>
            <a:r>
              <a:rPr lang="en-GB" dirty="0"/>
              <a:t>There are 100 ways of choosing just 2 digits!</a:t>
            </a:r>
          </a:p>
          <a:p>
            <a:pPr lvl="1"/>
            <a:r>
              <a:rPr lang="en-GB" dirty="0"/>
              <a:t>How many ways of choosing 3 digits? 4 digits? </a:t>
            </a:r>
          </a:p>
          <a:p>
            <a:r>
              <a:rPr lang="en-GB" dirty="0"/>
              <a:t>This problem is O(10</a:t>
            </a:r>
            <a:r>
              <a:rPr lang="en-GB" baseline="30000" dirty="0"/>
              <a:t>n</a:t>
            </a:r>
            <a:r>
              <a:rPr lang="en-GB" dirty="0" smtClean="0"/>
              <a:t>).  Can you explain why?</a:t>
            </a:r>
            <a:endParaRPr lang="en-GB" dirty="0"/>
          </a:p>
        </p:txBody>
      </p:sp>
    </p:spTree>
    <p:extLst>
      <p:ext uri="{BB962C8B-B14F-4D97-AF65-F5344CB8AC3E}">
        <p14:creationId xmlns:p14="http://schemas.microsoft.com/office/powerpoint/2010/main" val="40155513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Permutations with no repetition</a:t>
            </a:r>
          </a:p>
        </p:txBody>
      </p:sp>
      <p:sp>
        <p:nvSpPr>
          <p:cNvPr id="3" name="Text Placeholder 2"/>
          <p:cNvSpPr>
            <a:spLocks noGrp="1"/>
          </p:cNvSpPr>
          <p:nvPr>
            <p:ph type="body" sz="quarter" idx="14"/>
          </p:nvPr>
        </p:nvSpPr>
        <p:spPr>
          <a:xfrm>
            <a:off x="724280" y="1704179"/>
            <a:ext cx="7797230" cy="4524343"/>
          </a:xfrm>
        </p:spPr>
        <p:txBody>
          <a:bodyPr/>
          <a:lstStyle/>
          <a:p>
            <a:r>
              <a:rPr lang="en-GB" dirty="0"/>
              <a:t>Suppose you have a bag with 3 coloured balls, red, blue, green, and you pick out one at a time</a:t>
            </a:r>
          </a:p>
          <a:p>
            <a:r>
              <a:rPr lang="en-GB" dirty="0"/>
              <a:t>There are 3 possibilities for the first ball, two possibilities for the second ball, one for the third</a:t>
            </a:r>
          </a:p>
          <a:p>
            <a:pPr lvl="1"/>
            <a:r>
              <a:rPr lang="en-GB" dirty="0"/>
              <a:t>There are 3 x 2 x 1 ways of picking out the three balls</a:t>
            </a:r>
          </a:p>
          <a:p>
            <a:r>
              <a:rPr lang="en-GB" dirty="0" smtClean="0"/>
              <a:t>What if there were 5 differently coloured balls?  7 differently coloured balls?</a:t>
            </a:r>
          </a:p>
          <a:p>
            <a:r>
              <a:rPr lang="en-GB" dirty="0" smtClean="0"/>
              <a:t>Can you generalise the formula to show the </a:t>
            </a:r>
            <a:r>
              <a:rPr lang="en-GB" dirty="0"/>
              <a:t>time complexity of an algorithm that prints out all the ways of picking </a:t>
            </a:r>
            <a:r>
              <a:rPr lang="en-GB" dirty="0">
                <a:solidFill>
                  <a:srgbClr val="2F586A"/>
                </a:solidFill>
              </a:rPr>
              <a:t>n</a:t>
            </a:r>
            <a:r>
              <a:rPr lang="en-GB" dirty="0"/>
              <a:t> different coloured balls in different orders</a:t>
            </a:r>
            <a:r>
              <a:rPr lang="en-GB" dirty="0" smtClean="0"/>
              <a:t>?</a:t>
            </a:r>
          </a:p>
        </p:txBody>
      </p:sp>
    </p:spTree>
    <p:extLst>
      <p:ext uri="{BB962C8B-B14F-4D97-AF65-F5344CB8AC3E}">
        <p14:creationId xmlns:p14="http://schemas.microsoft.com/office/powerpoint/2010/main" val="8481468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Permutations with no repetition</a:t>
            </a:r>
          </a:p>
        </p:txBody>
      </p:sp>
      <p:sp>
        <p:nvSpPr>
          <p:cNvPr id="3" name="Text Placeholder 2"/>
          <p:cNvSpPr>
            <a:spLocks noGrp="1"/>
          </p:cNvSpPr>
          <p:nvPr>
            <p:ph type="body" sz="quarter" idx="14"/>
          </p:nvPr>
        </p:nvSpPr>
        <p:spPr>
          <a:xfrm>
            <a:off x="724280" y="1704179"/>
            <a:ext cx="7797230" cy="4524343"/>
          </a:xfrm>
        </p:spPr>
        <p:txBody>
          <a:bodyPr/>
          <a:lstStyle/>
          <a:p>
            <a:r>
              <a:rPr lang="en-GB" dirty="0"/>
              <a:t>There are 3! ways of picking or arranging 3 balls</a:t>
            </a:r>
          </a:p>
          <a:p>
            <a:pPr lvl="1"/>
            <a:r>
              <a:rPr lang="en-GB" dirty="0"/>
              <a:t>The time complexity of an algorithm to print out the different ways is O(n!)</a:t>
            </a:r>
          </a:p>
          <a:p>
            <a:endParaRPr lang="en-GB" dirty="0"/>
          </a:p>
          <a:p>
            <a:endParaRPr lang="en-GB" dirty="0"/>
          </a:p>
        </p:txBody>
      </p:sp>
      <p:pic>
        <p:nvPicPr>
          <p:cNvPr id="3074" name="Picture 2" descr="C:\Users\Rob\AppData\Roaming\PixelMetrics\CaptureWiz\Temp\1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9324" y="3120860"/>
            <a:ext cx="6927142" cy="3014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042198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724280" y="906233"/>
            <a:ext cx="7797230" cy="670772"/>
          </a:xfrm>
        </p:spPr>
        <p:txBody>
          <a:bodyPr/>
          <a:lstStyle/>
          <a:p>
            <a:r>
              <a:rPr lang="en-GB" dirty="0"/>
              <a:t>Comparison of time complexities</a:t>
            </a:r>
          </a:p>
        </p:txBody>
      </p:sp>
      <p:sp>
        <p:nvSpPr>
          <p:cNvPr id="3" name="Text Placeholder 2"/>
          <p:cNvSpPr>
            <a:spLocks noGrp="1"/>
          </p:cNvSpPr>
          <p:nvPr>
            <p:ph type="body" sz="quarter" idx="14"/>
          </p:nvPr>
        </p:nvSpPr>
        <p:spPr>
          <a:xfrm>
            <a:off x="724280" y="2014330"/>
            <a:ext cx="7797230" cy="3143456"/>
          </a:xfrm>
        </p:spPr>
        <p:txBody>
          <a:bodyPr/>
          <a:lstStyle/>
          <a:p>
            <a:pPr marL="0" indent="0">
              <a:buNone/>
            </a:pPr>
            <a:r>
              <a:rPr lang="en-GB" dirty="0"/>
              <a:t> </a:t>
            </a:r>
          </a:p>
        </p:txBody>
      </p:sp>
      <p:pic>
        <p:nvPicPr>
          <p:cNvPr id="4098" name="Picture 2" descr="C:\Users\Rob\AppData\Roaming\PixelMetrics\CaptureWiz\Temp\1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631" y="2173949"/>
            <a:ext cx="7661228" cy="39035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956456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Worksheet 2</a:t>
            </a:r>
          </a:p>
        </p:txBody>
      </p:sp>
      <p:sp>
        <p:nvSpPr>
          <p:cNvPr id="5" name="Text Placeholder 4"/>
          <p:cNvSpPr>
            <a:spLocks noGrp="1"/>
          </p:cNvSpPr>
          <p:nvPr>
            <p:ph type="body" sz="quarter" idx="14"/>
          </p:nvPr>
        </p:nvSpPr>
        <p:spPr/>
        <p:txBody>
          <a:bodyPr/>
          <a:lstStyle/>
          <a:p>
            <a:r>
              <a:rPr lang="en-GB" dirty="0"/>
              <a:t>Try the questions in </a:t>
            </a:r>
            <a:r>
              <a:rPr lang="en-GB" b="1" dirty="0"/>
              <a:t>Task 2</a:t>
            </a:r>
            <a:r>
              <a:rPr lang="en-GB" dirty="0"/>
              <a:t> of the worksheet</a:t>
            </a:r>
          </a:p>
        </p:txBody>
      </p:sp>
      <p:pic>
        <p:nvPicPr>
          <p:cNvPr id="5122" name="Picture 2" descr="C:\Users\Rob\AppData\Roaming\PixelMetrics\CaptureWiz\Temp\17.png"/>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4834" y="2675057"/>
            <a:ext cx="7836120" cy="1753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578751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Plenary</a:t>
            </a:r>
          </a:p>
        </p:txBody>
      </p:sp>
      <p:sp>
        <p:nvSpPr>
          <p:cNvPr id="5" name="Text Placeholder 4"/>
          <p:cNvSpPr>
            <a:spLocks noGrp="1"/>
          </p:cNvSpPr>
          <p:nvPr>
            <p:ph type="body" sz="quarter" idx="14"/>
          </p:nvPr>
        </p:nvSpPr>
        <p:spPr/>
        <p:txBody>
          <a:bodyPr/>
          <a:lstStyle/>
          <a:p>
            <a:r>
              <a:rPr lang="en-GB" dirty="0"/>
              <a:t>Big-O notation is used to compare the time complexity of different </a:t>
            </a:r>
            <a:r>
              <a:rPr lang="en-GB" dirty="0" smtClean="0"/>
              <a:t>algorithms</a:t>
            </a:r>
          </a:p>
          <a:p>
            <a:pPr lvl="1"/>
            <a:r>
              <a:rPr lang="en-GB" dirty="0"/>
              <a:t>It describes how fast the runtime increases as the number of items to be processed </a:t>
            </a:r>
            <a:r>
              <a:rPr lang="en-GB" dirty="0" smtClean="0"/>
              <a:t>increases</a:t>
            </a:r>
            <a:endParaRPr lang="en-GB" dirty="0"/>
          </a:p>
          <a:p>
            <a:r>
              <a:rPr lang="en-GB" dirty="0"/>
              <a:t>Algorithms with time complexity O(n!) and O(2</a:t>
            </a:r>
            <a:r>
              <a:rPr lang="en-GB" baseline="30000" dirty="0"/>
              <a:t>n</a:t>
            </a:r>
            <a:r>
              <a:rPr lang="en-GB" dirty="0"/>
              <a:t>) are hopelessly inefficient for large values of n</a:t>
            </a:r>
          </a:p>
          <a:p>
            <a:r>
              <a:rPr lang="en-GB" dirty="0"/>
              <a:t>Algorithms of O(log n) are extremely efficient for large values of n, with computation time increasing only slightly as the number of items doubles</a:t>
            </a:r>
          </a:p>
        </p:txBody>
      </p:sp>
    </p:spTree>
    <p:extLst>
      <p:ext uri="{BB962C8B-B14F-4D97-AF65-F5344CB8AC3E}">
        <p14:creationId xmlns:p14="http://schemas.microsoft.com/office/powerpoint/2010/main" val="218933211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Calculating Big-O</a:t>
            </a:r>
          </a:p>
        </p:txBody>
      </p:sp>
      <p:sp>
        <p:nvSpPr>
          <p:cNvPr id="3" name="Text Placeholder 2"/>
          <p:cNvSpPr>
            <a:spLocks noGrp="1"/>
          </p:cNvSpPr>
          <p:nvPr>
            <p:ph type="body" sz="quarter" idx="14"/>
          </p:nvPr>
        </p:nvSpPr>
        <p:spPr>
          <a:xfrm>
            <a:off x="724280" y="1704179"/>
            <a:ext cx="7797230" cy="3874986"/>
          </a:xfrm>
        </p:spPr>
        <p:txBody>
          <a:bodyPr/>
          <a:lstStyle/>
          <a:p>
            <a:r>
              <a:rPr lang="en-GB" dirty="0"/>
              <a:t>To calculate the order of an algorithm in Big-O notation, count the number of assignment statements in the algorithm</a:t>
            </a:r>
          </a:p>
          <a:p>
            <a:r>
              <a:rPr lang="en-GB" dirty="0"/>
              <a:t>Three assignment statements in two nested FOR loops each of length </a:t>
            </a:r>
            <a:r>
              <a:rPr lang="en-GB" dirty="0">
                <a:solidFill>
                  <a:srgbClr val="956320"/>
                </a:solidFill>
              </a:rPr>
              <a:t>n</a:t>
            </a:r>
            <a:r>
              <a:rPr lang="en-GB" dirty="0"/>
              <a:t>, for example, is </a:t>
            </a:r>
            <a:r>
              <a:rPr lang="en-GB" dirty="0">
                <a:solidFill>
                  <a:srgbClr val="956320"/>
                </a:solidFill>
              </a:rPr>
              <a:t>3n</a:t>
            </a:r>
            <a:r>
              <a:rPr lang="en-GB" baseline="30000" dirty="0">
                <a:solidFill>
                  <a:srgbClr val="956320"/>
                </a:solidFill>
              </a:rPr>
              <a:t>2</a:t>
            </a:r>
            <a:r>
              <a:rPr lang="en-GB" dirty="0"/>
              <a:t> statements</a:t>
            </a:r>
          </a:p>
          <a:p>
            <a:r>
              <a:rPr lang="en-GB" dirty="0"/>
              <a:t>Only the dominant term is significant, and any constant coefficient is ignored, so if there are, say,        </a:t>
            </a:r>
            <a:r>
              <a:rPr lang="en-GB" dirty="0">
                <a:solidFill>
                  <a:srgbClr val="956320"/>
                </a:solidFill>
              </a:rPr>
              <a:t>3n</a:t>
            </a:r>
            <a:r>
              <a:rPr lang="en-GB" baseline="30000" dirty="0">
                <a:solidFill>
                  <a:srgbClr val="956320"/>
                </a:solidFill>
              </a:rPr>
              <a:t>2</a:t>
            </a:r>
            <a:r>
              <a:rPr lang="en-GB" dirty="0">
                <a:solidFill>
                  <a:srgbClr val="956320"/>
                </a:solidFill>
              </a:rPr>
              <a:t> + 5n + 2 </a:t>
            </a:r>
            <a:r>
              <a:rPr lang="en-GB" dirty="0"/>
              <a:t>statements, the </a:t>
            </a:r>
            <a:r>
              <a:rPr lang="en-GB" dirty="0">
                <a:solidFill>
                  <a:srgbClr val="956320"/>
                </a:solidFill>
              </a:rPr>
              <a:t>time complexity is O(n</a:t>
            </a:r>
            <a:r>
              <a:rPr lang="en-GB" baseline="30000" dirty="0">
                <a:solidFill>
                  <a:srgbClr val="956320"/>
                </a:solidFill>
              </a:rPr>
              <a:t>2</a:t>
            </a:r>
            <a:r>
              <a:rPr lang="en-GB" dirty="0">
                <a:solidFill>
                  <a:srgbClr val="956320"/>
                </a:solidFill>
              </a:rPr>
              <a:t>)</a:t>
            </a:r>
          </a:p>
        </p:txBody>
      </p:sp>
    </p:spTree>
    <p:extLst>
      <p:ext uri="{BB962C8B-B14F-4D97-AF65-F5344CB8AC3E}">
        <p14:creationId xmlns:p14="http://schemas.microsoft.com/office/powerpoint/2010/main" val="327357947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5353386"/>
      </p:ext>
    </p:extLst>
  </p:cSld>
  <p:clrMapOvr>
    <a:masterClrMapping/>
  </p:clrMapOvr>
</p:sld>
</file>

<file path=ppt/theme/theme1.xml><?xml version="1.0" encoding="utf-8"?>
<a:theme xmlns:a="http://schemas.openxmlformats.org/drawingml/2006/main" name="Unit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738AE6DF-F973-4CB3-9863-413381C13437}" vid="{8A57B9FA-CF29-4BAE-96E5-0FA2E85487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Unit 8</Template>
  <TotalTime>10992</TotalTime>
  <Words>1121</Words>
  <Application>Microsoft Office PowerPoint</Application>
  <PresentationFormat>On-screen Show (4:3)</PresentationFormat>
  <Paragraphs>170</Paragraphs>
  <Slides>23</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Museo 100</vt:lpstr>
      <vt:lpstr>Consolas</vt:lpstr>
      <vt:lpstr>Museo900-Regular</vt:lpstr>
      <vt:lpstr>Calibri</vt:lpstr>
      <vt:lpstr>Museo 500</vt:lpstr>
      <vt:lpstr>Museo 900</vt:lpstr>
      <vt:lpstr>Museo 700</vt:lpstr>
      <vt:lpstr>SimSun</vt:lpstr>
      <vt:lpstr>Wingdings</vt:lpstr>
      <vt:lpstr>Arial</vt:lpstr>
      <vt:lpstr>Unit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PG Online 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Leonora Sheppard</dc:creator>
  <cp:lastModifiedBy>Patricia Heathcote</cp:lastModifiedBy>
  <cp:revision>118</cp:revision>
  <dcterms:created xsi:type="dcterms:W3CDTF">2015-10-07T15:45:11Z</dcterms:created>
  <dcterms:modified xsi:type="dcterms:W3CDTF">2016-11-29T07:23:41Z</dcterms:modified>
</cp:coreProperties>
</file>