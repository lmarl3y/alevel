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42"/>
  </p:notesMasterIdLst>
  <p:sldIdLst>
    <p:sldId id="256" r:id="rId2"/>
    <p:sldId id="310" r:id="rId3"/>
    <p:sldId id="263" r:id="rId4"/>
    <p:sldId id="269" r:id="rId5"/>
    <p:sldId id="305" r:id="rId6"/>
    <p:sldId id="271" r:id="rId7"/>
    <p:sldId id="275" r:id="rId8"/>
    <p:sldId id="291" r:id="rId9"/>
    <p:sldId id="276" r:id="rId10"/>
    <p:sldId id="277" r:id="rId11"/>
    <p:sldId id="311" r:id="rId12"/>
    <p:sldId id="312" r:id="rId13"/>
    <p:sldId id="278" r:id="rId14"/>
    <p:sldId id="264" r:id="rId15"/>
    <p:sldId id="289" r:id="rId16"/>
    <p:sldId id="279" r:id="rId17"/>
    <p:sldId id="290" r:id="rId18"/>
    <p:sldId id="313" r:id="rId19"/>
    <p:sldId id="315" r:id="rId20"/>
    <p:sldId id="292" r:id="rId21"/>
    <p:sldId id="272" r:id="rId22"/>
    <p:sldId id="294" r:id="rId23"/>
    <p:sldId id="286" r:id="rId24"/>
    <p:sldId id="287" r:id="rId25"/>
    <p:sldId id="288" r:id="rId26"/>
    <p:sldId id="314" r:id="rId27"/>
    <p:sldId id="303" r:id="rId28"/>
    <p:sldId id="296" r:id="rId29"/>
    <p:sldId id="265" r:id="rId30"/>
    <p:sldId id="307" r:id="rId31"/>
    <p:sldId id="267" r:id="rId32"/>
    <p:sldId id="306" r:id="rId33"/>
    <p:sldId id="268" r:id="rId34"/>
    <p:sldId id="304" r:id="rId35"/>
    <p:sldId id="309" r:id="rId36"/>
    <p:sldId id="298" r:id="rId37"/>
    <p:sldId id="308" r:id="rId38"/>
    <p:sldId id="299" r:id="rId39"/>
    <p:sldId id="300" r:id="rId40"/>
    <p:sldId id="301" r:id="rId41"/>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B49B88-8215-487D-89F2-9B6C8935C71B}" v="412" dt="2024-06-20T14:30:36.911"/>
    <p1510:client id="{E17EB9DF-7C22-4154-BAAB-F27D1295CA66}" v="4020" dt="2024-06-21T10:03:36.6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60" d="100"/>
          <a:sy n="60" d="100"/>
        </p:scale>
        <p:origin x="3120" y="11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BEB5F3B-BAF9-42BF-B76C-01C03105B0B4}" type="datetimeFigureOut">
              <a:rPr lang="en-GB" smtClean="0"/>
              <a:t>16/09/2025</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963E2FD5-82A7-44FA-A1AB-620FE0941BD3}" type="slidenum">
              <a:rPr lang="en-GB" smtClean="0"/>
              <a:t>‹#›</a:t>
            </a:fld>
            <a:endParaRPr lang="en-GB"/>
          </a:p>
        </p:txBody>
      </p:sp>
    </p:spTree>
    <p:extLst>
      <p:ext uri="{BB962C8B-B14F-4D97-AF65-F5344CB8AC3E}">
        <p14:creationId xmlns:p14="http://schemas.microsoft.com/office/powerpoint/2010/main" val="821848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0B79185-9353-4DAB-9524-C5D7FCC2B556}"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40CE1-F41B-4131-89E1-974CDB949EAE}" type="slidenum">
              <a:rPr lang="en-GB" smtClean="0"/>
              <a:t>‹#›</a:t>
            </a:fld>
            <a:endParaRPr lang="en-GB"/>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975851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B79185-9353-4DAB-9524-C5D7FCC2B556}"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40CE1-F41B-4131-89E1-974CDB949EAE}" type="slidenum">
              <a:rPr lang="en-GB" smtClean="0"/>
              <a:t>‹#›</a:t>
            </a:fld>
            <a:endParaRPr lang="en-GB"/>
          </a:p>
        </p:txBody>
      </p:sp>
    </p:spTree>
    <p:extLst>
      <p:ext uri="{BB962C8B-B14F-4D97-AF65-F5344CB8AC3E}">
        <p14:creationId xmlns:p14="http://schemas.microsoft.com/office/powerpoint/2010/main" val="3755536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B79185-9353-4DAB-9524-C5D7FCC2B556}"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40CE1-F41B-4131-89E1-974CDB949EAE}" type="slidenum">
              <a:rPr lang="en-GB" smtClean="0"/>
              <a:t>‹#›</a:t>
            </a:fld>
            <a:endParaRPr lang="en-GB"/>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023286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B79185-9353-4DAB-9524-C5D7FCC2B556}" type="datetimeFigureOut">
              <a:rPr lang="en-GB" smtClean="0"/>
              <a:t>16/09/2025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440CE1-F41B-4131-89E1-974CDB949EAE}" type="slidenum">
              <a:rPr lang="en-GB" smtClean="0"/>
              <a:t>‹#›</a:t>
            </a:fld>
            <a:endParaRPr lang="en-GB"/>
          </a:p>
        </p:txBody>
      </p:sp>
    </p:spTree>
    <p:extLst>
      <p:ext uri="{BB962C8B-B14F-4D97-AF65-F5344CB8AC3E}">
        <p14:creationId xmlns:p14="http://schemas.microsoft.com/office/powerpoint/2010/main" val="772130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B79185-9353-4DAB-9524-C5D7FCC2B556}" type="datetimeFigureOut">
              <a:rPr lang="en-GB" smtClean="0"/>
              <a:t>16/09/2025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8440CE1-F41B-4131-89E1-974CDB949EAE}" type="slidenum">
              <a:rPr lang="en-GB" smtClean="0"/>
              <a:t>‹#›</a:t>
            </a:fld>
            <a:endParaRPr lang="en-GB"/>
          </a:p>
        </p:txBody>
      </p:sp>
    </p:spTree>
    <p:extLst>
      <p:ext uri="{BB962C8B-B14F-4D97-AF65-F5344CB8AC3E}">
        <p14:creationId xmlns:p14="http://schemas.microsoft.com/office/powerpoint/2010/main" val="3757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B79185-9353-4DAB-9524-C5D7FCC2B556}" type="datetimeFigureOut">
              <a:rPr lang="en-GB" smtClean="0"/>
              <a:t>16/09/2025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8440CE1-F41B-4131-89E1-974CDB949EAE}" type="slidenum">
              <a:rPr lang="en-GB" smtClean="0"/>
              <a:t>‹#›</a:t>
            </a:fld>
            <a:endParaRPr lang="en-GB"/>
          </a:p>
        </p:txBody>
      </p:sp>
    </p:spTree>
    <p:extLst>
      <p:ext uri="{BB962C8B-B14F-4D97-AF65-F5344CB8AC3E}">
        <p14:creationId xmlns:p14="http://schemas.microsoft.com/office/powerpoint/2010/main" val="3698363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B79185-9353-4DAB-9524-C5D7FCC2B556}" type="datetimeFigureOut">
              <a:rPr lang="en-GB" smtClean="0"/>
              <a:t>16/09/2025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8440CE1-F41B-4131-89E1-974CDB949EAE}" type="slidenum">
              <a:rPr lang="en-GB" smtClean="0"/>
              <a:t>‹#›</a:t>
            </a:fld>
            <a:endParaRPr lang="en-GB"/>
          </a:p>
        </p:txBody>
      </p:sp>
    </p:spTree>
    <p:extLst>
      <p:ext uri="{BB962C8B-B14F-4D97-AF65-F5344CB8AC3E}">
        <p14:creationId xmlns:p14="http://schemas.microsoft.com/office/powerpoint/2010/main" val="2850200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0B79185-9353-4DAB-9524-C5D7FCC2B556}" type="datetimeFigureOut">
              <a:rPr lang="en-GB" smtClean="0"/>
              <a:t>16/09/2025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440CE1-F41B-4131-89E1-974CDB949EAE}" type="slidenum">
              <a:rPr lang="en-GB" smtClean="0"/>
              <a:t>‹#›</a:t>
            </a:fld>
            <a:endParaRPr lang="en-GB"/>
          </a:p>
        </p:txBody>
      </p:sp>
    </p:spTree>
    <p:extLst>
      <p:ext uri="{BB962C8B-B14F-4D97-AF65-F5344CB8AC3E}">
        <p14:creationId xmlns:p14="http://schemas.microsoft.com/office/powerpoint/2010/main" val="2407653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0B79185-9353-4DAB-9524-C5D7FCC2B556}" type="datetimeFigureOut">
              <a:rPr lang="en-GB" smtClean="0"/>
              <a:t>16/09/2025</a:t>
            </a:fld>
            <a:endParaRPr lang="en-GB"/>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440CE1-F41B-4131-89E1-974CDB949EAE}" type="slidenum">
              <a:rPr lang="en-GB" smtClean="0"/>
              <a:t>‹#›</a:t>
            </a:fld>
            <a:endParaRPr lang="en-GB"/>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055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B79185-9353-4DAB-9524-C5D7FCC2B556}"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40CE1-F41B-4131-89E1-974CDB949EAE}" type="slidenum">
              <a:rPr lang="en-GB" smtClean="0"/>
              <a:t>‹#›</a:t>
            </a:fld>
            <a:endParaRPr lang="en-GB"/>
          </a:p>
        </p:txBody>
      </p:sp>
    </p:spTree>
    <p:extLst>
      <p:ext uri="{BB962C8B-B14F-4D97-AF65-F5344CB8AC3E}">
        <p14:creationId xmlns:p14="http://schemas.microsoft.com/office/powerpoint/2010/main" val="840469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B79185-9353-4DAB-9524-C5D7FCC2B556}" type="datetimeFigureOut">
              <a:rPr lang="en-GB" smtClean="0"/>
              <a:t>16/09/2025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40CE1-F41B-4131-89E1-974CDB949EAE}" type="slidenum">
              <a:rPr lang="en-GB" smtClean="0"/>
              <a:t>‹#›</a:t>
            </a:fld>
            <a:endParaRPr lang="en-GB"/>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206045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0B79185-9353-4DAB-9524-C5D7FCC2B556}" type="datetimeFigureOut">
              <a:rPr lang="en-GB" smtClean="0"/>
              <a:t>16/09/2025</a:t>
            </a:fld>
            <a:endParaRPr lang="en-GB"/>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8440CE1-F41B-4131-89E1-974CDB949EAE}" type="slidenum">
              <a:rPr lang="en-GB" smtClean="0"/>
              <a:t>‹#›</a:t>
            </a:fld>
            <a:endParaRPr lang="en-GB"/>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415712"/>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4.1.1.8-4.1.1.9</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635714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A38E-6421-EE0B-D1EC-8258B56A0890}"/>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7004FC58-9D9B-BB14-3ECD-5A124DE10961}"/>
              </a:ext>
            </a:extLst>
          </p:cNvPr>
          <p:cNvSpPr>
            <a:spLocks noGrp="1"/>
          </p:cNvSpPr>
          <p:nvPr>
            <p:ph idx="1"/>
          </p:nvPr>
        </p:nvSpPr>
        <p:spPr/>
        <p:txBody>
          <a:bodyPr>
            <a:normAutofit/>
          </a:bodyPr>
          <a:lstStyle/>
          <a:p>
            <a:pPr marL="0" indent="0" algn="ctr">
              <a:buNone/>
            </a:pPr>
            <a:r>
              <a:rPr lang="en-GB" sz="3200" dirty="0"/>
              <a:t>What is the next number in the sequence? 2, 3, 5, 9, 17, _</a:t>
            </a:r>
          </a:p>
          <a:p>
            <a:pPr marL="0" indent="0" algn="ctr">
              <a:buNone/>
            </a:pPr>
            <a:endParaRPr lang="en-GB" sz="3200" dirty="0"/>
          </a:p>
          <a:p>
            <a:pPr marL="0" indent="0" algn="ctr">
              <a:buNone/>
            </a:pPr>
            <a:r>
              <a:rPr lang="en-GB" sz="3200" dirty="0"/>
              <a:t>33. The pattern:  Double the previous number and subtract 1.</a:t>
            </a:r>
          </a:p>
        </p:txBody>
      </p:sp>
    </p:spTree>
    <p:extLst>
      <p:ext uri="{BB962C8B-B14F-4D97-AF65-F5344CB8AC3E}">
        <p14:creationId xmlns:p14="http://schemas.microsoft.com/office/powerpoint/2010/main" val="366291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Spec points</a:t>
            </a:r>
          </a:p>
        </p:txBody>
      </p:sp>
      <p:pic>
        <p:nvPicPr>
          <p:cNvPr id="4" name="Picture 3"/>
          <p:cNvPicPr>
            <a:picLocks noChangeAspect="1"/>
          </p:cNvPicPr>
          <p:nvPr/>
        </p:nvPicPr>
        <p:blipFill>
          <a:blip r:embed="rId2"/>
          <a:stretch>
            <a:fillRect/>
          </a:stretch>
        </p:blipFill>
        <p:spPr>
          <a:xfrm>
            <a:off x="1217065" y="2342328"/>
            <a:ext cx="6562725" cy="1038225"/>
          </a:xfrm>
          <a:prstGeom prst="rect">
            <a:avLst/>
          </a:prstGeom>
        </p:spPr>
      </p:pic>
      <p:sp>
        <p:nvSpPr>
          <p:cNvPr id="3" name="TextBox 2"/>
          <p:cNvSpPr txBox="1"/>
          <p:nvPr/>
        </p:nvSpPr>
        <p:spPr>
          <a:xfrm>
            <a:off x="1471448" y="4067503"/>
            <a:ext cx="5854262" cy="1477328"/>
          </a:xfrm>
          <a:prstGeom prst="rect">
            <a:avLst/>
          </a:prstGeom>
          <a:noFill/>
        </p:spPr>
        <p:txBody>
          <a:bodyPr wrap="square" rtlCol="0">
            <a:spAutoFit/>
          </a:bodyPr>
          <a:lstStyle/>
          <a:p>
            <a:pPr algn="ctr"/>
            <a:r>
              <a:rPr lang="en-GB" dirty="0"/>
              <a:t>Add to your notes what you already know about the random module. </a:t>
            </a:r>
          </a:p>
          <a:p>
            <a:pPr algn="ctr"/>
            <a:endParaRPr lang="en-GB" dirty="0"/>
          </a:p>
          <a:p>
            <a:pPr algn="ctr"/>
            <a:r>
              <a:rPr lang="en-GB" dirty="0"/>
              <a:t>Today we will be looking at additional features we could use in our programs.</a:t>
            </a:r>
          </a:p>
        </p:txBody>
      </p:sp>
    </p:spTree>
    <p:extLst>
      <p:ext uri="{BB962C8B-B14F-4D97-AF65-F5344CB8AC3E}">
        <p14:creationId xmlns:p14="http://schemas.microsoft.com/office/powerpoint/2010/main" val="1047511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randomisation</a:t>
            </a:r>
          </a:p>
        </p:txBody>
      </p:sp>
      <p:sp>
        <p:nvSpPr>
          <p:cNvPr id="3" name="Content Placeholder 2"/>
          <p:cNvSpPr>
            <a:spLocks noGrp="1"/>
          </p:cNvSpPr>
          <p:nvPr>
            <p:ph idx="1"/>
          </p:nvPr>
        </p:nvSpPr>
        <p:spPr/>
        <p:txBody>
          <a:bodyPr>
            <a:normAutofit/>
          </a:bodyPr>
          <a:lstStyle/>
          <a:p>
            <a:r>
              <a:rPr lang="en-GB" dirty="0"/>
              <a:t>Don’t forget import random</a:t>
            </a:r>
          </a:p>
          <a:p>
            <a:pPr marL="0" indent="0">
              <a:buNone/>
            </a:pP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621758052"/>
              </p:ext>
            </p:extLst>
          </p:nvPr>
        </p:nvGraphicFramePr>
        <p:xfrm>
          <a:off x="768351" y="2917050"/>
          <a:ext cx="7289799" cy="2895920"/>
        </p:xfrm>
        <a:graphic>
          <a:graphicData uri="http://schemas.openxmlformats.org/drawingml/2006/table">
            <a:tbl>
              <a:tblPr/>
              <a:tblGrid>
                <a:gridCol w="3202758">
                  <a:extLst>
                    <a:ext uri="{9D8B030D-6E8A-4147-A177-3AD203B41FA5}">
                      <a16:colId xmlns:a16="http://schemas.microsoft.com/office/drawing/2014/main" val="39675320"/>
                    </a:ext>
                  </a:extLst>
                </a:gridCol>
                <a:gridCol w="2704011">
                  <a:extLst>
                    <a:ext uri="{9D8B030D-6E8A-4147-A177-3AD203B41FA5}">
                      <a16:colId xmlns:a16="http://schemas.microsoft.com/office/drawing/2014/main" val="1272759094"/>
                    </a:ext>
                  </a:extLst>
                </a:gridCol>
                <a:gridCol w="1383030">
                  <a:extLst>
                    <a:ext uri="{9D8B030D-6E8A-4147-A177-3AD203B41FA5}">
                      <a16:colId xmlns:a16="http://schemas.microsoft.com/office/drawing/2014/main" val="2028060911"/>
                    </a:ext>
                  </a:extLst>
                </a:gridCol>
              </a:tblGrid>
              <a:tr h="305106">
                <a:tc>
                  <a:txBody>
                    <a:bodyPr/>
                    <a:lstStyle/>
                    <a:p>
                      <a:pPr algn="l" rtl="0" fontAlgn="base"/>
                      <a:r>
                        <a:rPr lang="en-US" sz="1100" b="1" i="0">
                          <a:solidFill>
                            <a:srgbClr val="FFFFFF"/>
                          </a:solidFill>
                          <a:effectLst/>
                          <a:latin typeface="Calibri" panose="020F0502020204030204" pitchFamily="34" charset="0"/>
                        </a:rPr>
                        <a:t>Code</a:t>
                      </a:r>
                      <a:r>
                        <a:rPr lang="en-US" sz="1100" b="0" i="0">
                          <a:effectLst/>
                          <a:latin typeface="Calibri" panose="020F0502020204030204" pitchFamily="34" charset="0"/>
                        </a:rPr>
                        <a:t> </a:t>
                      </a:r>
                      <a:endParaRPr lang="en-US" b="0" i="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rgbClr val="C00000"/>
                    </a:solidFill>
                  </a:tcPr>
                </a:tc>
                <a:tc>
                  <a:txBody>
                    <a:bodyPr/>
                    <a:lstStyle/>
                    <a:p>
                      <a:pPr algn="l" rtl="0" fontAlgn="base"/>
                      <a:r>
                        <a:rPr lang="en-US" sz="1100" b="1" i="0">
                          <a:solidFill>
                            <a:srgbClr val="FFFFFF"/>
                          </a:solidFill>
                          <a:effectLst/>
                          <a:latin typeface="Calibri" panose="020F0502020204030204" pitchFamily="34" charset="0"/>
                        </a:rPr>
                        <a:t>What it does</a:t>
                      </a:r>
                      <a:r>
                        <a:rPr lang="en-US" sz="1100" b="0" i="0">
                          <a:effectLst/>
                          <a:latin typeface="Calibri" panose="020F0502020204030204" pitchFamily="34" charset="0"/>
                        </a:rPr>
                        <a:t> </a:t>
                      </a:r>
                      <a:endParaRPr lang="en-US" b="0" i="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rgbClr val="C00000"/>
                    </a:solidFill>
                  </a:tcPr>
                </a:tc>
                <a:tc>
                  <a:txBody>
                    <a:bodyPr/>
                    <a:lstStyle/>
                    <a:p>
                      <a:pPr algn="l" rtl="0" fontAlgn="base"/>
                      <a:r>
                        <a:rPr lang="en-US" sz="1100" b="1" i="0">
                          <a:solidFill>
                            <a:srgbClr val="FFFFFF"/>
                          </a:solidFill>
                          <a:effectLst/>
                          <a:latin typeface="Calibri" panose="020F0502020204030204" pitchFamily="34" charset="0"/>
                        </a:rPr>
                        <a:t>Example use</a:t>
                      </a:r>
                      <a:r>
                        <a:rPr lang="en-US" sz="1100" b="0" i="0">
                          <a:effectLst/>
                          <a:latin typeface="Calibri" panose="020F0502020204030204" pitchFamily="34" charset="0"/>
                        </a:rPr>
                        <a:t> </a:t>
                      </a:r>
                      <a:endParaRPr lang="en-US" b="0" i="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rgbClr val="C00000"/>
                    </a:solidFill>
                  </a:tcPr>
                </a:tc>
                <a:extLst>
                  <a:ext uri="{0D108BD9-81ED-4DB2-BD59-A6C34878D82A}">
                    <a16:rowId xmlns:a16="http://schemas.microsoft.com/office/drawing/2014/main" val="3082117242"/>
                  </a:ext>
                </a:extLst>
              </a:tr>
              <a:tr h="305106">
                <a:tc>
                  <a:txBody>
                    <a:bodyPr/>
                    <a:lstStyle/>
                    <a:p>
                      <a:pPr algn="l" rtl="0" fontAlgn="base"/>
                      <a:r>
                        <a:rPr lang="en-US" sz="1400" b="0" i="0" dirty="0" err="1">
                          <a:effectLst/>
                          <a:latin typeface="Calibri" panose="020F0502020204030204" pitchFamily="34" charset="0"/>
                        </a:rPr>
                        <a:t>random.randint</a:t>
                      </a:r>
                      <a:r>
                        <a:rPr lang="en-US" sz="1400" b="0" i="0" dirty="0">
                          <a:effectLst/>
                          <a:latin typeface="Calibri" panose="020F0502020204030204" pitchFamily="34" charset="0"/>
                        </a:rPr>
                        <a:t>(1,20) </a:t>
                      </a:r>
                      <a:endParaRPr lang="en-US"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1749536085"/>
                  </a:ext>
                </a:extLst>
              </a:tr>
              <a:tr h="305106">
                <a:tc>
                  <a:txBody>
                    <a:bodyPr/>
                    <a:lstStyle/>
                    <a:p>
                      <a:pPr algn="l" rtl="0" fontAlgn="base"/>
                      <a:r>
                        <a:rPr lang="en-US" sz="1400" b="0" i="0" dirty="0" err="1">
                          <a:effectLst/>
                          <a:latin typeface="Calibri" panose="020F0502020204030204" pitchFamily="34" charset="0"/>
                        </a:rPr>
                        <a:t>random.choice</a:t>
                      </a:r>
                      <a:r>
                        <a:rPr lang="en-US" sz="1400" b="0" i="0" dirty="0">
                          <a:effectLst/>
                          <a:latin typeface="Calibri" panose="020F0502020204030204" pitchFamily="34" charset="0"/>
                        </a:rPr>
                        <a:t>(["1”,”2”,”3"]) </a:t>
                      </a:r>
                      <a:endParaRPr lang="en-US"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3166716666"/>
                  </a:ext>
                </a:extLst>
              </a:tr>
              <a:tr h="305106">
                <a:tc>
                  <a:txBody>
                    <a:bodyPr/>
                    <a:lstStyle/>
                    <a:p>
                      <a:pPr algn="l" rtl="0" fontAlgn="base"/>
                      <a:r>
                        <a:rPr lang="en-US" sz="1400" b="0" i="0" dirty="0" err="1">
                          <a:effectLst/>
                          <a:latin typeface="Calibri" panose="020F0502020204030204" pitchFamily="34" charset="0"/>
                        </a:rPr>
                        <a:t>random.random</a:t>
                      </a:r>
                      <a:r>
                        <a:rPr lang="en-US" sz="1400" b="0" i="0" dirty="0">
                          <a:effectLst/>
                          <a:latin typeface="Calibri" panose="020F0502020204030204" pitchFamily="34" charset="0"/>
                        </a:rPr>
                        <a:t>() </a:t>
                      </a:r>
                      <a:endParaRPr lang="en-US"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1368526146"/>
                  </a:ext>
                </a:extLst>
              </a:tr>
              <a:tr h="305106">
                <a:tc>
                  <a:txBody>
                    <a:bodyPr/>
                    <a:lstStyle/>
                    <a:p>
                      <a:pPr algn="l" rtl="0" fontAlgn="base"/>
                      <a:r>
                        <a:rPr lang="en-US" sz="1400" b="0" i="0" dirty="0" err="1">
                          <a:effectLst/>
                          <a:latin typeface="Calibri" panose="020F0502020204030204" pitchFamily="34" charset="0"/>
                        </a:rPr>
                        <a:t>random.uniform</a:t>
                      </a:r>
                      <a:r>
                        <a:rPr lang="en-US" sz="1400" b="0" i="0" dirty="0">
                          <a:effectLst/>
                          <a:latin typeface="Calibri" panose="020F0502020204030204" pitchFamily="34" charset="0"/>
                        </a:rPr>
                        <a:t>(2,40) </a:t>
                      </a:r>
                      <a:endParaRPr lang="en-US"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2754470105"/>
                  </a:ext>
                </a:extLst>
              </a:tr>
              <a:tr h="305106">
                <a:tc>
                  <a:txBody>
                    <a:bodyPr/>
                    <a:lstStyle/>
                    <a:p>
                      <a:pPr algn="l" rtl="0" fontAlgn="base"/>
                      <a:r>
                        <a:rPr lang="en-US" sz="1400" b="0" i="0" dirty="0" err="1">
                          <a:effectLst/>
                          <a:latin typeface="Calibri" panose="020F0502020204030204" pitchFamily="34" charset="0"/>
                        </a:rPr>
                        <a:t>random.randrange</a:t>
                      </a:r>
                      <a:r>
                        <a:rPr lang="en-US" sz="1400" b="0" i="0" dirty="0">
                          <a:effectLst/>
                          <a:latin typeface="Calibri" panose="020F0502020204030204" pitchFamily="34" charset="0"/>
                        </a:rPr>
                        <a:t>(0,20,2) </a:t>
                      </a:r>
                      <a:endParaRPr lang="en-US"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4037874601"/>
                  </a:ext>
                </a:extLst>
              </a:tr>
              <a:tr h="532642">
                <a:tc>
                  <a:txBody>
                    <a:bodyPr/>
                    <a:lstStyle/>
                    <a:p>
                      <a:pPr algn="l" rtl="0" fontAlgn="base"/>
                      <a:r>
                        <a:rPr lang="it-IT" sz="1400" b="0" i="0" dirty="0">
                          <a:effectLst/>
                          <a:latin typeface="Calibri" panose="020F0502020204030204" pitchFamily="34" charset="0"/>
                        </a:rPr>
                        <a:t>a=["1","2","3"] </a:t>
                      </a:r>
                      <a:endParaRPr lang="it-IT" sz="2400" b="0" i="0" dirty="0">
                        <a:effectLst/>
                      </a:endParaRPr>
                    </a:p>
                    <a:p>
                      <a:pPr algn="l" rtl="0" fontAlgn="base"/>
                      <a:r>
                        <a:rPr lang="it-IT" sz="1400" b="0" i="0" dirty="0">
                          <a:effectLst/>
                          <a:latin typeface="Calibri" panose="020F0502020204030204" pitchFamily="34" charset="0"/>
                        </a:rPr>
                        <a:t>random.shuffle(a) </a:t>
                      </a:r>
                      <a:endParaRPr lang="it-IT"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1330256709"/>
                  </a:ext>
                </a:extLst>
              </a:tr>
              <a:tr h="532642">
                <a:tc>
                  <a:txBody>
                    <a:bodyPr/>
                    <a:lstStyle/>
                    <a:p>
                      <a:pPr algn="l" rtl="0" fontAlgn="base"/>
                      <a:r>
                        <a:rPr lang="pt-BR" sz="1400" b="0" i="0" dirty="0">
                          <a:effectLst/>
                          <a:latin typeface="Calibri" panose="020F0502020204030204" pitchFamily="34" charset="0"/>
                        </a:rPr>
                        <a:t>a=["1","2","3"] </a:t>
                      </a:r>
                      <a:endParaRPr lang="pt-BR" sz="2400" b="0" i="0" dirty="0">
                        <a:effectLst/>
                      </a:endParaRPr>
                    </a:p>
                    <a:p>
                      <a:pPr algn="l" rtl="0" fontAlgn="base"/>
                      <a:r>
                        <a:rPr lang="pt-BR" sz="1400" b="0" i="0" dirty="0">
                          <a:effectLst/>
                          <a:latin typeface="Calibri" panose="020F0502020204030204" pitchFamily="34" charset="0"/>
                        </a:rPr>
                        <a:t>random.sample(a, k=2) </a:t>
                      </a:r>
                      <a:endParaRPr lang="pt-BR"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100" b="0" i="0" dirty="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2906067795"/>
                  </a:ext>
                </a:extLst>
              </a:tr>
            </a:tbl>
          </a:graphicData>
        </a:graphic>
      </p:graphicFrame>
      <p:sp>
        <p:nvSpPr>
          <p:cNvPr id="5" name="Rectangle: Rounded Corners 4">
            <a:extLst>
              <a:ext uri="{FF2B5EF4-FFF2-40B4-BE49-F238E27FC236}">
                <a16:creationId xmlns:a16="http://schemas.microsoft.com/office/drawing/2014/main" id="{779D2B15-5038-A9B1-528C-E7792AACA1A4}"/>
              </a:ext>
            </a:extLst>
          </p:cNvPr>
          <p:cNvSpPr/>
          <p:nvPr/>
        </p:nvSpPr>
        <p:spPr>
          <a:xfrm>
            <a:off x="2807368" y="208547"/>
            <a:ext cx="6096000"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4.1.1.8 Random number generation in a programming language </a:t>
            </a:r>
          </a:p>
        </p:txBody>
      </p:sp>
    </p:spTree>
    <p:extLst>
      <p:ext uri="{BB962C8B-B14F-4D97-AF65-F5344CB8AC3E}">
        <p14:creationId xmlns:p14="http://schemas.microsoft.com/office/powerpoint/2010/main" val="3006118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175" y="134473"/>
            <a:ext cx="3105785" cy="379984"/>
          </a:xfrm>
        </p:spPr>
        <p:txBody>
          <a:bodyPr>
            <a:normAutofit lnSpcReduction="10000"/>
          </a:bodyPr>
          <a:lstStyle/>
          <a:p>
            <a:r>
              <a:rPr lang="en-GB" dirty="0"/>
              <a:t>Don’t forget import random</a:t>
            </a:r>
          </a:p>
          <a:p>
            <a:pPr marL="0" indent="0">
              <a:buNone/>
            </a:pP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593443406"/>
              </p:ext>
            </p:extLst>
          </p:nvPr>
        </p:nvGraphicFramePr>
        <p:xfrm>
          <a:off x="257175" y="627568"/>
          <a:ext cx="8629649" cy="6231554"/>
        </p:xfrm>
        <a:graphic>
          <a:graphicData uri="http://schemas.openxmlformats.org/drawingml/2006/table">
            <a:tbl>
              <a:tblPr/>
              <a:tblGrid>
                <a:gridCol w="2950209">
                  <a:extLst>
                    <a:ext uri="{9D8B030D-6E8A-4147-A177-3AD203B41FA5}">
                      <a16:colId xmlns:a16="http://schemas.microsoft.com/office/drawing/2014/main" val="39675320"/>
                    </a:ext>
                  </a:extLst>
                </a:gridCol>
                <a:gridCol w="3699403">
                  <a:extLst>
                    <a:ext uri="{9D8B030D-6E8A-4147-A177-3AD203B41FA5}">
                      <a16:colId xmlns:a16="http://schemas.microsoft.com/office/drawing/2014/main" val="1272759094"/>
                    </a:ext>
                  </a:extLst>
                </a:gridCol>
                <a:gridCol w="1980037">
                  <a:extLst>
                    <a:ext uri="{9D8B030D-6E8A-4147-A177-3AD203B41FA5}">
                      <a16:colId xmlns:a16="http://schemas.microsoft.com/office/drawing/2014/main" val="2028060911"/>
                    </a:ext>
                  </a:extLst>
                </a:gridCol>
              </a:tblGrid>
              <a:tr h="457321">
                <a:tc>
                  <a:txBody>
                    <a:bodyPr/>
                    <a:lstStyle/>
                    <a:p>
                      <a:pPr algn="l" rtl="0" fontAlgn="base"/>
                      <a:r>
                        <a:rPr lang="en-US" sz="1400" b="1" i="0">
                          <a:solidFill>
                            <a:srgbClr val="FFFFFF"/>
                          </a:solidFill>
                          <a:effectLst/>
                          <a:latin typeface="Calibri" panose="020F0502020204030204" pitchFamily="34" charset="0"/>
                        </a:rPr>
                        <a:t>Code</a:t>
                      </a:r>
                      <a:r>
                        <a:rPr lang="en-US" sz="1400" b="0" i="0">
                          <a:effectLst/>
                          <a:latin typeface="Calibri" panose="020F0502020204030204" pitchFamily="34" charset="0"/>
                        </a:rPr>
                        <a:t> </a:t>
                      </a:r>
                      <a:endParaRPr lang="en-US" sz="2400" b="0" i="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rgbClr val="C00000"/>
                    </a:solidFill>
                  </a:tcPr>
                </a:tc>
                <a:tc>
                  <a:txBody>
                    <a:bodyPr/>
                    <a:lstStyle/>
                    <a:p>
                      <a:pPr algn="l" rtl="0" fontAlgn="base"/>
                      <a:r>
                        <a:rPr lang="en-US" sz="1400" b="1" i="0" dirty="0">
                          <a:solidFill>
                            <a:srgbClr val="FFFFFF"/>
                          </a:solidFill>
                          <a:effectLst/>
                          <a:latin typeface="Calibri" panose="020F0502020204030204" pitchFamily="34" charset="0"/>
                        </a:rPr>
                        <a:t>What it does</a:t>
                      </a:r>
                      <a:r>
                        <a:rPr lang="en-US" sz="1400" b="0" i="0" dirty="0">
                          <a:effectLst/>
                          <a:latin typeface="Calibri" panose="020F0502020204030204" pitchFamily="34" charset="0"/>
                        </a:rPr>
                        <a:t> </a:t>
                      </a:r>
                      <a:endParaRPr lang="en-US" sz="24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rgbClr val="C00000"/>
                    </a:solidFill>
                  </a:tcPr>
                </a:tc>
                <a:tc>
                  <a:txBody>
                    <a:bodyPr/>
                    <a:lstStyle/>
                    <a:p>
                      <a:pPr algn="l" rtl="0" fontAlgn="base"/>
                      <a:r>
                        <a:rPr lang="en-US" sz="1400" b="1" i="0">
                          <a:solidFill>
                            <a:srgbClr val="FFFFFF"/>
                          </a:solidFill>
                          <a:effectLst/>
                          <a:latin typeface="Calibri" panose="020F0502020204030204" pitchFamily="34" charset="0"/>
                        </a:rPr>
                        <a:t>Example use</a:t>
                      </a:r>
                      <a:r>
                        <a:rPr lang="en-US" sz="1400" b="0" i="0">
                          <a:effectLst/>
                          <a:latin typeface="Calibri" panose="020F0502020204030204" pitchFamily="34" charset="0"/>
                        </a:rPr>
                        <a:t> </a:t>
                      </a:r>
                      <a:endParaRPr lang="en-US" sz="2400" b="0" i="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rgbClr val="C00000"/>
                    </a:solidFill>
                  </a:tcPr>
                </a:tc>
                <a:extLst>
                  <a:ext uri="{0D108BD9-81ED-4DB2-BD59-A6C34878D82A}">
                    <a16:rowId xmlns:a16="http://schemas.microsoft.com/office/drawing/2014/main" val="3082117242"/>
                  </a:ext>
                </a:extLst>
              </a:tr>
              <a:tr h="457321">
                <a:tc>
                  <a:txBody>
                    <a:bodyPr/>
                    <a:lstStyle/>
                    <a:p>
                      <a:pPr algn="l" rtl="0" fontAlgn="base"/>
                      <a:r>
                        <a:rPr lang="en-US" sz="1800" b="0" i="0" dirty="0" err="1">
                          <a:effectLst/>
                          <a:latin typeface="Calibri" panose="020F0502020204030204" pitchFamily="34" charset="0"/>
                        </a:rPr>
                        <a:t>random.randint</a:t>
                      </a:r>
                      <a:r>
                        <a:rPr lang="en-US" sz="1800" b="0" i="0" dirty="0">
                          <a:effectLst/>
                          <a:latin typeface="Calibri" panose="020F0502020204030204" pitchFamily="34" charset="0"/>
                        </a:rPr>
                        <a:t>(1,20) </a:t>
                      </a:r>
                    </a:p>
                    <a:p>
                      <a:pPr algn="l" rtl="0" fontAlgn="base"/>
                      <a:endParaRPr lang="en-US" sz="32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endParaRPr lang="en-US" sz="1400" b="0" i="0" dirty="0">
                        <a:effectLst/>
                        <a:latin typeface="Calibri" panose="020F0502020204030204" pitchFamily="34" charset="0"/>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1749536085"/>
                  </a:ext>
                </a:extLst>
              </a:tr>
              <a:tr h="457321">
                <a:tc>
                  <a:txBody>
                    <a:bodyPr/>
                    <a:lstStyle/>
                    <a:p>
                      <a:pPr algn="l" rtl="0" fontAlgn="base"/>
                      <a:r>
                        <a:rPr lang="en-US" sz="1800" b="0" i="0" dirty="0" err="1">
                          <a:effectLst/>
                          <a:latin typeface="Calibri" panose="020F0502020204030204" pitchFamily="34" charset="0"/>
                        </a:rPr>
                        <a:t>random.choice</a:t>
                      </a:r>
                      <a:r>
                        <a:rPr lang="en-US" sz="1800" b="0" i="0" dirty="0">
                          <a:effectLst/>
                          <a:latin typeface="Calibri" panose="020F0502020204030204" pitchFamily="34" charset="0"/>
                        </a:rPr>
                        <a:t>(["1”,”2”,”3"]) </a:t>
                      </a:r>
                    </a:p>
                    <a:p>
                      <a:pPr algn="l" rtl="0" fontAlgn="base"/>
                      <a:endParaRPr lang="en-US" sz="32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3166716666"/>
                  </a:ext>
                </a:extLst>
              </a:tr>
              <a:tr h="457321">
                <a:tc>
                  <a:txBody>
                    <a:bodyPr/>
                    <a:lstStyle/>
                    <a:p>
                      <a:pPr algn="l" rtl="0" fontAlgn="base"/>
                      <a:r>
                        <a:rPr lang="en-US" sz="1800" b="0" i="0" dirty="0" err="1">
                          <a:effectLst/>
                          <a:latin typeface="Calibri" panose="020F0502020204030204" pitchFamily="34" charset="0"/>
                        </a:rPr>
                        <a:t>random.random</a:t>
                      </a:r>
                      <a:r>
                        <a:rPr lang="en-US" sz="1800" b="0" i="0" dirty="0">
                          <a:effectLst/>
                          <a:latin typeface="Calibri" panose="020F0502020204030204" pitchFamily="34" charset="0"/>
                        </a:rPr>
                        <a:t>() </a:t>
                      </a:r>
                    </a:p>
                    <a:p>
                      <a:pPr algn="l" rtl="0" fontAlgn="base"/>
                      <a:endParaRPr lang="en-US" sz="32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1368526146"/>
                  </a:ext>
                </a:extLst>
              </a:tr>
              <a:tr h="457321">
                <a:tc>
                  <a:txBody>
                    <a:bodyPr/>
                    <a:lstStyle/>
                    <a:p>
                      <a:pPr algn="l" rtl="0" fontAlgn="base"/>
                      <a:r>
                        <a:rPr lang="en-US" sz="1800" b="0" i="0" dirty="0" err="1">
                          <a:effectLst/>
                          <a:latin typeface="Calibri" panose="020F0502020204030204" pitchFamily="34" charset="0"/>
                        </a:rPr>
                        <a:t>random.uniform</a:t>
                      </a:r>
                      <a:r>
                        <a:rPr lang="en-US" sz="1800" b="0" i="0" dirty="0">
                          <a:effectLst/>
                          <a:latin typeface="Calibri" panose="020F0502020204030204" pitchFamily="34" charset="0"/>
                        </a:rPr>
                        <a:t>(2,40) </a:t>
                      </a:r>
                    </a:p>
                    <a:p>
                      <a:pPr algn="l" rtl="0" fontAlgn="base"/>
                      <a:endParaRPr lang="en-US" sz="32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2754470105"/>
                  </a:ext>
                </a:extLst>
              </a:tr>
              <a:tr h="457321">
                <a:tc>
                  <a:txBody>
                    <a:bodyPr/>
                    <a:lstStyle/>
                    <a:p>
                      <a:pPr algn="l" rtl="0" fontAlgn="base"/>
                      <a:r>
                        <a:rPr lang="en-US" sz="1800" b="0" i="0" dirty="0" err="1">
                          <a:effectLst/>
                          <a:latin typeface="Calibri" panose="020F0502020204030204" pitchFamily="34" charset="0"/>
                        </a:rPr>
                        <a:t>random.randrange</a:t>
                      </a:r>
                      <a:r>
                        <a:rPr lang="en-US" sz="1800" b="0" i="0" dirty="0">
                          <a:effectLst/>
                          <a:latin typeface="Calibri" panose="020F0502020204030204" pitchFamily="34" charset="0"/>
                        </a:rPr>
                        <a:t>(0,20,2) </a:t>
                      </a:r>
                    </a:p>
                    <a:p>
                      <a:pPr algn="l" rtl="0" fontAlgn="base"/>
                      <a:endParaRPr lang="en-US" sz="32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dirty="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4037874601"/>
                  </a:ext>
                </a:extLst>
              </a:tr>
              <a:tr h="798373">
                <a:tc>
                  <a:txBody>
                    <a:bodyPr/>
                    <a:lstStyle/>
                    <a:p>
                      <a:pPr algn="l" rtl="0" fontAlgn="base"/>
                      <a:r>
                        <a:rPr lang="it-IT" sz="1800" b="0" i="0" dirty="0">
                          <a:effectLst/>
                          <a:latin typeface="Calibri" panose="020F0502020204030204" pitchFamily="34" charset="0"/>
                        </a:rPr>
                        <a:t>a=["1","2","3"] </a:t>
                      </a:r>
                      <a:endParaRPr lang="it-IT" sz="3200" b="0" i="0" dirty="0">
                        <a:effectLst/>
                      </a:endParaRPr>
                    </a:p>
                    <a:p>
                      <a:pPr algn="l" rtl="0" fontAlgn="base"/>
                      <a:r>
                        <a:rPr lang="it-IT" sz="1800" b="0" i="0" dirty="0">
                          <a:effectLst/>
                          <a:latin typeface="Calibri" panose="020F0502020204030204" pitchFamily="34" charset="0"/>
                        </a:rPr>
                        <a:t>random.shuffle(a) </a:t>
                      </a:r>
                      <a:endParaRPr lang="it-IT" sz="32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1330256709"/>
                  </a:ext>
                </a:extLst>
              </a:tr>
              <a:tr h="798373">
                <a:tc>
                  <a:txBody>
                    <a:bodyPr/>
                    <a:lstStyle/>
                    <a:p>
                      <a:pPr algn="l" rtl="0" fontAlgn="base"/>
                      <a:r>
                        <a:rPr lang="pt-BR" sz="1800" b="0" i="0" dirty="0">
                          <a:effectLst/>
                          <a:latin typeface="Calibri" panose="020F0502020204030204" pitchFamily="34" charset="0"/>
                        </a:rPr>
                        <a:t>a=["1","2","3"] </a:t>
                      </a:r>
                      <a:endParaRPr lang="pt-BR" sz="3200" b="0" i="0" dirty="0">
                        <a:effectLst/>
                      </a:endParaRPr>
                    </a:p>
                    <a:p>
                      <a:pPr algn="l" rtl="0" fontAlgn="base"/>
                      <a:r>
                        <a:rPr lang="pt-BR" sz="1800" b="0" i="0" dirty="0">
                          <a:effectLst/>
                          <a:latin typeface="Calibri" panose="020F0502020204030204" pitchFamily="34" charset="0"/>
                        </a:rPr>
                        <a:t>b=random.sample(a, k=2) </a:t>
                      </a:r>
                    </a:p>
                    <a:p>
                      <a:pPr algn="l" rtl="0" fontAlgn="base"/>
                      <a:r>
                        <a:rPr lang="pt-BR" sz="1800" b="0" i="0" dirty="0">
                          <a:effectLst/>
                          <a:latin typeface="Calibri" panose="020F0502020204030204" pitchFamily="34" charset="0"/>
                        </a:rPr>
                        <a:t>print(b)</a:t>
                      </a:r>
                      <a:endParaRPr lang="pt-BR" sz="3200" b="0" i="0" dirty="0">
                        <a:effectLst/>
                      </a:endParaRP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dirty="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tc>
                  <a:txBody>
                    <a:bodyPr/>
                    <a:lstStyle/>
                    <a:p>
                      <a:pPr algn="l" rtl="0" fontAlgn="base"/>
                      <a:r>
                        <a:rPr lang="en-US" sz="1400" b="0" i="0" dirty="0">
                          <a:effectLst/>
                          <a:latin typeface="Calibri" panose="020F0502020204030204" pitchFamily="34" charset="0"/>
                        </a:rPr>
                        <a:t> </a:t>
                      </a:r>
                    </a:p>
                  </a:txBody>
                  <a:tcPr marT="28575" marB="28575">
                    <a:lnL w="9525" cap="flat" cmpd="sng" algn="ctr">
                      <a:solidFill>
                        <a:srgbClr val="C8CACC"/>
                      </a:solidFill>
                      <a:prstDash val="solid"/>
                      <a:round/>
                      <a:headEnd type="none" w="med" len="med"/>
                      <a:tailEnd type="none" w="med" len="med"/>
                    </a:lnL>
                    <a:lnR w="9525" cap="flat" cmpd="sng" algn="ctr">
                      <a:solidFill>
                        <a:srgbClr val="C8CACC"/>
                      </a:solidFill>
                      <a:prstDash val="solid"/>
                      <a:round/>
                      <a:headEnd type="none" w="med" len="med"/>
                      <a:tailEnd type="none" w="med" len="med"/>
                    </a:lnR>
                    <a:lnT w="9525" cap="flat" cmpd="sng" algn="ctr">
                      <a:solidFill>
                        <a:srgbClr val="C8CACC"/>
                      </a:solidFill>
                      <a:prstDash val="solid"/>
                      <a:round/>
                      <a:headEnd type="none" w="med" len="med"/>
                      <a:tailEnd type="none" w="med" len="med"/>
                    </a:lnT>
                    <a:lnB w="9525" cap="flat" cmpd="sng" algn="ctr">
                      <a:solidFill>
                        <a:srgbClr val="C8CACC"/>
                      </a:solidFill>
                      <a:prstDash val="solid"/>
                      <a:round/>
                      <a:headEnd type="none" w="med" len="med"/>
                      <a:tailEnd type="none" w="med" len="med"/>
                    </a:lnB>
                    <a:solidFill>
                      <a:schemeClr val="bg1"/>
                    </a:solidFill>
                  </a:tcPr>
                </a:tc>
                <a:extLst>
                  <a:ext uri="{0D108BD9-81ED-4DB2-BD59-A6C34878D82A}">
                    <a16:rowId xmlns:a16="http://schemas.microsoft.com/office/drawing/2014/main" val="2906067795"/>
                  </a:ext>
                </a:extLst>
              </a:tr>
            </a:tbl>
          </a:graphicData>
        </a:graphic>
      </p:graphicFrame>
      <p:pic>
        <p:nvPicPr>
          <p:cNvPr id="6" name="Picture 5">
            <a:extLst>
              <a:ext uri="{FF2B5EF4-FFF2-40B4-BE49-F238E27FC236}">
                <a16:creationId xmlns:a16="http://schemas.microsoft.com/office/drawing/2014/main" id="{93DE795D-03BC-BA23-88C5-610A850FD18F}"/>
              </a:ext>
            </a:extLst>
          </p:cNvPr>
          <p:cNvPicPr>
            <a:picLocks noChangeAspect="1"/>
          </p:cNvPicPr>
          <p:nvPr/>
        </p:nvPicPr>
        <p:blipFill>
          <a:blip r:embed="rId2"/>
          <a:stretch>
            <a:fillRect/>
          </a:stretch>
        </p:blipFill>
        <p:spPr>
          <a:xfrm>
            <a:off x="6991921" y="1245936"/>
            <a:ext cx="1894903" cy="496629"/>
          </a:xfrm>
          <a:prstGeom prst="rect">
            <a:avLst/>
          </a:prstGeom>
        </p:spPr>
      </p:pic>
      <p:sp>
        <p:nvSpPr>
          <p:cNvPr id="7" name="Rectangle 6">
            <a:extLst>
              <a:ext uri="{FF2B5EF4-FFF2-40B4-BE49-F238E27FC236}">
                <a16:creationId xmlns:a16="http://schemas.microsoft.com/office/drawing/2014/main" id="{B37C4397-818C-1921-6B7A-7FC458BF5ADC}"/>
              </a:ext>
            </a:extLst>
          </p:cNvPr>
          <p:cNvSpPr/>
          <p:nvPr/>
        </p:nvSpPr>
        <p:spPr>
          <a:xfrm>
            <a:off x="3230880" y="1109472"/>
            <a:ext cx="3586480"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Picks a random number between 1 and 20 inclusive</a:t>
            </a:r>
          </a:p>
        </p:txBody>
      </p:sp>
      <p:sp>
        <p:nvSpPr>
          <p:cNvPr id="8" name="Rectangle 7">
            <a:extLst>
              <a:ext uri="{FF2B5EF4-FFF2-40B4-BE49-F238E27FC236}">
                <a16:creationId xmlns:a16="http://schemas.microsoft.com/office/drawing/2014/main" id="{15FDDF30-E7CB-1345-8BD6-D885FF7AA46D}"/>
              </a:ext>
            </a:extLst>
          </p:cNvPr>
          <p:cNvSpPr/>
          <p:nvPr/>
        </p:nvSpPr>
        <p:spPr>
          <a:xfrm>
            <a:off x="3230880" y="1939114"/>
            <a:ext cx="3586480"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Picks a random value from the list provided</a:t>
            </a:r>
          </a:p>
        </p:txBody>
      </p:sp>
      <p:pic>
        <p:nvPicPr>
          <p:cNvPr id="10" name="Picture 9">
            <a:extLst>
              <a:ext uri="{FF2B5EF4-FFF2-40B4-BE49-F238E27FC236}">
                <a16:creationId xmlns:a16="http://schemas.microsoft.com/office/drawing/2014/main" id="{D5816D5D-E616-6422-A908-3EFDCC878234}"/>
              </a:ext>
            </a:extLst>
          </p:cNvPr>
          <p:cNvPicPr>
            <a:picLocks noChangeAspect="1"/>
          </p:cNvPicPr>
          <p:nvPr/>
        </p:nvPicPr>
        <p:blipFill>
          <a:blip r:embed="rId3"/>
          <a:stretch>
            <a:fillRect/>
          </a:stretch>
        </p:blipFill>
        <p:spPr>
          <a:xfrm>
            <a:off x="6991921" y="2078335"/>
            <a:ext cx="2050479" cy="310322"/>
          </a:xfrm>
          <a:prstGeom prst="rect">
            <a:avLst/>
          </a:prstGeom>
        </p:spPr>
      </p:pic>
      <p:sp>
        <p:nvSpPr>
          <p:cNvPr id="11" name="Rectangle 10">
            <a:extLst>
              <a:ext uri="{FF2B5EF4-FFF2-40B4-BE49-F238E27FC236}">
                <a16:creationId xmlns:a16="http://schemas.microsoft.com/office/drawing/2014/main" id="{D3E0A92F-3C91-75E8-786E-E9B9025EA94B}"/>
              </a:ext>
            </a:extLst>
          </p:cNvPr>
          <p:cNvSpPr/>
          <p:nvPr/>
        </p:nvSpPr>
        <p:spPr>
          <a:xfrm>
            <a:off x="3230880" y="2768756"/>
            <a:ext cx="3586480"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Picks a random number between 0 and 1 with any amount of decimal places</a:t>
            </a:r>
          </a:p>
        </p:txBody>
      </p:sp>
      <p:pic>
        <p:nvPicPr>
          <p:cNvPr id="13" name="Picture 12">
            <a:extLst>
              <a:ext uri="{FF2B5EF4-FFF2-40B4-BE49-F238E27FC236}">
                <a16:creationId xmlns:a16="http://schemas.microsoft.com/office/drawing/2014/main" id="{147F0395-3C23-E429-2132-B6B321E18DE3}"/>
              </a:ext>
            </a:extLst>
          </p:cNvPr>
          <p:cNvPicPr>
            <a:picLocks noChangeAspect="1"/>
          </p:cNvPicPr>
          <p:nvPr/>
        </p:nvPicPr>
        <p:blipFill>
          <a:blip r:embed="rId4"/>
          <a:stretch>
            <a:fillRect/>
          </a:stretch>
        </p:blipFill>
        <p:spPr>
          <a:xfrm>
            <a:off x="6937604" y="2826875"/>
            <a:ext cx="2159111" cy="514376"/>
          </a:xfrm>
          <a:prstGeom prst="rect">
            <a:avLst/>
          </a:prstGeom>
        </p:spPr>
      </p:pic>
      <p:sp>
        <p:nvSpPr>
          <p:cNvPr id="15" name="Rectangle 14">
            <a:extLst>
              <a:ext uri="{FF2B5EF4-FFF2-40B4-BE49-F238E27FC236}">
                <a16:creationId xmlns:a16="http://schemas.microsoft.com/office/drawing/2014/main" id="{BFD89BFC-4A03-312D-B2EA-BDFF43833804}"/>
              </a:ext>
            </a:extLst>
          </p:cNvPr>
          <p:cNvSpPr/>
          <p:nvPr/>
        </p:nvSpPr>
        <p:spPr>
          <a:xfrm>
            <a:off x="3230880" y="3573613"/>
            <a:ext cx="3586480"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Picks a random float value of any length between 2 and 40</a:t>
            </a:r>
          </a:p>
        </p:txBody>
      </p:sp>
      <p:pic>
        <p:nvPicPr>
          <p:cNvPr id="17" name="Picture 16">
            <a:extLst>
              <a:ext uri="{FF2B5EF4-FFF2-40B4-BE49-F238E27FC236}">
                <a16:creationId xmlns:a16="http://schemas.microsoft.com/office/drawing/2014/main" id="{A116514B-03EF-E2C2-2AF3-915D82AA1664}"/>
              </a:ext>
            </a:extLst>
          </p:cNvPr>
          <p:cNvPicPr>
            <a:picLocks noChangeAspect="1"/>
          </p:cNvPicPr>
          <p:nvPr/>
        </p:nvPicPr>
        <p:blipFill>
          <a:blip r:embed="rId5"/>
          <a:stretch>
            <a:fillRect/>
          </a:stretch>
        </p:blipFill>
        <p:spPr>
          <a:xfrm>
            <a:off x="6937605" y="3659297"/>
            <a:ext cx="1949220" cy="375202"/>
          </a:xfrm>
          <a:prstGeom prst="rect">
            <a:avLst/>
          </a:prstGeom>
        </p:spPr>
      </p:pic>
      <p:sp>
        <p:nvSpPr>
          <p:cNvPr id="18" name="Rectangle 17">
            <a:extLst>
              <a:ext uri="{FF2B5EF4-FFF2-40B4-BE49-F238E27FC236}">
                <a16:creationId xmlns:a16="http://schemas.microsoft.com/office/drawing/2014/main" id="{6641709A-6D44-5CE8-9F9C-D801439784C8}"/>
              </a:ext>
            </a:extLst>
          </p:cNvPr>
          <p:cNvSpPr/>
          <p:nvPr/>
        </p:nvSpPr>
        <p:spPr>
          <a:xfrm>
            <a:off x="3230880" y="4404881"/>
            <a:ext cx="3586480"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Picks a random even number between 0 and 20</a:t>
            </a:r>
          </a:p>
        </p:txBody>
      </p:sp>
      <p:pic>
        <p:nvPicPr>
          <p:cNvPr id="20" name="Picture 19">
            <a:extLst>
              <a:ext uri="{FF2B5EF4-FFF2-40B4-BE49-F238E27FC236}">
                <a16:creationId xmlns:a16="http://schemas.microsoft.com/office/drawing/2014/main" id="{83C290EC-4C4D-1C98-3E56-04FA3ADCD727}"/>
              </a:ext>
            </a:extLst>
          </p:cNvPr>
          <p:cNvPicPr>
            <a:picLocks noChangeAspect="1"/>
          </p:cNvPicPr>
          <p:nvPr/>
        </p:nvPicPr>
        <p:blipFill>
          <a:blip r:embed="rId6"/>
          <a:stretch>
            <a:fillRect/>
          </a:stretch>
        </p:blipFill>
        <p:spPr>
          <a:xfrm>
            <a:off x="6937604" y="4495304"/>
            <a:ext cx="2104796" cy="334022"/>
          </a:xfrm>
          <a:prstGeom prst="rect">
            <a:avLst/>
          </a:prstGeom>
        </p:spPr>
      </p:pic>
      <p:sp>
        <p:nvSpPr>
          <p:cNvPr id="21" name="Rectangle 20">
            <a:extLst>
              <a:ext uri="{FF2B5EF4-FFF2-40B4-BE49-F238E27FC236}">
                <a16:creationId xmlns:a16="http://schemas.microsoft.com/office/drawing/2014/main" id="{8C82290E-A51C-D7FA-403E-CFDD2B629130}"/>
              </a:ext>
            </a:extLst>
          </p:cNvPr>
          <p:cNvSpPr/>
          <p:nvPr/>
        </p:nvSpPr>
        <p:spPr>
          <a:xfrm>
            <a:off x="3230879" y="5205489"/>
            <a:ext cx="3586480"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Shuffles the values in the list into different positions</a:t>
            </a:r>
          </a:p>
        </p:txBody>
      </p:sp>
      <p:pic>
        <p:nvPicPr>
          <p:cNvPr id="23" name="Picture 22">
            <a:extLst>
              <a:ext uri="{FF2B5EF4-FFF2-40B4-BE49-F238E27FC236}">
                <a16:creationId xmlns:a16="http://schemas.microsoft.com/office/drawing/2014/main" id="{DF6021F4-0807-87E7-9D5E-6E2AE4DCDCB6}"/>
              </a:ext>
            </a:extLst>
          </p:cNvPr>
          <p:cNvPicPr>
            <a:picLocks noChangeAspect="1"/>
          </p:cNvPicPr>
          <p:nvPr/>
        </p:nvPicPr>
        <p:blipFill>
          <a:blip r:embed="rId7"/>
          <a:stretch>
            <a:fillRect/>
          </a:stretch>
        </p:blipFill>
        <p:spPr>
          <a:xfrm>
            <a:off x="7013479" y="5157893"/>
            <a:ext cx="1873346" cy="692186"/>
          </a:xfrm>
          <a:prstGeom prst="rect">
            <a:avLst/>
          </a:prstGeom>
        </p:spPr>
      </p:pic>
      <p:sp>
        <p:nvSpPr>
          <p:cNvPr id="24" name="Rectangle 23">
            <a:extLst>
              <a:ext uri="{FF2B5EF4-FFF2-40B4-BE49-F238E27FC236}">
                <a16:creationId xmlns:a16="http://schemas.microsoft.com/office/drawing/2014/main" id="{00747720-787F-69F8-B3D1-02F961319898}"/>
              </a:ext>
            </a:extLst>
          </p:cNvPr>
          <p:cNvSpPr/>
          <p:nvPr/>
        </p:nvSpPr>
        <p:spPr>
          <a:xfrm>
            <a:off x="3230879" y="5996203"/>
            <a:ext cx="3586480"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Randomly picks k items from the list with no repetition</a:t>
            </a:r>
          </a:p>
        </p:txBody>
      </p:sp>
      <p:pic>
        <p:nvPicPr>
          <p:cNvPr id="26" name="Picture 25">
            <a:extLst>
              <a:ext uri="{FF2B5EF4-FFF2-40B4-BE49-F238E27FC236}">
                <a16:creationId xmlns:a16="http://schemas.microsoft.com/office/drawing/2014/main" id="{B0FE0864-5EC3-A4E0-AFC4-7522F98CEB36}"/>
              </a:ext>
            </a:extLst>
          </p:cNvPr>
          <p:cNvPicPr>
            <a:picLocks noChangeAspect="1"/>
          </p:cNvPicPr>
          <p:nvPr/>
        </p:nvPicPr>
        <p:blipFill>
          <a:blip r:embed="rId8"/>
          <a:stretch>
            <a:fillRect/>
          </a:stretch>
        </p:blipFill>
        <p:spPr>
          <a:xfrm>
            <a:off x="6937604" y="6037715"/>
            <a:ext cx="2063102" cy="596765"/>
          </a:xfrm>
          <a:prstGeom prst="rect">
            <a:avLst/>
          </a:prstGeom>
        </p:spPr>
      </p:pic>
    </p:spTree>
    <p:extLst>
      <p:ext uri="{BB962C8B-B14F-4D97-AF65-F5344CB8AC3E}">
        <p14:creationId xmlns:p14="http://schemas.microsoft.com/office/powerpoint/2010/main" val="1634289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5" grpId="0" animBg="1"/>
      <p:bldP spid="18" grpId="0" animBg="1"/>
      <p:bldP spid="21"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Spec points</a:t>
            </a:r>
          </a:p>
        </p:txBody>
      </p:sp>
      <p:pic>
        <p:nvPicPr>
          <p:cNvPr id="3" name="Picture 2"/>
          <p:cNvPicPr>
            <a:picLocks noChangeAspect="1"/>
          </p:cNvPicPr>
          <p:nvPr/>
        </p:nvPicPr>
        <p:blipFill>
          <a:blip r:embed="rId2"/>
          <a:stretch>
            <a:fillRect/>
          </a:stretch>
        </p:blipFill>
        <p:spPr>
          <a:xfrm>
            <a:off x="893214" y="2084831"/>
            <a:ext cx="7875033" cy="1909099"/>
          </a:xfrm>
          <a:prstGeom prst="rect">
            <a:avLst/>
          </a:prstGeom>
        </p:spPr>
      </p:pic>
    </p:spTree>
    <p:extLst>
      <p:ext uri="{BB962C8B-B14F-4D97-AF65-F5344CB8AC3E}">
        <p14:creationId xmlns:p14="http://schemas.microsoft.com/office/powerpoint/2010/main" val="2656934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starter</a:t>
            </a:r>
          </a:p>
        </p:txBody>
      </p:sp>
      <p:sp>
        <p:nvSpPr>
          <p:cNvPr id="3" name="Content Placeholder 2"/>
          <p:cNvSpPr>
            <a:spLocks noGrp="1"/>
          </p:cNvSpPr>
          <p:nvPr>
            <p:ph idx="1"/>
          </p:nvPr>
        </p:nvSpPr>
        <p:spPr/>
        <p:txBody>
          <a:bodyPr/>
          <a:lstStyle/>
          <a:p>
            <a:r>
              <a:rPr lang="en-GB" dirty="0"/>
              <a:t>What type of python errors do you know?</a:t>
            </a:r>
          </a:p>
          <a:p>
            <a:endParaRPr lang="en-GB" dirty="0"/>
          </a:p>
          <a:p>
            <a:r>
              <a:rPr lang="en-GB" dirty="0"/>
              <a:t>Which ones do you know how to avoid?</a:t>
            </a:r>
          </a:p>
        </p:txBody>
      </p:sp>
      <p:pic>
        <p:nvPicPr>
          <p:cNvPr id="4" name="Picture 3"/>
          <p:cNvPicPr>
            <a:picLocks noChangeAspect="1"/>
          </p:cNvPicPr>
          <p:nvPr/>
        </p:nvPicPr>
        <p:blipFill rotWithShape="1">
          <a:blip r:embed="rId2"/>
          <a:srcRect b="3626"/>
          <a:stretch/>
        </p:blipFill>
        <p:spPr>
          <a:xfrm>
            <a:off x="768096" y="3958031"/>
            <a:ext cx="4912996" cy="889293"/>
          </a:xfrm>
          <a:prstGeom prst="rect">
            <a:avLst/>
          </a:prstGeom>
        </p:spPr>
      </p:pic>
      <p:pic>
        <p:nvPicPr>
          <p:cNvPr id="5" name="Picture 4"/>
          <p:cNvPicPr>
            <a:picLocks noChangeAspect="1"/>
          </p:cNvPicPr>
          <p:nvPr/>
        </p:nvPicPr>
        <p:blipFill>
          <a:blip r:embed="rId3"/>
          <a:stretch>
            <a:fillRect/>
          </a:stretch>
        </p:blipFill>
        <p:spPr>
          <a:xfrm>
            <a:off x="768096" y="5005852"/>
            <a:ext cx="6187293" cy="1295578"/>
          </a:xfrm>
          <a:prstGeom prst="rect">
            <a:avLst/>
          </a:prstGeom>
        </p:spPr>
      </p:pic>
    </p:spTree>
    <p:extLst>
      <p:ext uri="{BB962C8B-B14F-4D97-AF65-F5344CB8AC3E}">
        <p14:creationId xmlns:p14="http://schemas.microsoft.com/office/powerpoint/2010/main" val="33087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BC26D-6910-4D9D-B87D-9FF92381DA7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3B55E29F-073B-40C0-9C45-AD897374EF74}"/>
              </a:ext>
            </a:extLst>
          </p:cNvPr>
          <p:cNvSpPr>
            <a:spLocks noGrp="1"/>
          </p:cNvSpPr>
          <p:nvPr>
            <p:ph idx="1"/>
          </p:nvPr>
        </p:nvSpPr>
        <p:spPr/>
        <p:txBody>
          <a:bodyPr>
            <a:normAutofit/>
          </a:bodyPr>
          <a:lstStyle/>
          <a:p>
            <a:r>
              <a:rPr lang="en-GB" dirty="0"/>
              <a:t>Runtime Errors - </a:t>
            </a:r>
            <a:r>
              <a:rPr lang="en-GB" b="1" dirty="0"/>
              <a:t>A problem that is encountered when a program is being executed</a:t>
            </a:r>
          </a:p>
          <a:p>
            <a:endParaRPr lang="en-GB" b="1" dirty="0"/>
          </a:p>
          <a:p>
            <a:r>
              <a:rPr lang="en-GB" b="1" dirty="0"/>
              <a:t>Index Errors</a:t>
            </a:r>
            <a:r>
              <a:rPr lang="en-GB" dirty="0"/>
              <a:t> – Trying to access a position that doesn’t exist</a:t>
            </a:r>
          </a:p>
          <a:p>
            <a:r>
              <a:rPr lang="en-GB" b="1" dirty="0"/>
              <a:t>Value Errors</a:t>
            </a:r>
            <a:r>
              <a:rPr lang="en-GB" dirty="0"/>
              <a:t> – Incorrect data types being entered</a:t>
            </a:r>
          </a:p>
          <a:p>
            <a:r>
              <a:rPr lang="en-GB" b="1" dirty="0"/>
              <a:t>Type Error</a:t>
            </a:r>
            <a:r>
              <a:rPr lang="en-GB" dirty="0"/>
              <a:t> – Trying to perform an operation to an incorrect data type</a:t>
            </a:r>
          </a:p>
          <a:p>
            <a:r>
              <a:rPr lang="en-GB" b="1" dirty="0"/>
              <a:t>Zero Division Error</a:t>
            </a:r>
            <a:r>
              <a:rPr lang="en-GB" dirty="0"/>
              <a:t> – Trying to divide a value by zero</a:t>
            </a:r>
          </a:p>
          <a:p>
            <a:r>
              <a:rPr lang="en-GB" b="1" dirty="0"/>
              <a:t>File Not Found Error</a:t>
            </a:r>
            <a:r>
              <a:rPr lang="en-GB" dirty="0"/>
              <a:t> – Accessing a file that doesn’t exist</a:t>
            </a:r>
          </a:p>
          <a:p>
            <a:r>
              <a:rPr lang="en-GB" b="1" dirty="0"/>
              <a:t>Name Errors</a:t>
            </a:r>
            <a:r>
              <a:rPr lang="en-GB" dirty="0"/>
              <a:t> – Accessing a variable that doesn’t exist</a:t>
            </a:r>
          </a:p>
          <a:p>
            <a:endParaRPr lang="en-GB" b="1" dirty="0"/>
          </a:p>
          <a:p>
            <a:endParaRPr lang="en-GB" dirty="0"/>
          </a:p>
          <a:p>
            <a:endParaRPr lang="en-GB" dirty="0"/>
          </a:p>
        </p:txBody>
      </p:sp>
      <p:sp>
        <p:nvSpPr>
          <p:cNvPr id="4" name="Rectangle: Rounded Corners 3">
            <a:extLst>
              <a:ext uri="{FF2B5EF4-FFF2-40B4-BE49-F238E27FC236}">
                <a16:creationId xmlns:a16="http://schemas.microsoft.com/office/drawing/2014/main" id="{6D052539-58D3-25CA-7303-4B9B36C1EA8A}"/>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a:t>Task 1 - Error types and fixes: </a:t>
            </a:r>
            <a:endParaRPr lang="en-GB" dirty="0"/>
          </a:p>
        </p:txBody>
      </p:sp>
    </p:spTree>
    <p:extLst>
      <p:ext uri="{BB962C8B-B14F-4D97-AF65-F5344CB8AC3E}">
        <p14:creationId xmlns:p14="http://schemas.microsoft.com/office/powerpoint/2010/main" val="3702074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Type command – good for problem solving, not for exception handling</a:t>
            </a:r>
          </a:p>
        </p:txBody>
      </p:sp>
      <p:sp>
        <p:nvSpPr>
          <p:cNvPr id="3" name="Content Placeholder 2"/>
          <p:cNvSpPr>
            <a:spLocks noGrp="1"/>
          </p:cNvSpPr>
          <p:nvPr>
            <p:ph idx="1"/>
          </p:nvPr>
        </p:nvSpPr>
        <p:spPr>
          <a:xfrm>
            <a:off x="391886" y="2429692"/>
            <a:ext cx="1426464" cy="1397726"/>
          </a:xfrm>
        </p:spPr>
        <p:txBody>
          <a:bodyPr>
            <a:normAutofit fontScale="92500" lnSpcReduction="20000"/>
          </a:bodyPr>
          <a:lstStyle/>
          <a:p>
            <a:pPr marL="0" indent="0">
              <a:buNone/>
            </a:pPr>
            <a:r>
              <a:rPr lang="en-GB" sz="2800" dirty="0"/>
              <a:t>a=“hello”</a:t>
            </a:r>
          </a:p>
          <a:p>
            <a:pPr marL="0" indent="0">
              <a:buNone/>
            </a:pPr>
            <a:r>
              <a:rPr lang="en-GB" sz="2800" dirty="0"/>
              <a:t>b=4.6</a:t>
            </a:r>
          </a:p>
          <a:p>
            <a:pPr marL="0" indent="0">
              <a:buNone/>
            </a:pPr>
            <a:r>
              <a:rPr lang="en-GB" sz="2800" dirty="0"/>
              <a:t>c=10</a:t>
            </a:r>
          </a:p>
          <a:p>
            <a:endParaRPr lang="en-GB" sz="2800" dirty="0"/>
          </a:p>
        </p:txBody>
      </p:sp>
      <p:graphicFrame>
        <p:nvGraphicFramePr>
          <p:cNvPr id="7" name="Table 6"/>
          <p:cNvGraphicFramePr>
            <a:graphicFrameLocks noGrp="1"/>
          </p:cNvGraphicFramePr>
          <p:nvPr>
            <p:extLst>
              <p:ext uri="{D42A27DB-BD31-4B8C-83A1-F6EECF244321}">
                <p14:modId xmlns:p14="http://schemas.microsoft.com/office/powerpoint/2010/main" val="2411466436"/>
              </p:ext>
            </p:extLst>
          </p:nvPr>
        </p:nvGraphicFramePr>
        <p:xfrm>
          <a:off x="2207623" y="1972494"/>
          <a:ext cx="6557554" cy="4859379"/>
        </p:xfrm>
        <a:graphic>
          <a:graphicData uri="http://schemas.openxmlformats.org/drawingml/2006/table">
            <a:tbl>
              <a:tblPr firstRow="1" bandRow="1">
                <a:tableStyleId>{5C22544A-7EE6-4342-B048-85BDC9FD1C3A}</a:tableStyleId>
              </a:tblPr>
              <a:tblGrid>
                <a:gridCol w="2076994">
                  <a:extLst>
                    <a:ext uri="{9D8B030D-6E8A-4147-A177-3AD203B41FA5}">
                      <a16:colId xmlns:a16="http://schemas.microsoft.com/office/drawing/2014/main" val="3344015776"/>
                    </a:ext>
                  </a:extLst>
                </a:gridCol>
                <a:gridCol w="4480560">
                  <a:extLst>
                    <a:ext uri="{9D8B030D-6E8A-4147-A177-3AD203B41FA5}">
                      <a16:colId xmlns:a16="http://schemas.microsoft.com/office/drawing/2014/main" val="1544223805"/>
                    </a:ext>
                  </a:extLst>
                </a:gridCol>
              </a:tblGrid>
              <a:tr h="694197">
                <a:tc>
                  <a:txBody>
                    <a:bodyPr/>
                    <a:lstStyle/>
                    <a:p>
                      <a:r>
                        <a:rPr lang="en-GB" sz="3600" dirty="0"/>
                        <a:t>Code</a:t>
                      </a:r>
                    </a:p>
                  </a:txBody>
                  <a:tcPr/>
                </a:tc>
                <a:tc>
                  <a:txBody>
                    <a:bodyPr/>
                    <a:lstStyle/>
                    <a:p>
                      <a:r>
                        <a:rPr lang="en-GB" sz="3600" dirty="0"/>
                        <a:t>What it</a:t>
                      </a:r>
                      <a:r>
                        <a:rPr lang="en-GB" sz="3600" baseline="0" dirty="0"/>
                        <a:t> does</a:t>
                      </a:r>
                      <a:endParaRPr lang="en-GB" sz="3600" dirty="0"/>
                    </a:p>
                  </a:txBody>
                  <a:tcPr/>
                </a:tc>
                <a:extLst>
                  <a:ext uri="{0D108BD9-81ED-4DB2-BD59-A6C34878D82A}">
                    <a16:rowId xmlns:a16="http://schemas.microsoft.com/office/drawing/2014/main" val="2215223082"/>
                  </a:ext>
                </a:extLst>
              </a:tr>
              <a:tr h="694197">
                <a:tc>
                  <a:txBody>
                    <a:bodyPr/>
                    <a:lstStyle/>
                    <a:p>
                      <a:pPr marL="0" indent="0">
                        <a:buNone/>
                      </a:pPr>
                      <a:r>
                        <a:rPr lang="en-GB" sz="3600" dirty="0"/>
                        <a:t>type(“a”)</a:t>
                      </a:r>
                    </a:p>
                  </a:txBody>
                  <a:tcPr/>
                </a:tc>
                <a:tc>
                  <a:txBody>
                    <a:bodyPr/>
                    <a:lstStyle/>
                    <a:p>
                      <a:endParaRPr lang="en-GB" sz="3600"/>
                    </a:p>
                  </a:txBody>
                  <a:tcPr/>
                </a:tc>
                <a:extLst>
                  <a:ext uri="{0D108BD9-81ED-4DB2-BD59-A6C34878D82A}">
                    <a16:rowId xmlns:a16="http://schemas.microsoft.com/office/drawing/2014/main" val="2156293719"/>
                  </a:ext>
                </a:extLst>
              </a:tr>
              <a:tr h="6941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3600" dirty="0"/>
                        <a:t>type(2)</a:t>
                      </a:r>
                    </a:p>
                  </a:txBody>
                  <a:tcPr/>
                </a:tc>
                <a:tc>
                  <a:txBody>
                    <a:bodyPr/>
                    <a:lstStyle/>
                    <a:p>
                      <a:endParaRPr lang="en-GB" sz="3600"/>
                    </a:p>
                  </a:txBody>
                  <a:tcPr/>
                </a:tc>
                <a:extLst>
                  <a:ext uri="{0D108BD9-81ED-4DB2-BD59-A6C34878D82A}">
                    <a16:rowId xmlns:a16="http://schemas.microsoft.com/office/drawing/2014/main" val="1358538595"/>
                  </a:ext>
                </a:extLst>
              </a:tr>
              <a:tr h="6941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3600" dirty="0"/>
                        <a:t>type(2.5)</a:t>
                      </a:r>
                    </a:p>
                  </a:txBody>
                  <a:tcPr/>
                </a:tc>
                <a:tc>
                  <a:txBody>
                    <a:bodyPr/>
                    <a:lstStyle/>
                    <a:p>
                      <a:endParaRPr lang="en-GB" sz="3600"/>
                    </a:p>
                  </a:txBody>
                  <a:tcPr/>
                </a:tc>
                <a:extLst>
                  <a:ext uri="{0D108BD9-81ED-4DB2-BD59-A6C34878D82A}">
                    <a16:rowId xmlns:a16="http://schemas.microsoft.com/office/drawing/2014/main" val="3425052191"/>
                  </a:ext>
                </a:extLst>
              </a:tr>
              <a:tr h="694197">
                <a:tc>
                  <a:txBody>
                    <a:bodyPr/>
                    <a:lstStyle/>
                    <a:p>
                      <a:r>
                        <a:rPr lang="en-GB" sz="3600" dirty="0"/>
                        <a:t>type(a)</a:t>
                      </a:r>
                    </a:p>
                  </a:txBody>
                  <a:tcPr/>
                </a:tc>
                <a:tc>
                  <a:txBody>
                    <a:bodyPr/>
                    <a:lstStyle/>
                    <a:p>
                      <a:endParaRPr lang="en-GB" sz="3600" dirty="0"/>
                    </a:p>
                  </a:txBody>
                  <a:tcPr/>
                </a:tc>
                <a:extLst>
                  <a:ext uri="{0D108BD9-81ED-4DB2-BD59-A6C34878D82A}">
                    <a16:rowId xmlns:a16="http://schemas.microsoft.com/office/drawing/2014/main" val="1606613848"/>
                  </a:ext>
                </a:extLst>
              </a:tr>
              <a:tr h="694197">
                <a:tc>
                  <a:txBody>
                    <a:bodyPr/>
                    <a:lstStyle/>
                    <a:p>
                      <a:r>
                        <a:rPr lang="en-GB" sz="3600" dirty="0"/>
                        <a:t>type(b)</a:t>
                      </a:r>
                    </a:p>
                  </a:txBody>
                  <a:tcPr/>
                </a:tc>
                <a:tc>
                  <a:txBody>
                    <a:bodyPr/>
                    <a:lstStyle/>
                    <a:p>
                      <a:endParaRPr lang="en-GB" sz="3600" dirty="0"/>
                    </a:p>
                  </a:txBody>
                  <a:tcPr/>
                </a:tc>
                <a:extLst>
                  <a:ext uri="{0D108BD9-81ED-4DB2-BD59-A6C34878D82A}">
                    <a16:rowId xmlns:a16="http://schemas.microsoft.com/office/drawing/2014/main" val="2128620818"/>
                  </a:ext>
                </a:extLst>
              </a:tr>
              <a:tr h="694197">
                <a:tc>
                  <a:txBody>
                    <a:bodyPr/>
                    <a:lstStyle/>
                    <a:p>
                      <a:r>
                        <a:rPr lang="en-GB" sz="3600" dirty="0"/>
                        <a:t>type(c)</a:t>
                      </a:r>
                    </a:p>
                  </a:txBody>
                  <a:tcPr/>
                </a:tc>
                <a:tc>
                  <a:txBody>
                    <a:bodyPr/>
                    <a:lstStyle/>
                    <a:p>
                      <a:endParaRPr lang="en-GB" sz="3600" dirty="0"/>
                    </a:p>
                  </a:txBody>
                  <a:tcPr/>
                </a:tc>
                <a:extLst>
                  <a:ext uri="{0D108BD9-81ED-4DB2-BD59-A6C34878D82A}">
                    <a16:rowId xmlns:a16="http://schemas.microsoft.com/office/drawing/2014/main" val="3812751996"/>
                  </a:ext>
                </a:extLst>
              </a:tr>
            </a:tbl>
          </a:graphicData>
        </a:graphic>
      </p:graphicFrame>
      <p:pic>
        <p:nvPicPr>
          <p:cNvPr id="5" name="Picture 4">
            <a:extLst>
              <a:ext uri="{FF2B5EF4-FFF2-40B4-BE49-F238E27FC236}">
                <a16:creationId xmlns:a16="http://schemas.microsoft.com/office/drawing/2014/main" id="{CCDCD16F-50FB-DF6B-8869-9156C2BD94E4}"/>
              </a:ext>
            </a:extLst>
          </p:cNvPr>
          <p:cNvPicPr>
            <a:picLocks noChangeAspect="1"/>
          </p:cNvPicPr>
          <p:nvPr/>
        </p:nvPicPr>
        <p:blipFill>
          <a:blip r:embed="rId2"/>
          <a:stretch>
            <a:fillRect/>
          </a:stretch>
        </p:blipFill>
        <p:spPr>
          <a:xfrm>
            <a:off x="4261549" y="2677889"/>
            <a:ext cx="2570325" cy="667296"/>
          </a:xfrm>
          <a:prstGeom prst="rect">
            <a:avLst/>
          </a:prstGeom>
        </p:spPr>
      </p:pic>
      <p:pic>
        <p:nvPicPr>
          <p:cNvPr id="8" name="Picture 7">
            <a:extLst>
              <a:ext uri="{FF2B5EF4-FFF2-40B4-BE49-F238E27FC236}">
                <a16:creationId xmlns:a16="http://schemas.microsoft.com/office/drawing/2014/main" id="{64ABB902-3183-3B6E-B3D0-0ED11DD73B33}"/>
              </a:ext>
            </a:extLst>
          </p:cNvPr>
          <p:cNvPicPr>
            <a:picLocks noChangeAspect="1"/>
          </p:cNvPicPr>
          <p:nvPr/>
        </p:nvPicPr>
        <p:blipFill>
          <a:blip r:embed="rId3"/>
          <a:stretch>
            <a:fillRect/>
          </a:stretch>
        </p:blipFill>
        <p:spPr>
          <a:xfrm>
            <a:off x="4261549" y="3376753"/>
            <a:ext cx="2570325" cy="644702"/>
          </a:xfrm>
          <a:prstGeom prst="rect">
            <a:avLst/>
          </a:prstGeom>
        </p:spPr>
      </p:pic>
      <p:pic>
        <p:nvPicPr>
          <p:cNvPr id="10" name="Picture 9">
            <a:extLst>
              <a:ext uri="{FF2B5EF4-FFF2-40B4-BE49-F238E27FC236}">
                <a16:creationId xmlns:a16="http://schemas.microsoft.com/office/drawing/2014/main" id="{9B73BEA4-A664-4279-A956-CBC8EDEA0EBF}"/>
              </a:ext>
            </a:extLst>
          </p:cNvPr>
          <p:cNvPicPr>
            <a:picLocks noChangeAspect="1"/>
          </p:cNvPicPr>
          <p:nvPr/>
        </p:nvPicPr>
        <p:blipFill>
          <a:blip r:embed="rId4"/>
          <a:stretch>
            <a:fillRect/>
          </a:stretch>
        </p:blipFill>
        <p:spPr>
          <a:xfrm>
            <a:off x="4261549" y="4075615"/>
            <a:ext cx="2700954" cy="707214"/>
          </a:xfrm>
          <a:prstGeom prst="rect">
            <a:avLst/>
          </a:prstGeom>
        </p:spPr>
      </p:pic>
      <p:pic>
        <p:nvPicPr>
          <p:cNvPr id="12" name="Picture 11">
            <a:extLst>
              <a:ext uri="{FF2B5EF4-FFF2-40B4-BE49-F238E27FC236}">
                <a16:creationId xmlns:a16="http://schemas.microsoft.com/office/drawing/2014/main" id="{AF5825F1-C3C0-62E3-083C-B7B61831FA5B}"/>
              </a:ext>
            </a:extLst>
          </p:cNvPr>
          <p:cNvPicPr>
            <a:picLocks noChangeAspect="1"/>
          </p:cNvPicPr>
          <p:nvPr/>
        </p:nvPicPr>
        <p:blipFill>
          <a:blip r:embed="rId5"/>
          <a:stretch>
            <a:fillRect/>
          </a:stretch>
        </p:blipFill>
        <p:spPr>
          <a:xfrm>
            <a:off x="4261549" y="4812825"/>
            <a:ext cx="2700954" cy="612328"/>
          </a:xfrm>
          <a:prstGeom prst="rect">
            <a:avLst/>
          </a:prstGeom>
        </p:spPr>
      </p:pic>
      <p:pic>
        <p:nvPicPr>
          <p:cNvPr id="14" name="Picture 13">
            <a:extLst>
              <a:ext uri="{FF2B5EF4-FFF2-40B4-BE49-F238E27FC236}">
                <a16:creationId xmlns:a16="http://schemas.microsoft.com/office/drawing/2014/main" id="{2896312E-1656-3212-D0E9-87082A8CA494}"/>
              </a:ext>
            </a:extLst>
          </p:cNvPr>
          <p:cNvPicPr>
            <a:picLocks noChangeAspect="1"/>
          </p:cNvPicPr>
          <p:nvPr/>
        </p:nvPicPr>
        <p:blipFill>
          <a:blip r:embed="rId6"/>
          <a:stretch>
            <a:fillRect/>
          </a:stretch>
        </p:blipFill>
        <p:spPr>
          <a:xfrm>
            <a:off x="4261550" y="5455149"/>
            <a:ext cx="2700954" cy="614543"/>
          </a:xfrm>
          <a:prstGeom prst="rect">
            <a:avLst/>
          </a:prstGeom>
        </p:spPr>
      </p:pic>
      <p:pic>
        <p:nvPicPr>
          <p:cNvPr id="16" name="Picture 15">
            <a:extLst>
              <a:ext uri="{FF2B5EF4-FFF2-40B4-BE49-F238E27FC236}">
                <a16:creationId xmlns:a16="http://schemas.microsoft.com/office/drawing/2014/main" id="{792B97A4-3956-A4E3-99AB-95C3B55DABDD}"/>
              </a:ext>
            </a:extLst>
          </p:cNvPr>
          <p:cNvPicPr>
            <a:picLocks noChangeAspect="1"/>
          </p:cNvPicPr>
          <p:nvPr/>
        </p:nvPicPr>
        <p:blipFill>
          <a:blip r:embed="rId7"/>
          <a:stretch>
            <a:fillRect/>
          </a:stretch>
        </p:blipFill>
        <p:spPr>
          <a:xfrm>
            <a:off x="4261549" y="6130402"/>
            <a:ext cx="2700954" cy="700880"/>
          </a:xfrm>
          <a:prstGeom prst="rect">
            <a:avLst/>
          </a:prstGeom>
        </p:spPr>
      </p:pic>
      <p:sp>
        <p:nvSpPr>
          <p:cNvPr id="19" name="Rectangle: Rounded Corners 18">
            <a:extLst>
              <a:ext uri="{FF2B5EF4-FFF2-40B4-BE49-F238E27FC236}">
                <a16:creationId xmlns:a16="http://schemas.microsoft.com/office/drawing/2014/main" id="{D0ABFA1F-D09D-8ADB-BD1B-392D914F0345}"/>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Task 2 – type command</a:t>
            </a:r>
          </a:p>
        </p:txBody>
      </p:sp>
    </p:spTree>
    <p:extLst>
      <p:ext uri="{BB962C8B-B14F-4D97-AF65-F5344CB8AC3E}">
        <p14:creationId xmlns:p14="http://schemas.microsoft.com/office/powerpoint/2010/main" val="178525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If statements – always finish them</a:t>
            </a:r>
          </a:p>
        </p:txBody>
      </p:sp>
      <p:sp>
        <p:nvSpPr>
          <p:cNvPr id="4" name="Content Placeholder 1"/>
          <p:cNvSpPr>
            <a:spLocks noGrp="1"/>
          </p:cNvSpPr>
          <p:nvPr>
            <p:ph idx="1"/>
          </p:nvPr>
        </p:nvSpPr>
        <p:spPr>
          <a:xfrm>
            <a:off x="478220" y="1859701"/>
            <a:ext cx="8229600" cy="4525963"/>
          </a:xfrm>
        </p:spPr>
        <p:txBody>
          <a:bodyPr>
            <a:normAutofit/>
          </a:bodyPr>
          <a:lstStyle/>
          <a:p>
            <a:pPr marL="109728" indent="0">
              <a:buNone/>
            </a:pPr>
            <a:r>
              <a:rPr lang="en-GB" sz="2400" b="1" u="sng" dirty="0"/>
              <a:t>IF example</a:t>
            </a:r>
          </a:p>
          <a:p>
            <a:pPr marL="109728" indent="0">
              <a:buNone/>
            </a:pPr>
            <a:r>
              <a:rPr lang="en-GB" sz="2400" dirty="0"/>
              <a:t>A very simple way to validate our programs is always making sure that the user knows what went wrong. Something as simple as finishing off an IF statement can tell the user what has happened and how to fix it going forward.</a:t>
            </a:r>
          </a:p>
          <a:p>
            <a:pPr marL="109728" indent="0">
              <a:buNone/>
            </a:pPr>
            <a:endParaRPr lang="en-GB" dirty="0"/>
          </a:p>
          <a:p>
            <a:pPr marL="109728" indent="0">
              <a:buNone/>
            </a:pPr>
            <a:endParaRPr lang="en-GB" dirty="0"/>
          </a:p>
          <a:p>
            <a:pPr marL="109728" indent="0">
              <a:buNone/>
            </a:pPr>
            <a:endParaRPr lang="en-GB" dirty="0"/>
          </a:p>
          <a:p>
            <a:pPr marL="624078" lvl="0" indent="-514350">
              <a:buFont typeface="+mj-lt"/>
              <a:buAutoNum type="arabicPeriod"/>
            </a:pPr>
            <a:endParaRPr lang="en-GB" dirty="0"/>
          </a:p>
          <a:p>
            <a:pPr marL="624078" indent="-514350">
              <a:buFont typeface="+mj-lt"/>
              <a:buAutoNum type="arabicPeriod"/>
            </a:pPr>
            <a:endParaRPr lang="en-GB" dirty="0"/>
          </a:p>
        </p:txBody>
      </p:sp>
      <p:sp>
        <p:nvSpPr>
          <p:cNvPr id="7" name="Right Arrow 6"/>
          <p:cNvSpPr/>
          <p:nvPr/>
        </p:nvSpPr>
        <p:spPr>
          <a:xfrm>
            <a:off x="4259828" y="4269113"/>
            <a:ext cx="432048"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FBF9753C-0E02-CC9A-578E-24EE6F8EC871}"/>
              </a:ext>
            </a:extLst>
          </p:cNvPr>
          <p:cNvPicPr>
            <a:picLocks noChangeAspect="1"/>
          </p:cNvPicPr>
          <p:nvPr/>
        </p:nvPicPr>
        <p:blipFill>
          <a:blip r:embed="rId2"/>
          <a:stretch>
            <a:fillRect/>
          </a:stretch>
        </p:blipFill>
        <p:spPr>
          <a:xfrm>
            <a:off x="478220" y="4271538"/>
            <a:ext cx="3576729" cy="557712"/>
          </a:xfrm>
          <a:prstGeom prst="rect">
            <a:avLst/>
          </a:prstGeom>
        </p:spPr>
      </p:pic>
      <p:pic>
        <p:nvPicPr>
          <p:cNvPr id="11" name="Picture 10">
            <a:extLst>
              <a:ext uri="{FF2B5EF4-FFF2-40B4-BE49-F238E27FC236}">
                <a16:creationId xmlns:a16="http://schemas.microsoft.com/office/drawing/2014/main" id="{97BAED09-12FE-D7FC-BD14-D69B50534970}"/>
              </a:ext>
            </a:extLst>
          </p:cNvPr>
          <p:cNvPicPr>
            <a:picLocks noChangeAspect="1"/>
          </p:cNvPicPr>
          <p:nvPr/>
        </p:nvPicPr>
        <p:blipFill>
          <a:blip r:embed="rId3"/>
          <a:stretch>
            <a:fillRect/>
          </a:stretch>
        </p:blipFill>
        <p:spPr>
          <a:xfrm>
            <a:off x="5089053" y="4122682"/>
            <a:ext cx="3833045" cy="1011021"/>
          </a:xfrm>
          <a:prstGeom prst="rect">
            <a:avLst/>
          </a:prstGeom>
        </p:spPr>
      </p:pic>
    </p:spTree>
    <p:extLst>
      <p:ext uri="{BB962C8B-B14F-4D97-AF65-F5344CB8AC3E}">
        <p14:creationId xmlns:p14="http://schemas.microsoft.com/office/powerpoint/2010/main" val="308336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Inputs – sanitise them</a:t>
            </a:r>
          </a:p>
        </p:txBody>
      </p:sp>
      <p:pic>
        <p:nvPicPr>
          <p:cNvPr id="8" name="Picture 7"/>
          <p:cNvPicPr>
            <a:picLocks noChangeAspect="1"/>
          </p:cNvPicPr>
          <p:nvPr/>
        </p:nvPicPr>
        <p:blipFill rotWithShape="1">
          <a:blip r:embed="rId2"/>
          <a:srcRect l="13261" t="20469" r="61812" b="67718"/>
          <a:stretch/>
        </p:blipFill>
        <p:spPr>
          <a:xfrm>
            <a:off x="478220" y="2909582"/>
            <a:ext cx="4257315" cy="1955938"/>
          </a:xfrm>
          <a:prstGeom prst="rect">
            <a:avLst/>
          </a:prstGeom>
        </p:spPr>
      </p:pic>
      <p:sp>
        <p:nvSpPr>
          <p:cNvPr id="3" name="Rectangle 2">
            <a:extLst>
              <a:ext uri="{FF2B5EF4-FFF2-40B4-BE49-F238E27FC236}">
                <a16:creationId xmlns:a16="http://schemas.microsoft.com/office/drawing/2014/main" id="{69EF2CE6-C109-A841-B2D0-8D0B20CF8783}"/>
              </a:ext>
            </a:extLst>
          </p:cNvPr>
          <p:cNvSpPr/>
          <p:nvPr/>
        </p:nvSpPr>
        <p:spPr>
          <a:xfrm>
            <a:off x="5093915" y="1666865"/>
            <a:ext cx="3733365" cy="49116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In this example, the user has converted their input to upper case. </a:t>
            </a:r>
          </a:p>
          <a:p>
            <a:pPr algn="ctr"/>
            <a:r>
              <a:rPr lang="en-GB" dirty="0"/>
              <a:t>They have then compared their answer to the lowercase version of the word meaning even if the user types the answer in 100% correctly, they can never get the answer right. </a:t>
            </a:r>
          </a:p>
          <a:p>
            <a:pPr algn="ctr"/>
            <a:r>
              <a:rPr lang="en-GB" dirty="0"/>
              <a:t>Always make use of:</a:t>
            </a:r>
          </a:p>
          <a:p>
            <a:pPr algn="ctr"/>
            <a:r>
              <a:rPr lang="en-GB" dirty="0"/>
              <a:t>.upper()</a:t>
            </a:r>
          </a:p>
          <a:p>
            <a:pPr algn="ctr"/>
            <a:r>
              <a:rPr lang="en-GB" dirty="0"/>
              <a:t>.lower()</a:t>
            </a:r>
          </a:p>
          <a:p>
            <a:pPr algn="ctr"/>
            <a:r>
              <a:rPr lang="en-GB" dirty="0"/>
              <a:t>.title()</a:t>
            </a:r>
          </a:p>
          <a:p>
            <a:pPr algn="ctr"/>
            <a:r>
              <a:rPr lang="en-GB" dirty="0"/>
              <a:t>Where case sensitivity is not an issue. </a:t>
            </a:r>
          </a:p>
          <a:p>
            <a:pPr algn="ctr"/>
            <a:endParaRPr lang="en-GB" dirty="0"/>
          </a:p>
          <a:p>
            <a:pPr algn="ctr"/>
            <a:r>
              <a:rPr lang="en-GB" b="1" dirty="0">
                <a:solidFill>
                  <a:srgbClr val="FF0000"/>
                </a:solidFill>
              </a:rPr>
              <a:t>NOTE: </a:t>
            </a:r>
            <a:r>
              <a:rPr lang="en-GB" dirty="0"/>
              <a:t>This would not work for passwords as an example as we need a mix of upper/lower case, but any other inputs can be validated in this way.</a:t>
            </a:r>
          </a:p>
        </p:txBody>
      </p:sp>
      <p:cxnSp>
        <p:nvCxnSpPr>
          <p:cNvPr id="10" name="Straight Arrow Connector 9">
            <a:extLst>
              <a:ext uri="{FF2B5EF4-FFF2-40B4-BE49-F238E27FC236}">
                <a16:creationId xmlns:a16="http://schemas.microsoft.com/office/drawing/2014/main" id="{76F740CC-56E8-1F2E-E242-88621B2E8761}"/>
              </a:ext>
            </a:extLst>
          </p:cNvPr>
          <p:cNvCxnSpPr>
            <a:cxnSpLocks/>
          </p:cNvCxnSpPr>
          <p:nvPr/>
        </p:nvCxnSpPr>
        <p:spPr>
          <a:xfrm flipH="1">
            <a:off x="2377440" y="3429000"/>
            <a:ext cx="2913017" cy="1502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DD5D15C-BB54-65E4-A3A1-B1F6F52BD6BA}"/>
              </a:ext>
            </a:extLst>
          </p:cNvPr>
          <p:cNvSpPr/>
          <p:nvPr/>
        </p:nvSpPr>
        <p:spPr>
          <a:xfrm>
            <a:off x="3795009" y="2909582"/>
            <a:ext cx="1018903" cy="2708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.lower()</a:t>
            </a:r>
          </a:p>
        </p:txBody>
      </p:sp>
    </p:spTree>
    <p:extLst>
      <p:ext uri="{BB962C8B-B14F-4D97-AF65-F5344CB8AC3E}">
        <p14:creationId xmlns:p14="http://schemas.microsoft.com/office/powerpoint/2010/main" val="2556332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6F04-A59F-B75A-4252-F95C5006A4A8}"/>
              </a:ext>
            </a:extLst>
          </p:cNvPr>
          <p:cNvSpPr>
            <a:spLocks noGrp="1"/>
          </p:cNvSpPr>
          <p:nvPr>
            <p:ph type="title"/>
          </p:nvPr>
        </p:nvSpPr>
        <p:spPr/>
        <p:txBody>
          <a:bodyPr/>
          <a:lstStyle/>
          <a:p>
            <a:r>
              <a:rPr lang="en-GB" dirty="0"/>
              <a:t>Is this validated?</a:t>
            </a:r>
          </a:p>
        </p:txBody>
      </p:sp>
      <p:pic>
        <p:nvPicPr>
          <p:cNvPr id="5" name="Picture 4">
            <a:extLst>
              <a:ext uri="{FF2B5EF4-FFF2-40B4-BE49-F238E27FC236}">
                <a16:creationId xmlns:a16="http://schemas.microsoft.com/office/drawing/2014/main" id="{47CB46D5-54FF-0C6C-17C6-330D1A9F1233}"/>
              </a:ext>
            </a:extLst>
          </p:cNvPr>
          <p:cNvPicPr>
            <a:picLocks noChangeAspect="1"/>
          </p:cNvPicPr>
          <p:nvPr/>
        </p:nvPicPr>
        <p:blipFill>
          <a:blip r:embed="rId2"/>
          <a:stretch>
            <a:fillRect/>
          </a:stretch>
        </p:blipFill>
        <p:spPr>
          <a:xfrm>
            <a:off x="4308654" y="543603"/>
            <a:ext cx="4690843" cy="3577493"/>
          </a:xfrm>
          <a:prstGeom prst="rect">
            <a:avLst/>
          </a:prstGeom>
        </p:spPr>
      </p:pic>
      <p:pic>
        <p:nvPicPr>
          <p:cNvPr id="7" name="Picture 6">
            <a:extLst>
              <a:ext uri="{FF2B5EF4-FFF2-40B4-BE49-F238E27FC236}">
                <a16:creationId xmlns:a16="http://schemas.microsoft.com/office/drawing/2014/main" id="{6E0086EB-94F1-54D7-3614-3976E1B93CA4}"/>
              </a:ext>
            </a:extLst>
          </p:cNvPr>
          <p:cNvPicPr>
            <a:picLocks noChangeAspect="1"/>
          </p:cNvPicPr>
          <p:nvPr/>
        </p:nvPicPr>
        <p:blipFill>
          <a:blip r:embed="rId3"/>
          <a:stretch>
            <a:fillRect/>
          </a:stretch>
        </p:blipFill>
        <p:spPr>
          <a:xfrm>
            <a:off x="4413123" y="4625688"/>
            <a:ext cx="4586374" cy="1788617"/>
          </a:xfrm>
          <a:prstGeom prst="rect">
            <a:avLst/>
          </a:prstGeom>
        </p:spPr>
      </p:pic>
      <p:sp>
        <p:nvSpPr>
          <p:cNvPr id="8" name="Rectangle 7">
            <a:extLst>
              <a:ext uri="{FF2B5EF4-FFF2-40B4-BE49-F238E27FC236}">
                <a16:creationId xmlns:a16="http://schemas.microsoft.com/office/drawing/2014/main" id="{44713A77-3DBF-143A-7A53-6B95C94D010D}"/>
              </a:ext>
            </a:extLst>
          </p:cNvPr>
          <p:cNvSpPr/>
          <p:nvPr/>
        </p:nvSpPr>
        <p:spPr>
          <a:xfrm>
            <a:off x="649708" y="1929199"/>
            <a:ext cx="3380069" cy="43837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This may seem validated with the use of ELSE but it crashes as if I did not type “add” or “subtract” in, the symbol variable never gets created meaning it cannot be compared in the next IF statement.</a:t>
            </a:r>
          </a:p>
          <a:p>
            <a:pPr algn="ctr"/>
            <a:endParaRPr lang="en-GB" dirty="0"/>
          </a:p>
          <a:p>
            <a:pPr algn="ctr"/>
            <a:r>
              <a:rPr lang="en-GB" dirty="0"/>
              <a:t>See the next slide for an idea to solve this problem.</a:t>
            </a:r>
          </a:p>
        </p:txBody>
      </p:sp>
    </p:spTree>
    <p:extLst>
      <p:ext uri="{BB962C8B-B14F-4D97-AF65-F5344CB8AC3E}">
        <p14:creationId xmlns:p14="http://schemas.microsoft.com/office/powerpoint/2010/main" val="381105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of loops to control flow</a:t>
            </a:r>
          </a:p>
        </p:txBody>
      </p:sp>
      <p:sp>
        <p:nvSpPr>
          <p:cNvPr id="3" name="Rectangle 2">
            <a:extLst>
              <a:ext uri="{FF2B5EF4-FFF2-40B4-BE49-F238E27FC236}">
                <a16:creationId xmlns:a16="http://schemas.microsoft.com/office/drawing/2014/main" id="{57DBF0FD-2163-21F5-611F-0DCBD8FBF2F7}"/>
              </a:ext>
            </a:extLst>
          </p:cNvPr>
          <p:cNvSpPr/>
          <p:nvPr/>
        </p:nvSpPr>
        <p:spPr>
          <a:xfrm>
            <a:off x="926973" y="4963886"/>
            <a:ext cx="7707576" cy="17765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In this example, the user cannot break out of this loop and continue with the rest of the code until they have made a correct selection of either “add” or “subtract”. </a:t>
            </a:r>
          </a:p>
          <a:p>
            <a:pPr algn="ctr"/>
            <a:r>
              <a:rPr lang="en-GB" dirty="0"/>
              <a:t>If they type anything else in, the loop will not break and they will be stuck in the loop until a valid input is entered.</a:t>
            </a:r>
          </a:p>
          <a:p>
            <a:pPr algn="ctr"/>
            <a:r>
              <a:rPr lang="en-GB" dirty="0"/>
              <a:t>This will stop any errors later in the code when trying to use the option variable if it does not exist.</a:t>
            </a:r>
          </a:p>
        </p:txBody>
      </p:sp>
      <p:pic>
        <p:nvPicPr>
          <p:cNvPr id="6" name="Picture 5">
            <a:extLst>
              <a:ext uri="{FF2B5EF4-FFF2-40B4-BE49-F238E27FC236}">
                <a16:creationId xmlns:a16="http://schemas.microsoft.com/office/drawing/2014/main" id="{1CAE477F-07F0-86CA-D5A4-C028B97AB8E9}"/>
              </a:ext>
            </a:extLst>
          </p:cNvPr>
          <p:cNvPicPr>
            <a:picLocks noChangeAspect="1"/>
          </p:cNvPicPr>
          <p:nvPr/>
        </p:nvPicPr>
        <p:blipFill>
          <a:blip r:embed="rId2"/>
          <a:stretch>
            <a:fillRect/>
          </a:stretch>
        </p:blipFill>
        <p:spPr>
          <a:xfrm>
            <a:off x="1541417" y="1579517"/>
            <a:ext cx="5486400" cy="3193652"/>
          </a:xfrm>
          <a:prstGeom prst="rect">
            <a:avLst/>
          </a:prstGeom>
        </p:spPr>
      </p:pic>
    </p:spTree>
    <p:extLst>
      <p:ext uri="{BB962C8B-B14F-4D97-AF65-F5344CB8AC3E}">
        <p14:creationId xmlns:p14="http://schemas.microsoft.com/office/powerpoint/2010/main" val="328633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Runtime errors</a:t>
            </a:r>
          </a:p>
        </p:txBody>
      </p:sp>
      <p:sp>
        <p:nvSpPr>
          <p:cNvPr id="3" name="Content Placeholder 2"/>
          <p:cNvSpPr>
            <a:spLocks noGrp="1"/>
          </p:cNvSpPr>
          <p:nvPr>
            <p:ph idx="1"/>
          </p:nvPr>
        </p:nvSpPr>
        <p:spPr/>
        <p:txBody>
          <a:bodyPr/>
          <a:lstStyle/>
          <a:p>
            <a:r>
              <a:rPr lang="en-GB" sz="2800" dirty="0"/>
              <a:t>A runtime error will cause a program to crash – i.e. exit with a very unfriendly error message</a:t>
            </a:r>
          </a:p>
          <a:p>
            <a:endParaRPr lang="en-GB" sz="2800" dirty="0"/>
          </a:p>
          <a:p>
            <a:pPr marL="0" indent="-45720">
              <a:buNone/>
            </a:pPr>
            <a:r>
              <a:rPr lang="en-GB" sz="2800" dirty="0"/>
              <a:t>What could cause this code to crash?</a:t>
            </a:r>
          </a:p>
          <a:p>
            <a:pPr lvl="1"/>
            <a:endParaRPr lang="en-GB" dirty="0"/>
          </a:p>
          <a:p>
            <a:pPr marL="533400" lvl="1" indent="0">
              <a:spcBef>
                <a:spcPts val="1200"/>
              </a:spcBef>
              <a:spcAft>
                <a:spcPts val="0"/>
              </a:spcAft>
              <a:buNone/>
              <a:tabLst>
                <a:tab pos="900113" algn="l"/>
              </a:tabLst>
            </a:pPr>
            <a:r>
              <a:rPr lang="en-GB" sz="1800" dirty="0">
                <a:solidFill>
                  <a:srgbClr val="36A7D4"/>
                </a:solidFill>
                <a:latin typeface="Consolas" panose="020B0609020204030204" pitchFamily="49" charset="0"/>
                <a:cs typeface="Consolas" panose="020B0609020204030204" pitchFamily="49" charset="0"/>
              </a:rPr>
              <a:t>	</a:t>
            </a:r>
            <a:endParaRPr lang="en-GB" dirty="0"/>
          </a:p>
        </p:txBody>
      </p:sp>
      <p:pic>
        <p:nvPicPr>
          <p:cNvPr id="6" name="Picture 5">
            <a:extLst>
              <a:ext uri="{FF2B5EF4-FFF2-40B4-BE49-F238E27FC236}">
                <a16:creationId xmlns:a16="http://schemas.microsoft.com/office/drawing/2014/main" id="{47F40BCF-6C5D-22D3-EDE1-1A0C291A5C9C}"/>
              </a:ext>
            </a:extLst>
          </p:cNvPr>
          <p:cNvPicPr>
            <a:picLocks noChangeAspect="1"/>
          </p:cNvPicPr>
          <p:nvPr/>
        </p:nvPicPr>
        <p:blipFill>
          <a:blip r:embed="rId2"/>
          <a:stretch>
            <a:fillRect/>
          </a:stretch>
        </p:blipFill>
        <p:spPr>
          <a:xfrm>
            <a:off x="501960" y="4581860"/>
            <a:ext cx="3911163" cy="1218048"/>
          </a:xfrm>
          <a:prstGeom prst="rect">
            <a:avLst/>
          </a:prstGeom>
        </p:spPr>
      </p:pic>
      <p:pic>
        <p:nvPicPr>
          <p:cNvPr id="8" name="Picture 7">
            <a:extLst>
              <a:ext uri="{FF2B5EF4-FFF2-40B4-BE49-F238E27FC236}">
                <a16:creationId xmlns:a16="http://schemas.microsoft.com/office/drawing/2014/main" id="{1A7AB04B-A64A-4DF5-2ABB-BD69C6D49855}"/>
              </a:ext>
            </a:extLst>
          </p:cNvPr>
          <p:cNvPicPr>
            <a:picLocks noChangeAspect="1"/>
          </p:cNvPicPr>
          <p:nvPr/>
        </p:nvPicPr>
        <p:blipFill>
          <a:blip r:embed="rId3"/>
          <a:stretch>
            <a:fillRect/>
          </a:stretch>
        </p:blipFill>
        <p:spPr>
          <a:xfrm>
            <a:off x="4759712" y="4527555"/>
            <a:ext cx="4260627" cy="1622400"/>
          </a:xfrm>
          <a:prstGeom prst="rect">
            <a:avLst/>
          </a:prstGeom>
        </p:spPr>
      </p:pic>
    </p:spTree>
    <p:extLst>
      <p:ext uri="{BB962C8B-B14F-4D97-AF65-F5344CB8AC3E}">
        <p14:creationId xmlns:p14="http://schemas.microsoft.com/office/powerpoint/2010/main" val="2669898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5053-FD0F-4510-89F1-0C9F70937FF9}"/>
              </a:ext>
            </a:extLst>
          </p:cNvPr>
          <p:cNvSpPr>
            <a:spLocks noGrp="1"/>
          </p:cNvSpPr>
          <p:nvPr>
            <p:ph type="title"/>
          </p:nvPr>
        </p:nvSpPr>
        <p:spPr/>
        <p:txBody>
          <a:bodyPr/>
          <a:lstStyle/>
          <a:p>
            <a:r>
              <a:rPr lang="en-GB" dirty="0"/>
              <a:t>Index errors</a:t>
            </a:r>
          </a:p>
        </p:txBody>
      </p:sp>
      <p:pic>
        <p:nvPicPr>
          <p:cNvPr id="9" name="Picture 8">
            <a:extLst>
              <a:ext uri="{FF2B5EF4-FFF2-40B4-BE49-F238E27FC236}">
                <a16:creationId xmlns:a16="http://schemas.microsoft.com/office/drawing/2014/main" id="{974FB4C0-427D-B7C5-0BE0-920205D79C65}"/>
              </a:ext>
            </a:extLst>
          </p:cNvPr>
          <p:cNvPicPr>
            <a:picLocks noChangeAspect="1"/>
          </p:cNvPicPr>
          <p:nvPr/>
        </p:nvPicPr>
        <p:blipFill>
          <a:blip r:embed="rId2"/>
          <a:stretch>
            <a:fillRect/>
          </a:stretch>
        </p:blipFill>
        <p:spPr>
          <a:xfrm>
            <a:off x="768096" y="1567911"/>
            <a:ext cx="4163006" cy="1638529"/>
          </a:xfrm>
          <a:prstGeom prst="rect">
            <a:avLst/>
          </a:prstGeom>
        </p:spPr>
      </p:pic>
      <p:pic>
        <p:nvPicPr>
          <p:cNvPr id="11" name="Picture 10">
            <a:extLst>
              <a:ext uri="{FF2B5EF4-FFF2-40B4-BE49-F238E27FC236}">
                <a16:creationId xmlns:a16="http://schemas.microsoft.com/office/drawing/2014/main" id="{B52EC4F6-D4A7-6049-57ED-841A804CE076}"/>
              </a:ext>
            </a:extLst>
          </p:cNvPr>
          <p:cNvPicPr>
            <a:picLocks noChangeAspect="1"/>
          </p:cNvPicPr>
          <p:nvPr/>
        </p:nvPicPr>
        <p:blipFill>
          <a:blip r:embed="rId3"/>
          <a:stretch>
            <a:fillRect/>
          </a:stretch>
        </p:blipFill>
        <p:spPr>
          <a:xfrm>
            <a:off x="5767640" y="1425016"/>
            <a:ext cx="1971950" cy="1781424"/>
          </a:xfrm>
          <a:prstGeom prst="rect">
            <a:avLst/>
          </a:prstGeom>
        </p:spPr>
      </p:pic>
      <p:pic>
        <p:nvPicPr>
          <p:cNvPr id="13" name="Picture 12">
            <a:extLst>
              <a:ext uri="{FF2B5EF4-FFF2-40B4-BE49-F238E27FC236}">
                <a16:creationId xmlns:a16="http://schemas.microsoft.com/office/drawing/2014/main" id="{1D2A0EA2-CE53-D790-01B5-3C30501998EE}"/>
              </a:ext>
            </a:extLst>
          </p:cNvPr>
          <p:cNvPicPr>
            <a:picLocks noChangeAspect="1"/>
          </p:cNvPicPr>
          <p:nvPr/>
        </p:nvPicPr>
        <p:blipFill>
          <a:blip r:embed="rId4"/>
          <a:stretch>
            <a:fillRect/>
          </a:stretch>
        </p:blipFill>
        <p:spPr>
          <a:xfrm>
            <a:off x="804798" y="4121814"/>
            <a:ext cx="4163006" cy="1775961"/>
          </a:xfrm>
          <a:prstGeom prst="rect">
            <a:avLst/>
          </a:prstGeom>
        </p:spPr>
      </p:pic>
      <p:pic>
        <p:nvPicPr>
          <p:cNvPr id="15" name="Picture 14">
            <a:extLst>
              <a:ext uri="{FF2B5EF4-FFF2-40B4-BE49-F238E27FC236}">
                <a16:creationId xmlns:a16="http://schemas.microsoft.com/office/drawing/2014/main" id="{25C817A3-BBE1-D8DC-5B62-F3EFA6F8BD8F}"/>
              </a:ext>
            </a:extLst>
          </p:cNvPr>
          <p:cNvPicPr>
            <a:picLocks noChangeAspect="1"/>
          </p:cNvPicPr>
          <p:nvPr/>
        </p:nvPicPr>
        <p:blipFill>
          <a:blip r:embed="rId5"/>
          <a:stretch>
            <a:fillRect/>
          </a:stretch>
        </p:blipFill>
        <p:spPr>
          <a:xfrm>
            <a:off x="5805999" y="4182088"/>
            <a:ext cx="2252151" cy="1637928"/>
          </a:xfrm>
          <a:prstGeom prst="rect">
            <a:avLst/>
          </a:prstGeom>
        </p:spPr>
      </p:pic>
      <p:sp>
        <p:nvSpPr>
          <p:cNvPr id="16" name="Rectangle 15">
            <a:extLst>
              <a:ext uri="{FF2B5EF4-FFF2-40B4-BE49-F238E27FC236}">
                <a16:creationId xmlns:a16="http://schemas.microsoft.com/office/drawing/2014/main" id="{F0F42A9C-A598-30ED-40B3-507C637F9009}"/>
              </a:ext>
            </a:extLst>
          </p:cNvPr>
          <p:cNvSpPr/>
          <p:nvPr/>
        </p:nvSpPr>
        <p:spPr>
          <a:xfrm>
            <a:off x="548640" y="3383276"/>
            <a:ext cx="8268789" cy="5617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The use of try except here would mean it tries to print the index position but if it can’t, instead of crashing it will print the except message (but too many times as we can see!)</a:t>
            </a:r>
          </a:p>
        </p:txBody>
      </p:sp>
      <p:sp>
        <p:nvSpPr>
          <p:cNvPr id="17" name="Rectangle 16">
            <a:extLst>
              <a:ext uri="{FF2B5EF4-FFF2-40B4-BE49-F238E27FC236}">
                <a16:creationId xmlns:a16="http://schemas.microsoft.com/office/drawing/2014/main" id="{DE38AFC0-FDB1-874C-225A-2CC1CEBAC2EF}"/>
              </a:ext>
            </a:extLst>
          </p:cNvPr>
          <p:cNvSpPr/>
          <p:nvPr/>
        </p:nvSpPr>
        <p:spPr>
          <a:xfrm>
            <a:off x="548640" y="5891139"/>
            <a:ext cx="8268789" cy="933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Using the break command or a Boolean value to break out of the loop means if it gets to the exception once, it will stop the loop execution and will not continue to print the except message.</a:t>
            </a:r>
          </a:p>
        </p:txBody>
      </p:sp>
      <p:sp>
        <p:nvSpPr>
          <p:cNvPr id="18" name="Rectangle: Rounded Corners 17">
            <a:extLst>
              <a:ext uri="{FF2B5EF4-FFF2-40B4-BE49-F238E27FC236}">
                <a16:creationId xmlns:a16="http://schemas.microsoft.com/office/drawing/2014/main" id="{9B988DD8-324A-6AA9-3DA9-F8B788062B10}"/>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a:t>Task 1 - Error types and fixes: </a:t>
            </a:r>
            <a:endParaRPr lang="en-GB" dirty="0"/>
          </a:p>
        </p:txBody>
      </p:sp>
    </p:spTree>
    <p:extLst>
      <p:ext uri="{BB962C8B-B14F-4D97-AF65-F5344CB8AC3E}">
        <p14:creationId xmlns:p14="http://schemas.microsoft.com/office/powerpoint/2010/main" val="486848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Value errors</a:t>
            </a:r>
          </a:p>
        </p:txBody>
      </p:sp>
      <p:sp>
        <p:nvSpPr>
          <p:cNvPr id="3" name="Content Placeholder 2"/>
          <p:cNvSpPr>
            <a:spLocks noGrp="1"/>
          </p:cNvSpPr>
          <p:nvPr>
            <p:ph idx="1"/>
          </p:nvPr>
        </p:nvSpPr>
        <p:spPr/>
        <p:txBody>
          <a:bodyPr>
            <a:normAutofit/>
          </a:bodyPr>
          <a:lstStyle/>
          <a:p>
            <a:pPr algn="ctr"/>
            <a:r>
              <a:rPr lang="en-GB" sz="2400" dirty="0"/>
              <a:t>Using exception handling statements, you can intercept and handle exceptions so that your program does not crash – it will do what the programmer specifies.	</a:t>
            </a:r>
          </a:p>
          <a:p>
            <a:endParaRPr lang="en-GB" dirty="0"/>
          </a:p>
        </p:txBody>
      </p:sp>
      <p:pic>
        <p:nvPicPr>
          <p:cNvPr id="6" name="Picture 5">
            <a:extLst>
              <a:ext uri="{FF2B5EF4-FFF2-40B4-BE49-F238E27FC236}">
                <a16:creationId xmlns:a16="http://schemas.microsoft.com/office/drawing/2014/main" id="{A25B455F-B885-6174-07D1-44B0E12FE6F2}"/>
              </a:ext>
            </a:extLst>
          </p:cNvPr>
          <p:cNvPicPr>
            <a:picLocks noChangeAspect="1"/>
          </p:cNvPicPr>
          <p:nvPr/>
        </p:nvPicPr>
        <p:blipFill>
          <a:blip r:embed="rId2"/>
          <a:stretch>
            <a:fillRect/>
          </a:stretch>
        </p:blipFill>
        <p:spPr>
          <a:xfrm>
            <a:off x="256573" y="4078574"/>
            <a:ext cx="4315427" cy="438211"/>
          </a:xfrm>
          <a:prstGeom prst="rect">
            <a:avLst/>
          </a:prstGeom>
        </p:spPr>
      </p:pic>
      <p:pic>
        <p:nvPicPr>
          <p:cNvPr id="8" name="Picture 7">
            <a:extLst>
              <a:ext uri="{FF2B5EF4-FFF2-40B4-BE49-F238E27FC236}">
                <a16:creationId xmlns:a16="http://schemas.microsoft.com/office/drawing/2014/main" id="{79F44528-984A-F3AF-B100-23627B41552B}"/>
              </a:ext>
            </a:extLst>
          </p:cNvPr>
          <p:cNvPicPr>
            <a:picLocks noChangeAspect="1"/>
          </p:cNvPicPr>
          <p:nvPr/>
        </p:nvPicPr>
        <p:blipFill>
          <a:blip r:embed="rId3"/>
          <a:stretch>
            <a:fillRect/>
          </a:stretch>
        </p:blipFill>
        <p:spPr>
          <a:xfrm>
            <a:off x="5004485" y="3789746"/>
            <a:ext cx="3684657" cy="1134792"/>
          </a:xfrm>
          <a:prstGeom prst="rect">
            <a:avLst/>
          </a:prstGeom>
        </p:spPr>
      </p:pic>
    </p:spTree>
    <p:extLst>
      <p:ext uri="{BB962C8B-B14F-4D97-AF65-F5344CB8AC3E}">
        <p14:creationId xmlns:p14="http://schemas.microsoft.com/office/powerpoint/2010/main" val="2611618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655F3-6447-4221-B368-9FB20ED74EE0}"/>
              </a:ext>
            </a:extLst>
          </p:cNvPr>
          <p:cNvSpPr>
            <a:spLocks noGrp="1"/>
          </p:cNvSpPr>
          <p:nvPr>
            <p:ph type="title"/>
          </p:nvPr>
        </p:nvSpPr>
        <p:spPr/>
        <p:txBody>
          <a:bodyPr/>
          <a:lstStyle/>
          <a:p>
            <a:r>
              <a:rPr lang="en-GB" dirty="0"/>
              <a:t>Value errors</a:t>
            </a:r>
          </a:p>
        </p:txBody>
      </p:sp>
      <p:pic>
        <p:nvPicPr>
          <p:cNvPr id="8" name="Picture 7">
            <a:extLst>
              <a:ext uri="{FF2B5EF4-FFF2-40B4-BE49-F238E27FC236}">
                <a16:creationId xmlns:a16="http://schemas.microsoft.com/office/drawing/2014/main" id="{659B01EC-7C31-2581-DE0F-38AC9D78EB23}"/>
              </a:ext>
            </a:extLst>
          </p:cNvPr>
          <p:cNvPicPr>
            <a:picLocks noChangeAspect="1"/>
          </p:cNvPicPr>
          <p:nvPr/>
        </p:nvPicPr>
        <p:blipFill>
          <a:blip r:embed="rId2"/>
          <a:stretch>
            <a:fillRect/>
          </a:stretch>
        </p:blipFill>
        <p:spPr>
          <a:xfrm>
            <a:off x="293022" y="2183932"/>
            <a:ext cx="3829946" cy="781337"/>
          </a:xfrm>
          <a:prstGeom prst="rect">
            <a:avLst/>
          </a:prstGeom>
        </p:spPr>
      </p:pic>
      <p:pic>
        <p:nvPicPr>
          <p:cNvPr id="10" name="Picture 9">
            <a:extLst>
              <a:ext uri="{FF2B5EF4-FFF2-40B4-BE49-F238E27FC236}">
                <a16:creationId xmlns:a16="http://schemas.microsoft.com/office/drawing/2014/main" id="{16DB2431-AB70-3D8E-6AFB-3564C7BA0375}"/>
              </a:ext>
            </a:extLst>
          </p:cNvPr>
          <p:cNvPicPr>
            <a:picLocks noChangeAspect="1"/>
          </p:cNvPicPr>
          <p:nvPr/>
        </p:nvPicPr>
        <p:blipFill>
          <a:blip r:embed="rId3"/>
          <a:stretch>
            <a:fillRect/>
          </a:stretch>
        </p:blipFill>
        <p:spPr>
          <a:xfrm>
            <a:off x="4779125" y="2422268"/>
            <a:ext cx="3724795" cy="543001"/>
          </a:xfrm>
          <a:prstGeom prst="rect">
            <a:avLst/>
          </a:prstGeom>
        </p:spPr>
      </p:pic>
      <p:pic>
        <p:nvPicPr>
          <p:cNvPr id="12" name="Picture 11">
            <a:extLst>
              <a:ext uri="{FF2B5EF4-FFF2-40B4-BE49-F238E27FC236}">
                <a16:creationId xmlns:a16="http://schemas.microsoft.com/office/drawing/2014/main" id="{353766DD-15B1-5326-4D94-ACD9CF9DA1A0}"/>
              </a:ext>
            </a:extLst>
          </p:cNvPr>
          <p:cNvPicPr>
            <a:picLocks noChangeAspect="1"/>
          </p:cNvPicPr>
          <p:nvPr/>
        </p:nvPicPr>
        <p:blipFill>
          <a:blip r:embed="rId4"/>
          <a:stretch>
            <a:fillRect/>
          </a:stretch>
        </p:blipFill>
        <p:spPr>
          <a:xfrm>
            <a:off x="3722860" y="4042699"/>
            <a:ext cx="5275127" cy="1460939"/>
          </a:xfrm>
          <a:prstGeom prst="rect">
            <a:avLst/>
          </a:prstGeom>
        </p:spPr>
      </p:pic>
      <p:pic>
        <p:nvPicPr>
          <p:cNvPr id="14" name="Picture 13">
            <a:extLst>
              <a:ext uri="{FF2B5EF4-FFF2-40B4-BE49-F238E27FC236}">
                <a16:creationId xmlns:a16="http://schemas.microsoft.com/office/drawing/2014/main" id="{CB320114-6061-58EA-419E-90909015937B}"/>
              </a:ext>
            </a:extLst>
          </p:cNvPr>
          <p:cNvPicPr>
            <a:picLocks noChangeAspect="1"/>
          </p:cNvPicPr>
          <p:nvPr/>
        </p:nvPicPr>
        <p:blipFill>
          <a:blip r:embed="rId5"/>
          <a:stretch>
            <a:fillRect/>
          </a:stretch>
        </p:blipFill>
        <p:spPr>
          <a:xfrm>
            <a:off x="414953" y="4334664"/>
            <a:ext cx="3103247" cy="1168974"/>
          </a:xfrm>
          <a:prstGeom prst="rect">
            <a:avLst/>
          </a:prstGeom>
        </p:spPr>
      </p:pic>
      <p:sp>
        <p:nvSpPr>
          <p:cNvPr id="15" name="Rectangle 14">
            <a:extLst>
              <a:ext uri="{FF2B5EF4-FFF2-40B4-BE49-F238E27FC236}">
                <a16:creationId xmlns:a16="http://schemas.microsoft.com/office/drawing/2014/main" id="{DD341978-91C5-CEE7-545C-42E01E121868}"/>
              </a:ext>
            </a:extLst>
          </p:cNvPr>
          <p:cNvSpPr/>
          <p:nvPr/>
        </p:nvSpPr>
        <p:spPr>
          <a:xfrm>
            <a:off x="548640" y="3383276"/>
            <a:ext cx="8268789" cy="5617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This will still not fix the issue as </a:t>
            </a:r>
            <a:r>
              <a:rPr lang="en-GB" dirty="0" err="1"/>
              <a:t>num</a:t>
            </a:r>
            <a:r>
              <a:rPr lang="en-GB" dirty="0"/>
              <a:t> will not exist but it will avoid an unfriendly error message appearing to the user. </a:t>
            </a:r>
          </a:p>
        </p:txBody>
      </p:sp>
      <p:sp>
        <p:nvSpPr>
          <p:cNvPr id="16" name="Rectangle 15">
            <a:extLst>
              <a:ext uri="{FF2B5EF4-FFF2-40B4-BE49-F238E27FC236}">
                <a16:creationId xmlns:a16="http://schemas.microsoft.com/office/drawing/2014/main" id="{FC77278F-E2F0-9BEB-3072-0B045BC4D4B2}"/>
              </a:ext>
            </a:extLst>
          </p:cNvPr>
          <p:cNvSpPr/>
          <p:nvPr/>
        </p:nvSpPr>
        <p:spPr>
          <a:xfrm>
            <a:off x="548639" y="5847349"/>
            <a:ext cx="8268789" cy="5617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The use of a loop here will enforce that they keep on trying until a valid number is entered, avoiding the unfriendly error message later when a variable is not declared.</a:t>
            </a:r>
          </a:p>
        </p:txBody>
      </p:sp>
      <p:sp>
        <p:nvSpPr>
          <p:cNvPr id="17" name="Rectangle: Rounded Corners 16">
            <a:extLst>
              <a:ext uri="{FF2B5EF4-FFF2-40B4-BE49-F238E27FC236}">
                <a16:creationId xmlns:a16="http://schemas.microsoft.com/office/drawing/2014/main" id="{6429931C-D0F3-110F-54DF-0755A150087F}"/>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a:t>Task 1 - Error types and fixes: </a:t>
            </a:r>
            <a:endParaRPr lang="en-GB" dirty="0"/>
          </a:p>
        </p:txBody>
      </p:sp>
    </p:spTree>
    <p:extLst>
      <p:ext uri="{BB962C8B-B14F-4D97-AF65-F5344CB8AC3E}">
        <p14:creationId xmlns:p14="http://schemas.microsoft.com/office/powerpoint/2010/main" val="323197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26D08-BC98-ED79-FBAB-46D993694FD2}"/>
              </a:ext>
            </a:extLst>
          </p:cNvPr>
          <p:cNvSpPr>
            <a:spLocks noGrp="1"/>
          </p:cNvSpPr>
          <p:nvPr>
            <p:ph type="title"/>
          </p:nvPr>
        </p:nvSpPr>
        <p:spPr/>
        <p:txBody>
          <a:bodyPr/>
          <a:lstStyle/>
          <a:p>
            <a:r>
              <a:rPr lang="en-GB" dirty="0"/>
              <a:t>Specifying error types</a:t>
            </a:r>
          </a:p>
        </p:txBody>
      </p:sp>
      <p:pic>
        <p:nvPicPr>
          <p:cNvPr id="7" name="Picture 6">
            <a:extLst>
              <a:ext uri="{FF2B5EF4-FFF2-40B4-BE49-F238E27FC236}">
                <a16:creationId xmlns:a16="http://schemas.microsoft.com/office/drawing/2014/main" id="{C4E73ECC-D134-117D-274E-AC1B3B807B2B}"/>
              </a:ext>
            </a:extLst>
          </p:cNvPr>
          <p:cNvPicPr>
            <a:picLocks noChangeAspect="1"/>
          </p:cNvPicPr>
          <p:nvPr/>
        </p:nvPicPr>
        <p:blipFill>
          <a:blip r:embed="rId2"/>
          <a:stretch>
            <a:fillRect/>
          </a:stretch>
        </p:blipFill>
        <p:spPr>
          <a:xfrm>
            <a:off x="173906" y="3376750"/>
            <a:ext cx="4239217" cy="1733792"/>
          </a:xfrm>
          <a:prstGeom prst="rect">
            <a:avLst/>
          </a:prstGeom>
        </p:spPr>
      </p:pic>
      <p:pic>
        <p:nvPicPr>
          <p:cNvPr id="5" name="Picture 4">
            <a:extLst>
              <a:ext uri="{FF2B5EF4-FFF2-40B4-BE49-F238E27FC236}">
                <a16:creationId xmlns:a16="http://schemas.microsoft.com/office/drawing/2014/main" id="{4FB58D2F-5CC9-8637-DDDF-B82A18C379D3}"/>
              </a:ext>
            </a:extLst>
          </p:cNvPr>
          <p:cNvPicPr>
            <a:picLocks noChangeAspect="1"/>
          </p:cNvPicPr>
          <p:nvPr/>
        </p:nvPicPr>
        <p:blipFill>
          <a:blip r:embed="rId3"/>
          <a:stretch>
            <a:fillRect/>
          </a:stretch>
        </p:blipFill>
        <p:spPr>
          <a:xfrm>
            <a:off x="3554520" y="2958736"/>
            <a:ext cx="5589480" cy="1499616"/>
          </a:xfrm>
          <a:prstGeom prst="rect">
            <a:avLst/>
          </a:prstGeom>
        </p:spPr>
      </p:pic>
      <p:sp>
        <p:nvSpPr>
          <p:cNvPr id="8" name="Rectangle 7">
            <a:extLst>
              <a:ext uri="{FF2B5EF4-FFF2-40B4-BE49-F238E27FC236}">
                <a16:creationId xmlns:a16="http://schemas.microsoft.com/office/drawing/2014/main" id="{58C533FE-0715-2848-0EE0-AE6C834FE91D}"/>
              </a:ext>
            </a:extLst>
          </p:cNvPr>
          <p:cNvSpPr/>
          <p:nvPr/>
        </p:nvSpPr>
        <p:spPr>
          <a:xfrm>
            <a:off x="437605" y="1933302"/>
            <a:ext cx="8268789" cy="5617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By using the “except” command, we are telling Python if it is about to produce an unfriendly error message of any kind, do the “except” part instead.</a:t>
            </a:r>
          </a:p>
        </p:txBody>
      </p:sp>
      <p:sp>
        <p:nvSpPr>
          <p:cNvPr id="9" name="Rectangle 8">
            <a:extLst>
              <a:ext uri="{FF2B5EF4-FFF2-40B4-BE49-F238E27FC236}">
                <a16:creationId xmlns:a16="http://schemas.microsoft.com/office/drawing/2014/main" id="{BF55440F-BC62-8083-FC0F-C756107DE5C3}"/>
              </a:ext>
            </a:extLst>
          </p:cNvPr>
          <p:cNvSpPr/>
          <p:nvPr/>
        </p:nvSpPr>
        <p:spPr>
          <a:xfrm>
            <a:off x="437605" y="5528555"/>
            <a:ext cx="8268789" cy="11335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We can specify to tell Python exactly which type of error it should be looking for.</a:t>
            </a:r>
          </a:p>
          <a:p>
            <a:pPr algn="ctr"/>
            <a:r>
              <a:rPr lang="en-GB" dirty="0"/>
              <a:t>This also allows us to deal with multiple exceptions at once with different error messages  to the user depending on the issue.</a:t>
            </a:r>
          </a:p>
        </p:txBody>
      </p:sp>
    </p:spTree>
    <p:extLst>
      <p:ext uri="{BB962C8B-B14F-4D97-AF65-F5344CB8AC3E}">
        <p14:creationId xmlns:p14="http://schemas.microsoft.com/office/powerpoint/2010/main" val="215959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41D61-7421-D4CD-DE7A-75FCB9CAD4A9}"/>
              </a:ext>
            </a:extLst>
          </p:cNvPr>
          <p:cNvSpPr>
            <a:spLocks noGrp="1"/>
          </p:cNvSpPr>
          <p:nvPr>
            <p:ph type="title"/>
          </p:nvPr>
        </p:nvSpPr>
        <p:spPr/>
        <p:txBody>
          <a:bodyPr/>
          <a:lstStyle/>
          <a:p>
            <a:r>
              <a:rPr lang="en-GB" dirty="0"/>
              <a:t>Type errors</a:t>
            </a:r>
          </a:p>
        </p:txBody>
      </p:sp>
      <p:pic>
        <p:nvPicPr>
          <p:cNvPr id="7" name="Picture 6">
            <a:extLst>
              <a:ext uri="{FF2B5EF4-FFF2-40B4-BE49-F238E27FC236}">
                <a16:creationId xmlns:a16="http://schemas.microsoft.com/office/drawing/2014/main" id="{2EB69505-6E6D-A317-253D-C58022CAA225}"/>
              </a:ext>
            </a:extLst>
          </p:cNvPr>
          <p:cNvPicPr>
            <a:picLocks noChangeAspect="1"/>
          </p:cNvPicPr>
          <p:nvPr/>
        </p:nvPicPr>
        <p:blipFill>
          <a:blip r:embed="rId2"/>
          <a:stretch>
            <a:fillRect/>
          </a:stretch>
        </p:blipFill>
        <p:spPr>
          <a:xfrm>
            <a:off x="5551656" y="2998831"/>
            <a:ext cx="2372056" cy="285790"/>
          </a:xfrm>
          <a:prstGeom prst="rect">
            <a:avLst/>
          </a:prstGeom>
        </p:spPr>
      </p:pic>
      <p:sp>
        <p:nvSpPr>
          <p:cNvPr id="8" name="Rectangle 7">
            <a:extLst>
              <a:ext uri="{FF2B5EF4-FFF2-40B4-BE49-F238E27FC236}">
                <a16:creationId xmlns:a16="http://schemas.microsoft.com/office/drawing/2014/main" id="{F040B20F-F9AE-FB67-BE2A-5BFC5B7D27D5}"/>
              </a:ext>
            </a:extLst>
          </p:cNvPr>
          <p:cNvSpPr/>
          <p:nvPr/>
        </p:nvSpPr>
        <p:spPr>
          <a:xfrm>
            <a:off x="446188" y="4413314"/>
            <a:ext cx="8268789" cy="10570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Very similar to a value error but if the values were not being typed in, a value error would not be the right type of error, instead this is a type error as this type of data cannot perform this type of operation (adding an integer to a string)</a:t>
            </a:r>
          </a:p>
        </p:txBody>
      </p:sp>
      <p:sp>
        <p:nvSpPr>
          <p:cNvPr id="9" name="Rectangle: Rounded Corners 8">
            <a:extLst>
              <a:ext uri="{FF2B5EF4-FFF2-40B4-BE49-F238E27FC236}">
                <a16:creationId xmlns:a16="http://schemas.microsoft.com/office/drawing/2014/main" id="{3B71F738-1DC3-71D7-3869-F2342ED0E37A}"/>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a:t>Task 1 - Error types and fixes: </a:t>
            </a:r>
            <a:endParaRPr lang="en-GB" dirty="0"/>
          </a:p>
        </p:txBody>
      </p:sp>
      <p:pic>
        <p:nvPicPr>
          <p:cNvPr id="11" name="Picture 10">
            <a:extLst>
              <a:ext uri="{FF2B5EF4-FFF2-40B4-BE49-F238E27FC236}">
                <a16:creationId xmlns:a16="http://schemas.microsoft.com/office/drawing/2014/main" id="{183160B0-DE6F-E6A8-E96E-27EA2A779FAD}"/>
              </a:ext>
            </a:extLst>
          </p:cNvPr>
          <p:cNvPicPr>
            <a:picLocks noChangeAspect="1"/>
          </p:cNvPicPr>
          <p:nvPr/>
        </p:nvPicPr>
        <p:blipFill>
          <a:blip r:embed="rId3"/>
          <a:stretch>
            <a:fillRect/>
          </a:stretch>
        </p:blipFill>
        <p:spPr>
          <a:xfrm>
            <a:off x="768096" y="2327225"/>
            <a:ext cx="4067743" cy="1629002"/>
          </a:xfrm>
          <a:prstGeom prst="rect">
            <a:avLst/>
          </a:prstGeom>
        </p:spPr>
      </p:pic>
    </p:spTree>
    <p:extLst>
      <p:ext uri="{BB962C8B-B14F-4D97-AF65-F5344CB8AC3E}">
        <p14:creationId xmlns:p14="http://schemas.microsoft.com/office/powerpoint/2010/main" val="56715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Multiple Exceptions handling</a:t>
            </a:r>
          </a:p>
        </p:txBody>
      </p:sp>
      <p:sp>
        <p:nvSpPr>
          <p:cNvPr id="3" name="Content Placeholder 2"/>
          <p:cNvSpPr>
            <a:spLocks noGrp="1"/>
          </p:cNvSpPr>
          <p:nvPr>
            <p:ph idx="1"/>
          </p:nvPr>
        </p:nvSpPr>
        <p:spPr/>
        <p:txBody>
          <a:bodyPr>
            <a:normAutofit/>
          </a:bodyPr>
          <a:lstStyle/>
          <a:p>
            <a:pPr marL="0" indent="0">
              <a:buNone/>
            </a:pPr>
            <a:r>
              <a:rPr lang="en-GB" dirty="0"/>
              <a:t>You can use except multiple times for different types of error if there is more than one thing that could go wrong – this will be more user friendly to let the user know exactly what they have done wrong.</a:t>
            </a:r>
          </a:p>
          <a:p>
            <a:pPr marL="444500" lvl="1" indent="0">
              <a:spcAft>
                <a:spcPts val="0"/>
              </a:spcAft>
              <a:buNone/>
              <a:tabLst>
                <a:tab pos="803275" algn="l"/>
                <a:tab pos="1163638" algn="l"/>
              </a:tabLst>
            </a:pPr>
            <a:r>
              <a:rPr lang="en-GB" dirty="0"/>
              <a:t>	</a:t>
            </a:r>
          </a:p>
          <a:p>
            <a:endParaRPr lang="en-GB" dirty="0"/>
          </a:p>
        </p:txBody>
      </p:sp>
      <p:pic>
        <p:nvPicPr>
          <p:cNvPr id="8" name="Picture 7">
            <a:extLst>
              <a:ext uri="{FF2B5EF4-FFF2-40B4-BE49-F238E27FC236}">
                <a16:creationId xmlns:a16="http://schemas.microsoft.com/office/drawing/2014/main" id="{2D156237-81EC-DC4E-0E0A-60DE8F0C8E88}"/>
              </a:ext>
            </a:extLst>
          </p:cNvPr>
          <p:cNvPicPr>
            <a:picLocks noChangeAspect="1"/>
          </p:cNvPicPr>
          <p:nvPr/>
        </p:nvPicPr>
        <p:blipFill>
          <a:blip r:embed="rId2"/>
          <a:stretch>
            <a:fillRect/>
          </a:stretch>
        </p:blipFill>
        <p:spPr>
          <a:xfrm>
            <a:off x="416674" y="3429000"/>
            <a:ext cx="4629796" cy="2095792"/>
          </a:xfrm>
          <a:prstGeom prst="rect">
            <a:avLst/>
          </a:prstGeom>
        </p:spPr>
      </p:pic>
      <p:pic>
        <p:nvPicPr>
          <p:cNvPr id="10" name="Picture 9">
            <a:extLst>
              <a:ext uri="{FF2B5EF4-FFF2-40B4-BE49-F238E27FC236}">
                <a16:creationId xmlns:a16="http://schemas.microsoft.com/office/drawing/2014/main" id="{4056AFAF-F079-146C-8B7E-1E6AE134B06C}"/>
              </a:ext>
            </a:extLst>
          </p:cNvPr>
          <p:cNvPicPr>
            <a:picLocks noChangeAspect="1"/>
          </p:cNvPicPr>
          <p:nvPr/>
        </p:nvPicPr>
        <p:blipFill>
          <a:blip r:embed="rId3"/>
          <a:stretch>
            <a:fillRect/>
          </a:stretch>
        </p:blipFill>
        <p:spPr>
          <a:xfrm>
            <a:off x="5818411" y="3639454"/>
            <a:ext cx="3177985" cy="1115537"/>
          </a:xfrm>
          <a:prstGeom prst="rect">
            <a:avLst/>
          </a:prstGeom>
        </p:spPr>
      </p:pic>
      <p:pic>
        <p:nvPicPr>
          <p:cNvPr id="14" name="Picture 13">
            <a:extLst>
              <a:ext uri="{FF2B5EF4-FFF2-40B4-BE49-F238E27FC236}">
                <a16:creationId xmlns:a16="http://schemas.microsoft.com/office/drawing/2014/main" id="{9F76C109-E966-0AEF-DBB1-C4FD4D80C192}"/>
              </a:ext>
            </a:extLst>
          </p:cNvPr>
          <p:cNvPicPr>
            <a:picLocks noChangeAspect="1"/>
          </p:cNvPicPr>
          <p:nvPr/>
        </p:nvPicPr>
        <p:blipFill>
          <a:blip r:embed="rId4"/>
          <a:stretch>
            <a:fillRect/>
          </a:stretch>
        </p:blipFill>
        <p:spPr>
          <a:xfrm>
            <a:off x="5818411" y="5219997"/>
            <a:ext cx="3108501" cy="651414"/>
          </a:xfrm>
          <a:prstGeom prst="rect">
            <a:avLst/>
          </a:prstGeom>
        </p:spPr>
      </p:pic>
      <p:sp>
        <p:nvSpPr>
          <p:cNvPr id="15" name="Rectangle: Rounded Corners 14">
            <a:extLst>
              <a:ext uri="{FF2B5EF4-FFF2-40B4-BE49-F238E27FC236}">
                <a16:creationId xmlns:a16="http://schemas.microsoft.com/office/drawing/2014/main" id="{98EE841D-CC2F-A419-CEEC-D1F75F711EBE}"/>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a:t>Task 1 - Error types and fixes: </a:t>
            </a:r>
            <a:endParaRPr lang="en-GB" dirty="0"/>
          </a:p>
        </p:txBody>
      </p:sp>
    </p:spTree>
    <p:extLst>
      <p:ext uri="{BB962C8B-B14F-4D97-AF65-F5344CB8AC3E}">
        <p14:creationId xmlns:p14="http://schemas.microsoft.com/office/powerpoint/2010/main" val="337516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File Not Found Error</a:t>
            </a:r>
          </a:p>
        </p:txBody>
      </p:sp>
      <p:sp>
        <p:nvSpPr>
          <p:cNvPr id="3" name="Content Placeholder 2"/>
          <p:cNvSpPr>
            <a:spLocks noGrp="1"/>
          </p:cNvSpPr>
          <p:nvPr>
            <p:ph idx="1"/>
          </p:nvPr>
        </p:nvSpPr>
        <p:spPr/>
        <p:txBody>
          <a:bodyPr>
            <a:normAutofit/>
          </a:bodyPr>
          <a:lstStyle/>
          <a:p>
            <a:r>
              <a:rPr lang="en-GB" sz="2400" dirty="0"/>
              <a:t>File handling errors include:</a:t>
            </a:r>
          </a:p>
          <a:p>
            <a:pPr lvl="1"/>
            <a:r>
              <a:rPr lang="en-GB" sz="2400" dirty="0"/>
              <a:t>Trying to open a file which is not in the specified or default folder</a:t>
            </a:r>
          </a:p>
          <a:p>
            <a:pPr lvl="1"/>
            <a:r>
              <a:rPr lang="en-GB" sz="2400" dirty="0"/>
              <a:t>Reading past the end of the file</a:t>
            </a:r>
          </a:p>
        </p:txBody>
      </p:sp>
      <p:pic>
        <p:nvPicPr>
          <p:cNvPr id="4" name="Picture 3">
            <a:extLst>
              <a:ext uri="{FF2B5EF4-FFF2-40B4-BE49-F238E27FC236}">
                <a16:creationId xmlns:a16="http://schemas.microsoft.com/office/drawing/2014/main" id="{2C5E19CC-7C78-42B9-AD7F-0FA92A965D50}"/>
              </a:ext>
            </a:extLst>
          </p:cNvPr>
          <p:cNvPicPr>
            <a:picLocks noChangeAspect="1"/>
          </p:cNvPicPr>
          <p:nvPr/>
        </p:nvPicPr>
        <p:blipFill>
          <a:blip r:embed="rId2"/>
          <a:stretch>
            <a:fillRect/>
          </a:stretch>
        </p:blipFill>
        <p:spPr>
          <a:xfrm>
            <a:off x="241213" y="4008458"/>
            <a:ext cx="5694366" cy="2502070"/>
          </a:xfrm>
          <a:prstGeom prst="rect">
            <a:avLst/>
          </a:prstGeom>
        </p:spPr>
      </p:pic>
      <p:sp>
        <p:nvSpPr>
          <p:cNvPr id="5" name="Rectangle 4">
            <a:extLst>
              <a:ext uri="{FF2B5EF4-FFF2-40B4-BE49-F238E27FC236}">
                <a16:creationId xmlns:a16="http://schemas.microsoft.com/office/drawing/2014/main" id="{61E69BC9-9A75-2343-72CB-861E266FD44C}"/>
              </a:ext>
            </a:extLst>
          </p:cNvPr>
          <p:cNvSpPr/>
          <p:nvPr/>
        </p:nvSpPr>
        <p:spPr>
          <a:xfrm>
            <a:off x="6192253" y="3753853"/>
            <a:ext cx="2514141" cy="29082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You could use the except here to make the file so it does not crash again – this is particularly useful for your projects as many of these will have external files needing to be read.</a:t>
            </a:r>
          </a:p>
        </p:txBody>
      </p:sp>
      <p:pic>
        <p:nvPicPr>
          <p:cNvPr id="9" name="Picture 8">
            <a:extLst>
              <a:ext uri="{FF2B5EF4-FFF2-40B4-BE49-F238E27FC236}">
                <a16:creationId xmlns:a16="http://schemas.microsoft.com/office/drawing/2014/main" id="{CC726BFB-E2BD-6674-B420-DD6987A1E0D3}"/>
              </a:ext>
            </a:extLst>
          </p:cNvPr>
          <p:cNvPicPr>
            <a:picLocks noChangeAspect="1"/>
          </p:cNvPicPr>
          <p:nvPr/>
        </p:nvPicPr>
        <p:blipFill>
          <a:blip r:embed="rId3"/>
          <a:stretch>
            <a:fillRect/>
          </a:stretch>
        </p:blipFill>
        <p:spPr>
          <a:xfrm>
            <a:off x="241213" y="3909223"/>
            <a:ext cx="5528513" cy="2752834"/>
          </a:xfrm>
          <a:prstGeom prst="rect">
            <a:avLst/>
          </a:prstGeom>
        </p:spPr>
      </p:pic>
      <p:sp>
        <p:nvSpPr>
          <p:cNvPr id="10" name="Rectangle: Rounded Corners 9">
            <a:extLst>
              <a:ext uri="{FF2B5EF4-FFF2-40B4-BE49-F238E27FC236}">
                <a16:creationId xmlns:a16="http://schemas.microsoft.com/office/drawing/2014/main" id="{565091CE-086C-E670-D7CA-DF5A0582E9E5}"/>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a:t>Task 1 - Error types and fixes: </a:t>
            </a:r>
            <a:endParaRPr lang="en-GB" dirty="0"/>
          </a:p>
        </p:txBody>
      </p:sp>
    </p:spTree>
    <p:extLst>
      <p:ext uri="{BB962C8B-B14F-4D97-AF65-F5344CB8AC3E}">
        <p14:creationId xmlns:p14="http://schemas.microsoft.com/office/powerpoint/2010/main" val="49821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245FE-4E7A-4CDA-B2AC-2B33E7F1E890}"/>
              </a:ext>
            </a:extLst>
          </p:cNvPr>
          <p:cNvSpPr>
            <a:spLocks noGrp="1"/>
          </p:cNvSpPr>
          <p:nvPr>
            <p:ph type="title"/>
          </p:nvPr>
        </p:nvSpPr>
        <p:spPr/>
        <p:txBody>
          <a:bodyPr/>
          <a:lstStyle/>
          <a:p>
            <a:r>
              <a:rPr lang="en-GB" dirty="0"/>
              <a:t>Name error</a:t>
            </a:r>
          </a:p>
        </p:txBody>
      </p:sp>
      <p:pic>
        <p:nvPicPr>
          <p:cNvPr id="4" name="Picture 3">
            <a:extLst>
              <a:ext uri="{FF2B5EF4-FFF2-40B4-BE49-F238E27FC236}">
                <a16:creationId xmlns:a16="http://schemas.microsoft.com/office/drawing/2014/main" id="{2B96B389-72DE-401B-AB50-68C63ABB41BC}"/>
              </a:ext>
            </a:extLst>
          </p:cNvPr>
          <p:cNvPicPr>
            <a:picLocks noChangeAspect="1"/>
          </p:cNvPicPr>
          <p:nvPr/>
        </p:nvPicPr>
        <p:blipFill rotWithShape="1">
          <a:blip r:embed="rId2"/>
          <a:srcRect r="83525"/>
          <a:stretch/>
        </p:blipFill>
        <p:spPr>
          <a:xfrm>
            <a:off x="3285698" y="899236"/>
            <a:ext cx="1944029" cy="1714491"/>
          </a:xfrm>
          <a:prstGeom prst="rect">
            <a:avLst/>
          </a:prstGeom>
        </p:spPr>
      </p:pic>
      <p:pic>
        <p:nvPicPr>
          <p:cNvPr id="5" name="Picture 4">
            <a:extLst>
              <a:ext uri="{FF2B5EF4-FFF2-40B4-BE49-F238E27FC236}">
                <a16:creationId xmlns:a16="http://schemas.microsoft.com/office/drawing/2014/main" id="{0D8442FC-0D28-FC0D-38EB-E21575192858}"/>
              </a:ext>
            </a:extLst>
          </p:cNvPr>
          <p:cNvPicPr>
            <a:picLocks noChangeAspect="1"/>
          </p:cNvPicPr>
          <p:nvPr/>
        </p:nvPicPr>
        <p:blipFill rotWithShape="1">
          <a:blip r:embed="rId2"/>
          <a:srcRect l="17501" r="1396"/>
          <a:stretch/>
        </p:blipFill>
        <p:spPr>
          <a:xfrm>
            <a:off x="544470" y="3467134"/>
            <a:ext cx="8022014" cy="1437168"/>
          </a:xfrm>
          <a:prstGeom prst="rect">
            <a:avLst/>
          </a:prstGeom>
        </p:spPr>
      </p:pic>
      <p:sp>
        <p:nvSpPr>
          <p:cNvPr id="6" name="Rectangle 5">
            <a:extLst>
              <a:ext uri="{FF2B5EF4-FFF2-40B4-BE49-F238E27FC236}">
                <a16:creationId xmlns:a16="http://schemas.microsoft.com/office/drawing/2014/main" id="{DD896480-F164-9427-764A-221C4325A3D7}"/>
              </a:ext>
            </a:extLst>
          </p:cNvPr>
          <p:cNvSpPr/>
          <p:nvPr/>
        </p:nvSpPr>
        <p:spPr>
          <a:xfrm>
            <a:off x="274950" y="5031109"/>
            <a:ext cx="8594099" cy="15340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I am in no way suggesting that you should be using the try command before using every variable but this does exist and could be used in some circumstances. </a:t>
            </a:r>
          </a:p>
          <a:p>
            <a:pPr algn="ctr"/>
            <a:endParaRPr lang="en-GB" dirty="0"/>
          </a:p>
          <a:p>
            <a:pPr algn="ctr"/>
            <a:r>
              <a:rPr lang="en-GB" dirty="0"/>
              <a:t>Realistically, we would just correct the variable name to “b” here!</a:t>
            </a:r>
          </a:p>
        </p:txBody>
      </p:sp>
      <p:pic>
        <p:nvPicPr>
          <p:cNvPr id="7" name="Picture 6">
            <a:extLst>
              <a:ext uri="{FF2B5EF4-FFF2-40B4-BE49-F238E27FC236}">
                <a16:creationId xmlns:a16="http://schemas.microsoft.com/office/drawing/2014/main" id="{19F62858-FA97-8FA6-388E-D46A040A2501}"/>
              </a:ext>
            </a:extLst>
          </p:cNvPr>
          <p:cNvPicPr>
            <a:picLocks noChangeAspect="1"/>
          </p:cNvPicPr>
          <p:nvPr/>
        </p:nvPicPr>
        <p:blipFill>
          <a:blip r:embed="rId3"/>
          <a:stretch>
            <a:fillRect/>
          </a:stretch>
        </p:blipFill>
        <p:spPr>
          <a:xfrm>
            <a:off x="5179628" y="132677"/>
            <a:ext cx="3816095" cy="3388428"/>
          </a:xfrm>
          <a:prstGeom prst="rect">
            <a:avLst/>
          </a:prstGeom>
        </p:spPr>
      </p:pic>
      <p:sp>
        <p:nvSpPr>
          <p:cNvPr id="8" name="Rectangle: Rounded Corners 7">
            <a:extLst>
              <a:ext uri="{FF2B5EF4-FFF2-40B4-BE49-F238E27FC236}">
                <a16:creationId xmlns:a16="http://schemas.microsoft.com/office/drawing/2014/main" id="{EF550415-B8DA-4D32-86DF-C7ECEB6BF456}"/>
              </a:ext>
            </a:extLst>
          </p:cNvPr>
          <p:cNvSpPr/>
          <p:nvPr/>
        </p:nvSpPr>
        <p:spPr>
          <a:xfrm>
            <a:off x="148277" y="162270"/>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a:t>Task 1 - Error types and fixes: </a:t>
            </a:r>
            <a:endParaRPr lang="en-GB" dirty="0"/>
          </a:p>
        </p:txBody>
      </p:sp>
    </p:spTree>
    <p:extLst>
      <p:ext uri="{BB962C8B-B14F-4D97-AF65-F5344CB8AC3E}">
        <p14:creationId xmlns:p14="http://schemas.microsoft.com/office/powerpoint/2010/main" val="2100142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Challenge</a:t>
            </a:r>
          </a:p>
        </p:txBody>
      </p:sp>
      <p:sp>
        <p:nvSpPr>
          <p:cNvPr id="3" name="Content Placeholder 2"/>
          <p:cNvSpPr>
            <a:spLocks noGrp="1"/>
          </p:cNvSpPr>
          <p:nvPr>
            <p:ph idx="1"/>
          </p:nvPr>
        </p:nvSpPr>
        <p:spPr/>
        <p:txBody>
          <a:bodyPr>
            <a:normAutofit fontScale="92500" lnSpcReduction="10000"/>
          </a:bodyPr>
          <a:lstStyle/>
          <a:p>
            <a:r>
              <a:rPr lang="en-GB" dirty="0" err="1"/>
              <a:t>ageValid</a:t>
            </a:r>
            <a:r>
              <a:rPr lang="en-GB" dirty="0"/>
              <a:t> = False</a:t>
            </a:r>
          </a:p>
          <a:p>
            <a:r>
              <a:rPr lang="en-GB" dirty="0"/>
              <a:t>WHILE </a:t>
            </a:r>
            <a:r>
              <a:rPr lang="en-GB" dirty="0" err="1"/>
              <a:t>ageValid</a:t>
            </a:r>
            <a:r>
              <a:rPr lang="en-GB" dirty="0"/>
              <a:t> = False</a:t>
            </a:r>
          </a:p>
          <a:p>
            <a:r>
              <a:rPr lang="en-GB" dirty="0"/>
              <a:t>	TRY</a:t>
            </a:r>
          </a:p>
          <a:p>
            <a:r>
              <a:rPr lang="en-GB" dirty="0"/>
              <a:t>		OUTPUT “Enter age”	</a:t>
            </a:r>
          </a:p>
          <a:p>
            <a:r>
              <a:rPr lang="en-GB" dirty="0"/>
              <a:t>		age </a:t>
            </a:r>
            <a:r>
              <a:rPr lang="en-GB" dirty="0">
                <a:sym typeface="Wingdings" panose="05000000000000000000" pitchFamily="2" charset="2"/>
              </a:rPr>
              <a:t> </a:t>
            </a:r>
            <a:r>
              <a:rPr lang="en-GB" dirty="0" err="1">
                <a:sym typeface="Wingdings" panose="05000000000000000000" pitchFamily="2" charset="2"/>
              </a:rPr>
              <a:t>int</a:t>
            </a:r>
            <a:r>
              <a:rPr lang="en-GB" dirty="0">
                <a:sym typeface="Wingdings" panose="05000000000000000000" pitchFamily="2" charset="2"/>
              </a:rPr>
              <a:t>(USERINPUT)   #convert to integer</a:t>
            </a:r>
          </a:p>
          <a:p>
            <a:r>
              <a:rPr lang="en-GB" dirty="0">
                <a:sym typeface="Wingdings" panose="05000000000000000000" pitchFamily="2" charset="2"/>
              </a:rPr>
              <a:t>		</a:t>
            </a:r>
            <a:r>
              <a:rPr lang="en-GB" dirty="0" err="1">
                <a:sym typeface="Wingdings" panose="05000000000000000000" pitchFamily="2" charset="2"/>
              </a:rPr>
              <a:t>ageValid</a:t>
            </a:r>
            <a:r>
              <a:rPr lang="en-GB" dirty="0">
                <a:sym typeface="Wingdings" panose="05000000000000000000" pitchFamily="2" charset="2"/>
              </a:rPr>
              <a:t> = True</a:t>
            </a:r>
          </a:p>
          <a:p>
            <a:r>
              <a:rPr lang="en-GB" dirty="0">
                <a:sym typeface="Wingdings" panose="05000000000000000000" pitchFamily="2" charset="2"/>
              </a:rPr>
              <a:t>	EXCEPT </a:t>
            </a:r>
            <a:r>
              <a:rPr lang="en-GB" dirty="0" err="1">
                <a:sym typeface="Wingdings" panose="05000000000000000000" pitchFamily="2" charset="2"/>
              </a:rPr>
              <a:t>ValueError</a:t>
            </a:r>
            <a:endParaRPr lang="en-GB" dirty="0">
              <a:sym typeface="Wingdings" panose="05000000000000000000" pitchFamily="2" charset="2"/>
            </a:endParaRPr>
          </a:p>
          <a:p>
            <a:r>
              <a:rPr lang="en-GB" dirty="0">
                <a:sym typeface="Wingdings" panose="05000000000000000000" pitchFamily="2" charset="2"/>
              </a:rPr>
              <a:t>		OUTPUT “Please enter an integer”</a:t>
            </a:r>
          </a:p>
          <a:p>
            <a:r>
              <a:rPr lang="en-GB" dirty="0">
                <a:sym typeface="Wingdings" panose="05000000000000000000" pitchFamily="2" charset="2"/>
              </a:rPr>
              <a:t>	ENDEXCEPT</a:t>
            </a:r>
            <a:endParaRPr lang="en-GB" dirty="0"/>
          </a:p>
          <a:p>
            <a:r>
              <a:rPr lang="en-GB" dirty="0"/>
              <a:t>ENDWHILE</a:t>
            </a:r>
          </a:p>
        </p:txBody>
      </p:sp>
      <p:sp>
        <p:nvSpPr>
          <p:cNvPr id="4" name="Rectangle 3"/>
          <p:cNvSpPr/>
          <p:nvPr/>
        </p:nvSpPr>
        <p:spPr>
          <a:xfrm>
            <a:off x="4124454" y="1639669"/>
            <a:ext cx="4572000" cy="646331"/>
          </a:xfrm>
          <a:prstGeom prst="rect">
            <a:avLst/>
          </a:prstGeom>
        </p:spPr>
        <p:txBody>
          <a:bodyPr>
            <a:spAutoFit/>
          </a:bodyPr>
          <a:lstStyle/>
          <a:p>
            <a:pPr algn="ctr"/>
            <a:r>
              <a:rPr lang="en-GB" dirty="0">
                <a:solidFill>
                  <a:srgbClr val="FF0000"/>
                </a:solidFill>
              </a:rPr>
              <a:t>Modify this pseudocode to accept only ages between 11 and 18</a:t>
            </a:r>
          </a:p>
        </p:txBody>
      </p:sp>
      <p:sp>
        <p:nvSpPr>
          <p:cNvPr id="5" name="Rectangle: Rounded Corners 4">
            <a:extLst>
              <a:ext uri="{FF2B5EF4-FFF2-40B4-BE49-F238E27FC236}">
                <a16:creationId xmlns:a16="http://schemas.microsoft.com/office/drawing/2014/main" id="{EAC23075-9881-8FEB-15AE-7CF7532F6DC2}"/>
              </a:ext>
            </a:extLst>
          </p:cNvPr>
          <p:cNvSpPr/>
          <p:nvPr/>
        </p:nvSpPr>
        <p:spPr>
          <a:xfrm>
            <a:off x="5309936" y="208547"/>
            <a:ext cx="3593431" cy="3766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Task 3 - Error types and fixes: </a:t>
            </a:r>
          </a:p>
        </p:txBody>
      </p:sp>
    </p:spTree>
    <p:extLst>
      <p:ext uri="{BB962C8B-B14F-4D97-AF65-F5344CB8AC3E}">
        <p14:creationId xmlns:p14="http://schemas.microsoft.com/office/powerpoint/2010/main" val="2261631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Challenge – Program this</a:t>
            </a:r>
          </a:p>
        </p:txBody>
      </p:sp>
      <p:sp>
        <p:nvSpPr>
          <p:cNvPr id="3" name="Content Placeholder 2"/>
          <p:cNvSpPr>
            <a:spLocks noGrp="1"/>
          </p:cNvSpPr>
          <p:nvPr>
            <p:ph idx="1"/>
          </p:nvPr>
        </p:nvSpPr>
        <p:spPr/>
        <p:txBody>
          <a:bodyPr>
            <a:normAutofit fontScale="92500" lnSpcReduction="20000"/>
          </a:bodyPr>
          <a:lstStyle/>
          <a:p>
            <a:r>
              <a:rPr lang="en-GB" dirty="0"/>
              <a:t>age = 0</a:t>
            </a:r>
          </a:p>
          <a:p>
            <a:r>
              <a:rPr lang="en-GB" dirty="0"/>
              <a:t>WHILE age &lt; 11 or age &gt; 18 	</a:t>
            </a:r>
          </a:p>
          <a:p>
            <a:r>
              <a:rPr lang="en-GB" dirty="0"/>
              <a:t>	age </a:t>
            </a:r>
            <a:r>
              <a:rPr lang="en-GB" dirty="0">
                <a:sym typeface="Wingdings" panose="05000000000000000000" pitchFamily="2" charset="2"/>
              </a:rPr>
              <a:t> USERINPUT(“Enter age between 11 and 18”)</a:t>
            </a:r>
            <a:endParaRPr lang="en-GB" dirty="0"/>
          </a:p>
          <a:p>
            <a:r>
              <a:rPr lang="en-GB" dirty="0"/>
              <a:t>	TRY			</a:t>
            </a:r>
          </a:p>
          <a:p>
            <a:r>
              <a:rPr lang="en-GB" dirty="0"/>
              <a:t>		age </a:t>
            </a:r>
            <a:r>
              <a:rPr lang="en-GB" dirty="0">
                <a:sym typeface="Wingdings" panose="05000000000000000000" pitchFamily="2" charset="2"/>
              </a:rPr>
              <a:t> </a:t>
            </a:r>
            <a:r>
              <a:rPr lang="en-GB" dirty="0" err="1">
                <a:sym typeface="Wingdings" panose="05000000000000000000" pitchFamily="2" charset="2"/>
              </a:rPr>
              <a:t>int</a:t>
            </a:r>
            <a:r>
              <a:rPr lang="en-GB" dirty="0">
                <a:sym typeface="Wingdings" panose="05000000000000000000" pitchFamily="2" charset="2"/>
              </a:rPr>
              <a:t>(age)</a:t>
            </a:r>
          </a:p>
          <a:p>
            <a:r>
              <a:rPr lang="en-GB" dirty="0">
                <a:sym typeface="Wingdings" panose="05000000000000000000" pitchFamily="2" charset="2"/>
              </a:rPr>
              <a:t>	EXCEPT</a:t>
            </a:r>
          </a:p>
          <a:p>
            <a:r>
              <a:rPr lang="en-GB" dirty="0">
                <a:sym typeface="Wingdings" panose="05000000000000000000" pitchFamily="2" charset="2"/>
              </a:rPr>
              <a:t>		OUTPUT “Please enter an integer”</a:t>
            </a:r>
          </a:p>
          <a:p>
            <a:r>
              <a:rPr lang="en-GB" dirty="0">
                <a:sym typeface="Wingdings" panose="05000000000000000000" pitchFamily="2" charset="2"/>
              </a:rPr>
              <a:t>		age = 0</a:t>
            </a:r>
          </a:p>
          <a:p>
            <a:r>
              <a:rPr lang="en-GB" dirty="0">
                <a:sym typeface="Wingdings" panose="05000000000000000000" pitchFamily="2" charset="2"/>
              </a:rPr>
              <a:t>	ENDEXCEPT</a:t>
            </a:r>
            <a:endParaRPr lang="en-GB" dirty="0"/>
          </a:p>
          <a:p>
            <a:r>
              <a:rPr lang="en-GB" dirty="0"/>
              <a:t>ENDWHILE	</a:t>
            </a:r>
          </a:p>
          <a:p>
            <a:endParaRPr lang="en-GB" dirty="0"/>
          </a:p>
        </p:txBody>
      </p:sp>
    </p:spTree>
    <p:extLst>
      <p:ext uri="{BB962C8B-B14F-4D97-AF65-F5344CB8AC3E}">
        <p14:creationId xmlns:p14="http://schemas.microsoft.com/office/powerpoint/2010/main" val="3703754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Challenge 2.0</a:t>
            </a:r>
            <a:endParaRPr lang="en-GB" dirty="0"/>
          </a:p>
        </p:txBody>
      </p:sp>
      <p:pic>
        <p:nvPicPr>
          <p:cNvPr id="4" name="Picture 3"/>
          <p:cNvPicPr>
            <a:picLocks noChangeAspect="1"/>
          </p:cNvPicPr>
          <p:nvPr/>
        </p:nvPicPr>
        <p:blipFill>
          <a:blip r:embed="rId2"/>
          <a:stretch>
            <a:fillRect/>
          </a:stretch>
        </p:blipFill>
        <p:spPr>
          <a:xfrm>
            <a:off x="547234" y="2308905"/>
            <a:ext cx="8041465" cy="3075895"/>
          </a:xfrm>
          <a:prstGeom prst="rect">
            <a:avLst/>
          </a:prstGeom>
        </p:spPr>
      </p:pic>
    </p:spTree>
    <p:extLst>
      <p:ext uri="{BB962C8B-B14F-4D97-AF65-F5344CB8AC3E}">
        <p14:creationId xmlns:p14="http://schemas.microsoft.com/office/powerpoint/2010/main" val="2733826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C6AC-4675-2F85-3230-2E1C93ADA9C2}"/>
              </a:ext>
            </a:extLst>
          </p:cNvPr>
          <p:cNvSpPr>
            <a:spLocks noGrp="1"/>
          </p:cNvSpPr>
          <p:nvPr>
            <p:ph type="ctrTitle"/>
          </p:nvPr>
        </p:nvSpPr>
        <p:spPr/>
        <p:txBody>
          <a:bodyPr/>
          <a:lstStyle/>
          <a:p>
            <a:r>
              <a:rPr lang="en-GB" dirty="0"/>
              <a:t>Hashing explanation and code for task 4</a:t>
            </a:r>
          </a:p>
        </p:txBody>
      </p:sp>
      <p:sp>
        <p:nvSpPr>
          <p:cNvPr id="3" name="Subtitle 2">
            <a:extLst>
              <a:ext uri="{FF2B5EF4-FFF2-40B4-BE49-F238E27FC236}">
                <a16:creationId xmlns:a16="http://schemas.microsoft.com/office/drawing/2014/main" id="{9280AC1A-57F6-7066-C529-F674545E48E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508114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5961B9-138D-4BCD-AA4D-AAFC685A1A88}"/>
              </a:ext>
            </a:extLst>
          </p:cNvPr>
          <p:cNvPicPr>
            <a:picLocks noChangeAspect="1"/>
          </p:cNvPicPr>
          <p:nvPr/>
        </p:nvPicPr>
        <p:blipFill rotWithShape="1">
          <a:blip r:embed="rId2"/>
          <a:srcRect l="774" t="3585" r="30347" b="53936"/>
          <a:stretch/>
        </p:blipFill>
        <p:spPr>
          <a:xfrm>
            <a:off x="243519" y="5107011"/>
            <a:ext cx="6510207" cy="982875"/>
          </a:xfrm>
          <a:prstGeom prst="rect">
            <a:avLst/>
          </a:prstGeom>
        </p:spPr>
      </p:pic>
      <p:pic>
        <p:nvPicPr>
          <p:cNvPr id="5" name="Picture 4">
            <a:extLst>
              <a:ext uri="{FF2B5EF4-FFF2-40B4-BE49-F238E27FC236}">
                <a16:creationId xmlns:a16="http://schemas.microsoft.com/office/drawing/2014/main" id="{4C3649EB-B265-46CD-E442-F6A505F15083}"/>
              </a:ext>
            </a:extLst>
          </p:cNvPr>
          <p:cNvPicPr>
            <a:picLocks noChangeAspect="1"/>
          </p:cNvPicPr>
          <p:nvPr/>
        </p:nvPicPr>
        <p:blipFill rotWithShape="1">
          <a:blip r:embed="rId2"/>
          <a:srcRect t="45592" b="15482"/>
          <a:stretch/>
        </p:blipFill>
        <p:spPr>
          <a:xfrm>
            <a:off x="211435" y="6046810"/>
            <a:ext cx="8900481" cy="848150"/>
          </a:xfrm>
          <a:prstGeom prst="rect">
            <a:avLst/>
          </a:prstGeom>
        </p:spPr>
      </p:pic>
      <p:sp>
        <p:nvSpPr>
          <p:cNvPr id="2" name="Title 1">
            <a:extLst>
              <a:ext uri="{FF2B5EF4-FFF2-40B4-BE49-F238E27FC236}">
                <a16:creationId xmlns:a16="http://schemas.microsoft.com/office/drawing/2014/main" id="{BB285947-4243-E972-EFB5-DAA0DDFDE640}"/>
              </a:ext>
            </a:extLst>
          </p:cNvPr>
          <p:cNvSpPr>
            <a:spLocks noGrp="1"/>
          </p:cNvSpPr>
          <p:nvPr>
            <p:ph type="title"/>
          </p:nvPr>
        </p:nvSpPr>
        <p:spPr>
          <a:xfrm>
            <a:off x="534983" y="-176142"/>
            <a:ext cx="7290054" cy="1499616"/>
          </a:xfrm>
        </p:spPr>
        <p:txBody>
          <a:bodyPr/>
          <a:lstStyle/>
          <a:p>
            <a:r>
              <a:rPr lang="en-GB" dirty="0"/>
              <a:t>Hashing</a:t>
            </a:r>
          </a:p>
        </p:txBody>
      </p:sp>
      <p:pic>
        <p:nvPicPr>
          <p:cNvPr id="6" name="Picture 5">
            <a:extLst>
              <a:ext uri="{FF2B5EF4-FFF2-40B4-BE49-F238E27FC236}">
                <a16:creationId xmlns:a16="http://schemas.microsoft.com/office/drawing/2014/main" id="{08A869A0-4019-177E-14BE-6573E4CBE131}"/>
              </a:ext>
            </a:extLst>
          </p:cNvPr>
          <p:cNvPicPr>
            <a:picLocks noChangeAspect="1"/>
          </p:cNvPicPr>
          <p:nvPr/>
        </p:nvPicPr>
        <p:blipFill>
          <a:blip r:embed="rId3"/>
          <a:stretch>
            <a:fillRect/>
          </a:stretch>
        </p:blipFill>
        <p:spPr>
          <a:xfrm>
            <a:off x="4051134" y="288303"/>
            <a:ext cx="5009026" cy="3351494"/>
          </a:xfrm>
          <a:prstGeom prst="rect">
            <a:avLst/>
          </a:prstGeom>
        </p:spPr>
      </p:pic>
      <p:sp>
        <p:nvSpPr>
          <p:cNvPr id="7" name="Rectangle 6">
            <a:extLst>
              <a:ext uri="{FF2B5EF4-FFF2-40B4-BE49-F238E27FC236}">
                <a16:creationId xmlns:a16="http://schemas.microsoft.com/office/drawing/2014/main" id="{72B3D869-E11C-D750-1E39-C4A1B0917FCB}"/>
              </a:ext>
            </a:extLst>
          </p:cNvPr>
          <p:cNvSpPr/>
          <p:nvPr/>
        </p:nvSpPr>
        <p:spPr>
          <a:xfrm>
            <a:off x="83840" y="803169"/>
            <a:ext cx="4039723" cy="41538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Storing passwords in plain text is a bad idea because if a company is hacked, they have given away your password which you may use for multiple accounts.</a:t>
            </a:r>
          </a:p>
          <a:p>
            <a:pPr algn="ctr"/>
            <a:endParaRPr lang="en-GB" dirty="0"/>
          </a:p>
          <a:p>
            <a:pPr algn="ctr"/>
            <a:r>
              <a:rPr lang="en-GB" dirty="0"/>
              <a:t>The company would store a hashed version of your password in its database so if it was hacked, the original password could be obtained from the hashed version of the password</a:t>
            </a:r>
          </a:p>
          <a:p>
            <a:pPr algn="ctr"/>
            <a:endParaRPr lang="en-GB" dirty="0"/>
          </a:p>
          <a:p>
            <a:pPr algn="ctr"/>
            <a:r>
              <a:rPr lang="en-GB" dirty="0"/>
              <a:t>We will cover this more in Y13 but this is basic defensive design (something we look for in the projects) to try and keep users passwords safe.</a:t>
            </a:r>
          </a:p>
        </p:txBody>
      </p:sp>
    </p:spTree>
    <p:extLst>
      <p:ext uri="{BB962C8B-B14F-4D97-AF65-F5344CB8AC3E}">
        <p14:creationId xmlns:p14="http://schemas.microsoft.com/office/powerpoint/2010/main" val="292355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E30FF-20C0-4E01-B04E-4A2F5EB9680F}"/>
              </a:ext>
            </a:extLst>
          </p:cNvPr>
          <p:cNvSpPr>
            <a:spLocks noGrp="1"/>
          </p:cNvSpPr>
          <p:nvPr>
            <p:ph type="ctrTitle"/>
          </p:nvPr>
        </p:nvSpPr>
        <p:spPr/>
        <p:txBody>
          <a:bodyPr/>
          <a:lstStyle/>
          <a:p>
            <a:r>
              <a:rPr lang="en-GB" dirty="0"/>
              <a:t>Programming tasks</a:t>
            </a:r>
          </a:p>
        </p:txBody>
      </p:sp>
      <p:sp>
        <p:nvSpPr>
          <p:cNvPr id="3" name="Subtitle 2">
            <a:extLst>
              <a:ext uri="{FF2B5EF4-FFF2-40B4-BE49-F238E27FC236}">
                <a16:creationId xmlns:a16="http://schemas.microsoft.com/office/drawing/2014/main" id="{BD4191DC-D013-4600-BDA8-13FA18E945E8}"/>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554811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tasks</a:t>
            </a:r>
          </a:p>
        </p:txBody>
      </p:sp>
      <p:sp>
        <p:nvSpPr>
          <p:cNvPr id="3" name="Content Placeholder 2"/>
          <p:cNvSpPr>
            <a:spLocks noGrp="1"/>
          </p:cNvSpPr>
          <p:nvPr>
            <p:ph idx="1"/>
          </p:nvPr>
        </p:nvSpPr>
        <p:spPr/>
        <p:txBody>
          <a:bodyPr/>
          <a:lstStyle/>
          <a:p>
            <a:r>
              <a:rPr lang="en-GB" b="1" u="sng" dirty="0"/>
              <a:t>Task 1:</a:t>
            </a:r>
            <a:endParaRPr lang="en-GB" dirty="0"/>
          </a:p>
          <a:p>
            <a:r>
              <a:rPr lang="en-GB" dirty="0"/>
              <a:t>Create a list of words in your program. You should create a program that randomly chooses a word from this list. It should then randomly choose another word – your program should not randomly choose the same word twice and should output an error when it reaches the end of your list because there are no more random words left.</a:t>
            </a:r>
          </a:p>
          <a:p>
            <a:endParaRPr lang="en-GB" dirty="0"/>
          </a:p>
        </p:txBody>
      </p:sp>
    </p:spTree>
    <p:extLst>
      <p:ext uri="{BB962C8B-B14F-4D97-AF65-F5344CB8AC3E}">
        <p14:creationId xmlns:p14="http://schemas.microsoft.com/office/powerpoint/2010/main" val="1825381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DBE2-F48D-D9FD-7F9D-9250FB86FB9C}"/>
              </a:ext>
            </a:extLst>
          </p:cNvPr>
          <p:cNvSpPr>
            <a:spLocks noGrp="1"/>
          </p:cNvSpPr>
          <p:nvPr>
            <p:ph type="title"/>
          </p:nvPr>
        </p:nvSpPr>
        <p:spPr/>
        <p:txBody>
          <a:bodyPr/>
          <a:lstStyle/>
          <a:p>
            <a:r>
              <a:rPr lang="en-GB" dirty="0"/>
              <a:t>Task 1 Answer</a:t>
            </a:r>
          </a:p>
        </p:txBody>
      </p:sp>
      <p:pic>
        <p:nvPicPr>
          <p:cNvPr id="4" name="Picture 3">
            <a:extLst>
              <a:ext uri="{FF2B5EF4-FFF2-40B4-BE49-F238E27FC236}">
                <a16:creationId xmlns:a16="http://schemas.microsoft.com/office/drawing/2014/main" id="{996B0659-293A-E712-E7A4-832A96A31BF3}"/>
              </a:ext>
            </a:extLst>
          </p:cNvPr>
          <p:cNvPicPr>
            <a:picLocks noChangeAspect="1"/>
          </p:cNvPicPr>
          <p:nvPr/>
        </p:nvPicPr>
        <p:blipFill rotWithShape="1">
          <a:blip r:embed="rId2"/>
          <a:srcRect t="1704"/>
          <a:stretch/>
        </p:blipFill>
        <p:spPr>
          <a:xfrm>
            <a:off x="1512570" y="1849120"/>
            <a:ext cx="5523306" cy="3984498"/>
          </a:xfrm>
          <a:prstGeom prst="rect">
            <a:avLst/>
          </a:prstGeom>
        </p:spPr>
      </p:pic>
    </p:spTree>
    <p:extLst>
      <p:ext uri="{BB962C8B-B14F-4D97-AF65-F5344CB8AC3E}">
        <p14:creationId xmlns:p14="http://schemas.microsoft.com/office/powerpoint/2010/main" val="3089575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tasks</a:t>
            </a:r>
          </a:p>
        </p:txBody>
      </p:sp>
      <p:sp>
        <p:nvSpPr>
          <p:cNvPr id="3" name="Content Placeholder 2"/>
          <p:cNvSpPr>
            <a:spLocks noGrp="1"/>
          </p:cNvSpPr>
          <p:nvPr>
            <p:ph idx="1"/>
          </p:nvPr>
        </p:nvSpPr>
        <p:spPr/>
        <p:txBody>
          <a:bodyPr/>
          <a:lstStyle/>
          <a:p>
            <a:r>
              <a:rPr lang="en-GB" b="1" u="sng" dirty="0"/>
              <a:t>Task 2:</a:t>
            </a:r>
            <a:endParaRPr lang="en-GB" dirty="0"/>
          </a:p>
          <a:p>
            <a:r>
              <a:rPr lang="en-GB" dirty="0"/>
              <a:t>The computer should generate a random 4 digit pin. You have to try and guess the pin by typing in a 4 digit number. The program should tell you how many numbers you have correct but NOT if they are in the correct place.</a:t>
            </a:r>
          </a:p>
          <a:p>
            <a:r>
              <a:rPr lang="en-GB" dirty="0"/>
              <a:t>Example: </a:t>
            </a:r>
          </a:p>
          <a:p>
            <a:pPr lvl="0"/>
            <a:r>
              <a:rPr lang="en-GB" dirty="0"/>
              <a:t>Random PIN = 9263</a:t>
            </a:r>
          </a:p>
          <a:p>
            <a:pPr lvl="0"/>
            <a:r>
              <a:rPr lang="en-GB" dirty="0"/>
              <a:t>Guess = 2451</a:t>
            </a:r>
          </a:p>
          <a:p>
            <a:r>
              <a:rPr lang="en-GB" dirty="0"/>
              <a:t>You have one number correct</a:t>
            </a:r>
          </a:p>
          <a:p>
            <a:endParaRPr lang="en-GB" dirty="0"/>
          </a:p>
        </p:txBody>
      </p:sp>
    </p:spTree>
    <p:extLst>
      <p:ext uri="{BB962C8B-B14F-4D97-AF65-F5344CB8AC3E}">
        <p14:creationId xmlns:p14="http://schemas.microsoft.com/office/powerpoint/2010/main" val="3817717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DBE2-F48D-D9FD-7F9D-9250FB86FB9C}"/>
              </a:ext>
            </a:extLst>
          </p:cNvPr>
          <p:cNvSpPr>
            <a:spLocks noGrp="1"/>
          </p:cNvSpPr>
          <p:nvPr>
            <p:ph type="title"/>
          </p:nvPr>
        </p:nvSpPr>
        <p:spPr/>
        <p:txBody>
          <a:bodyPr/>
          <a:lstStyle/>
          <a:p>
            <a:r>
              <a:rPr lang="en-GB" dirty="0"/>
              <a:t>Task 2 Answer</a:t>
            </a:r>
          </a:p>
        </p:txBody>
      </p:sp>
      <p:pic>
        <p:nvPicPr>
          <p:cNvPr id="7" name="Picture 6">
            <a:extLst>
              <a:ext uri="{FF2B5EF4-FFF2-40B4-BE49-F238E27FC236}">
                <a16:creationId xmlns:a16="http://schemas.microsoft.com/office/drawing/2014/main" id="{08C9BADF-E3EC-F851-754D-F51D76541B07}"/>
              </a:ext>
            </a:extLst>
          </p:cNvPr>
          <p:cNvPicPr>
            <a:picLocks noChangeAspect="1"/>
          </p:cNvPicPr>
          <p:nvPr/>
        </p:nvPicPr>
        <p:blipFill>
          <a:blip r:embed="rId2"/>
          <a:stretch>
            <a:fillRect/>
          </a:stretch>
        </p:blipFill>
        <p:spPr>
          <a:xfrm>
            <a:off x="3457476" y="1905548"/>
            <a:ext cx="5168364" cy="4521254"/>
          </a:xfrm>
          <a:prstGeom prst="rect">
            <a:avLst/>
          </a:prstGeom>
        </p:spPr>
      </p:pic>
    </p:spTree>
    <p:extLst>
      <p:ext uri="{BB962C8B-B14F-4D97-AF65-F5344CB8AC3E}">
        <p14:creationId xmlns:p14="http://schemas.microsoft.com/office/powerpoint/2010/main" val="21031637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tasks</a:t>
            </a:r>
          </a:p>
        </p:txBody>
      </p:sp>
      <p:sp>
        <p:nvSpPr>
          <p:cNvPr id="3" name="Content Placeholder 2"/>
          <p:cNvSpPr>
            <a:spLocks noGrp="1"/>
          </p:cNvSpPr>
          <p:nvPr>
            <p:ph idx="1"/>
          </p:nvPr>
        </p:nvSpPr>
        <p:spPr/>
        <p:txBody>
          <a:bodyPr/>
          <a:lstStyle/>
          <a:p>
            <a:r>
              <a:rPr lang="en-GB" b="1" u="sng" dirty="0"/>
              <a:t>Task 3:</a:t>
            </a:r>
            <a:endParaRPr lang="en-GB" dirty="0"/>
          </a:p>
          <a:p>
            <a:r>
              <a:rPr lang="en-GB" dirty="0"/>
              <a:t>Go to the page </a:t>
            </a:r>
            <a:r>
              <a:rPr lang="en-GB" b="1" dirty="0"/>
              <a:t>4.3.5 Sorting Skeleton Code </a:t>
            </a:r>
            <a:r>
              <a:rPr lang="en-GB" dirty="0"/>
              <a:t>which should be shared with you. Answer the questions about the skeleton code and then fix the program so it works for the bubble and merge sort correctly. </a:t>
            </a:r>
          </a:p>
          <a:p>
            <a:endParaRPr lang="en-GB" dirty="0"/>
          </a:p>
          <a:p>
            <a:r>
              <a:rPr lang="en-GB" dirty="0"/>
              <a:t>Answers available on the 4.3.5 PowerPoint.</a:t>
            </a:r>
          </a:p>
        </p:txBody>
      </p:sp>
    </p:spTree>
    <p:extLst>
      <p:ext uri="{BB962C8B-B14F-4D97-AF65-F5344CB8AC3E}">
        <p14:creationId xmlns:p14="http://schemas.microsoft.com/office/powerpoint/2010/main" val="2254835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5280B-C282-1075-B06D-3EE6EBC6CC83}"/>
              </a:ext>
            </a:extLst>
          </p:cNvPr>
          <p:cNvSpPr>
            <a:spLocks noGrp="1"/>
          </p:cNvSpPr>
          <p:nvPr>
            <p:ph type="title"/>
          </p:nvPr>
        </p:nvSpPr>
        <p:spPr/>
        <p:txBody>
          <a:bodyPr/>
          <a:lstStyle/>
          <a:p>
            <a:r>
              <a:rPr lang="en-GB" dirty="0"/>
              <a:t>Exercise 2 Code</a:t>
            </a:r>
          </a:p>
        </p:txBody>
      </p:sp>
      <p:sp>
        <p:nvSpPr>
          <p:cNvPr id="3" name="Content Placeholder 2">
            <a:extLst>
              <a:ext uri="{FF2B5EF4-FFF2-40B4-BE49-F238E27FC236}">
                <a16:creationId xmlns:a16="http://schemas.microsoft.com/office/drawing/2014/main" id="{12D81C1E-9E00-826C-B447-19AEDF69962D}"/>
              </a:ext>
            </a:extLst>
          </p:cNvPr>
          <p:cNvSpPr>
            <a:spLocks noGrp="1"/>
          </p:cNvSpPr>
          <p:nvPr>
            <p:ph idx="1"/>
          </p:nvPr>
        </p:nvSpPr>
        <p:spPr>
          <a:xfrm>
            <a:off x="4023360" y="73151"/>
            <a:ext cx="5120640" cy="6471339"/>
          </a:xfrm>
        </p:spPr>
        <p:txBody>
          <a:bodyPr>
            <a:normAutofit fontScale="70000" lnSpcReduction="20000"/>
          </a:bodyPr>
          <a:lstStyle/>
          <a:p>
            <a:r>
              <a:rPr lang="en-GB" dirty="0"/>
              <a:t>	</a:t>
            </a:r>
            <a:r>
              <a:rPr lang="en-GB" dirty="0" err="1"/>
              <a:t>i</a:t>
            </a:r>
            <a:r>
              <a:rPr lang="en-GB" dirty="0"/>
              <a:t> = 0</a:t>
            </a:r>
          </a:p>
          <a:p>
            <a:r>
              <a:rPr lang="en-GB" dirty="0"/>
              <a:t>	j = 0</a:t>
            </a:r>
          </a:p>
          <a:p>
            <a:r>
              <a:rPr lang="en-GB" dirty="0"/>
              <a:t>	k = 0</a:t>
            </a:r>
          </a:p>
          <a:p>
            <a:r>
              <a:rPr lang="en-GB" dirty="0"/>
              <a:t>	while </a:t>
            </a:r>
            <a:r>
              <a:rPr lang="en-GB" dirty="0" err="1"/>
              <a:t>i</a:t>
            </a:r>
            <a:r>
              <a:rPr lang="en-GB" dirty="0"/>
              <a:t> &lt; </a:t>
            </a:r>
            <a:r>
              <a:rPr lang="en-GB" dirty="0" err="1"/>
              <a:t>len</a:t>
            </a:r>
            <a:r>
              <a:rPr lang="en-GB" dirty="0"/>
              <a:t>(</a:t>
            </a:r>
            <a:r>
              <a:rPr lang="en-GB" dirty="0" err="1"/>
              <a:t>leftHalf</a:t>
            </a:r>
            <a:r>
              <a:rPr lang="en-GB" dirty="0"/>
              <a:t>) and j &lt; </a:t>
            </a:r>
            <a:r>
              <a:rPr lang="en-GB" dirty="0" err="1"/>
              <a:t>len</a:t>
            </a:r>
            <a:r>
              <a:rPr lang="en-GB" dirty="0"/>
              <a:t>(</a:t>
            </a:r>
            <a:r>
              <a:rPr lang="en-GB" dirty="0" err="1"/>
              <a:t>rightHalf</a:t>
            </a:r>
            <a:r>
              <a:rPr lang="en-GB" dirty="0"/>
              <a:t>):</a:t>
            </a:r>
          </a:p>
          <a:p>
            <a:r>
              <a:rPr lang="en-GB" dirty="0"/>
              <a:t>		if </a:t>
            </a:r>
            <a:r>
              <a:rPr lang="en-GB" dirty="0" err="1"/>
              <a:t>leftHalf</a:t>
            </a:r>
            <a:r>
              <a:rPr lang="en-GB" dirty="0"/>
              <a:t>[</a:t>
            </a:r>
            <a:r>
              <a:rPr lang="en-GB" dirty="0" err="1"/>
              <a:t>i</a:t>
            </a:r>
            <a:r>
              <a:rPr lang="en-GB" dirty="0"/>
              <a:t>] &lt; </a:t>
            </a:r>
            <a:r>
              <a:rPr lang="en-GB" dirty="0" err="1"/>
              <a:t>rightHalf</a:t>
            </a:r>
            <a:r>
              <a:rPr lang="en-GB" dirty="0"/>
              <a:t>[j]:</a:t>
            </a:r>
          </a:p>
          <a:p>
            <a:r>
              <a:rPr lang="en-GB" dirty="0"/>
              <a:t>			</a:t>
            </a:r>
            <a:r>
              <a:rPr lang="en-GB" dirty="0" err="1"/>
              <a:t>sortList</a:t>
            </a:r>
            <a:r>
              <a:rPr lang="en-GB" dirty="0"/>
              <a:t>[k] = </a:t>
            </a:r>
            <a:r>
              <a:rPr lang="en-GB" dirty="0" err="1"/>
              <a:t>leftHalf</a:t>
            </a:r>
            <a:r>
              <a:rPr lang="en-GB" dirty="0"/>
              <a:t>[</a:t>
            </a:r>
            <a:r>
              <a:rPr lang="en-GB" dirty="0" err="1"/>
              <a:t>i</a:t>
            </a:r>
            <a:r>
              <a:rPr lang="en-GB" dirty="0"/>
              <a:t>]</a:t>
            </a:r>
          </a:p>
          <a:p>
            <a:r>
              <a:rPr lang="en-GB" dirty="0"/>
              <a:t>			</a:t>
            </a:r>
            <a:r>
              <a:rPr lang="en-GB" dirty="0" err="1"/>
              <a:t>i</a:t>
            </a:r>
            <a:r>
              <a:rPr lang="en-GB" dirty="0"/>
              <a:t> = </a:t>
            </a:r>
            <a:r>
              <a:rPr lang="en-GB" dirty="0" err="1"/>
              <a:t>i</a:t>
            </a:r>
            <a:r>
              <a:rPr lang="en-GB" dirty="0"/>
              <a:t> + 1</a:t>
            </a:r>
          </a:p>
          <a:p>
            <a:r>
              <a:rPr lang="en-GB" dirty="0"/>
              <a:t>		else:</a:t>
            </a:r>
          </a:p>
          <a:p>
            <a:r>
              <a:rPr lang="en-GB" dirty="0"/>
              <a:t>			</a:t>
            </a:r>
            <a:r>
              <a:rPr lang="en-GB" dirty="0" err="1"/>
              <a:t>sortList</a:t>
            </a:r>
            <a:r>
              <a:rPr lang="en-GB" dirty="0"/>
              <a:t>[k] = </a:t>
            </a:r>
            <a:r>
              <a:rPr lang="en-GB" dirty="0" err="1"/>
              <a:t>rightHalf</a:t>
            </a:r>
            <a:r>
              <a:rPr lang="en-GB" dirty="0"/>
              <a:t>[j]</a:t>
            </a:r>
          </a:p>
          <a:p>
            <a:r>
              <a:rPr lang="en-GB" dirty="0"/>
              <a:t>			j = j + 1</a:t>
            </a:r>
          </a:p>
          <a:p>
            <a:r>
              <a:rPr lang="en-GB" dirty="0"/>
              <a:t>		k = k + 1</a:t>
            </a:r>
          </a:p>
          <a:p>
            <a:r>
              <a:rPr lang="en-GB" dirty="0"/>
              <a:t>	while </a:t>
            </a:r>
            <a:r>
              <a:rPr lang="en-GB" dirty="0" err="1"/>
              <a:t>i</a:t>
            </a:r>
            <a:r>
              <a:rPr lang="en-GB" dirty="0"/>
              <a:t> &lt; </a:t>
            </a:r>
            <a:r>
              <a:rPr lang="en-GB" dirty="0" err="1"/>
              <a:t>len</a:t>
            </a:r>
            <a:r>
              <a:rPr lang="en-GB" dirty="0"/>
              <a:t>(</a:t>
            </a:r>
            <a:r>
              <a:rPr lang="en-GB" dirty="0" err="1"/>
              <a:t>leftHalf</a:t>
            </a:r>
            <a:r>
              <a:rPr lang="en-GB" dirty="0"/>
              <a:t>):</a:t>
            </a:r>
          </a:p>
          <a:p>
            <a:r>
              <a:rPr lang="en-GB" dirty="0"/>
              <a:t>		</a:t>
            </a:r>
            <a:r>
              <a:rPr lang="en-GB" dirty="0" err="1"/>
              <a:t>sortList</a:t>
            </a:r>
            <a:r>
              <a:rPr lang="en-GB" dirty="0"/>
              <a:t>[k] = </a:t>
            </a:r>
            <a:r>
              <a:rPr lang="en-GB" dirty="0" err="1"/>
              <a:t>leftHalf</a:t>
            </a:r>
            <a:r>
              <a:rPr lang="en-GB" dirty="0"/>
              <a:t>[</a:t>
            </a:r>
            <a:r>
              <a:rPr lang="en-GB" dirty="0" err="1"/>
              <a:t>i</a:t>
            </a:r>
            <a:r>
              <a:rPr lang="en-GB" dirty="0"/>
              <a:t>]</a:t>
            </a:r>
          </a:p>
          <a:p>
            <a:r>
              <a:rPr lang="en-GB" dirty="0"/>
              <a:t>		</a:t>
            </a:r>
            <a:r>
              <a:rPr lang="en-GB" dirty="0" err="1"/>
              <a:t>i</a:t>
            </a:r>
            <a:r>
              <a:rPr lang="en-GB" dirty="0"/>
              <a:t> = </a:t>
            </a:r>
            <a:r>
              <a:rPr lang="en-GB" dirty="0" err="1"/>
              <a:t>i</a:t>
            </a:r>
            <a:r>
              <a:rPr lang="en-GB" dirty="0"/>
              <a:t> + 1</a:t>
            </a:r>
          </a:p>
          <a:p>
            <a:r>
              <a:rPr lang="en-GB" dirty="0"/>
              <a:t>		k = k + 1</a:t>
            </a:r>
          </a:p>
          <a:p>
            <a:r>
              <a:rPr lang="en-GB" dirty="0"/>
              <a:t>	while j &lt; </a:t>
            </a:r>
            <a:r>
              <a:rPr lang="en-GB" dirty="0" err="1"/>
              <a:t>len</a:t>
            </a:r>
            <a:r>
              <a:rPr lang="en-GB" dirty="0"/>
              <a:t>(</a:t>
            </a:r>
            <a:r>
              <a:rPr lang="en-GB" dirty="0" err="1"/>
              <a:t>rightHalf</a:t>
            </a:r>
            <a:r>
              <a:rPr lang="en-GB" dirty="0"/>
              <a:t>):</a:t>
            </a:r>
          </a:p>
          <a:p>
            <a:r>
              <a:rPr lang="en-GB" dirty="0"/>
              <a:t>		</a:t>
            </a:r>
            <a:r>
              <a:rPr lang="en-GB" dirty="0" err="1"/>
              <a:t>sortList</a:t>
            </a:r>
            <a:r>
              <a:rPr lang="en-GB" dirty="0"/>
              <a:t>[k] = </a:t>
            </a:r>
            <a:r>
              <a:rPr lang="en-GB" dirty="0" err="1"/>
              <a:t>rightHalf</a:t>
            </a:r>
            <a:r>
              <a:rPr lang="en-GB" dirty="0"/>
              <a:t>[j]</a:t>
            </a:r>
          </a:p>
          <a:p>
            <a:r>
              <a:rPr lang="en-GB" dirty="0"/>
              <a:t>		j = j + 1</a:t>
            </a:r>
          </a:p>
          <a:p>
            <a:r>
              <a:rPr lang="en-GB" dirty="0"/>
              <a:t>		k = k + 1</a:t>
            </a:r>
          </a:p>
          <a:p>
            <a:r>
              <a:rPr lang="en-GB" dirty="0"/>
              <a:t>	return </a:t>
            </a:r>
            <a:r>
              <a:rPr lang="en-GB" dirty="0" err="1"/>
              <a:t>sortList</a:t>
            </a:r>
            <a:endParaRPr lang="en-GB" dirty="0"/>
          </a:p>
        </p:txBody>
      </p:sp>
    </p:spTree>
    <p:extLst>
      <p:ext uri="{BB962C8B-B14F-4D97-AF65-F5344CB8AC3E}">
        <p14:creationId xmlns:p14="http://schemas.microsoft.com/office/powerpoint/2010/main" val="721632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8AAF6A-58B1-B93C-C0FE-011556B9FA60}"/>
              </a:ext>
            </a:extLst>
          </p:cNvPr>
          <p:cNvPicPr>
            <a:picLocks noChangeAspect="1"/>
          </p:cNvPicPr>
          <p:nvPr/>
        </p:nvPicPr>
        <p:blipFill>
          <a:blip r:embed="rId2"/>
          <a:stretch>
            <a:fillRect/>
          </a:stretch>
        </p:blipFill>
        <p:spPr>
          <a:xfrm>
            <a:off x="111036" y="149111"/>
            <a:ext cx="4186644" cy="5393882"/>
          </a:xfrm>
          <a:prstGeom prst="rect">
            <a:avLst/>
          </a:prstGeom>
        </p:spPr>
      </p:pic>
      <p:pic>
        <p:nvPicPr>
          <p:cNvPr id="7" name="Picture 6">
            <a:extLst>
              <a:ext uri="{FF2B5EF4-FFF2-40B4-BE49-F238E27FC236}">
                <a16:creationId xmlns:a16="http://schemas.microsoft.com/office/drawing/2014/main" id="{591E8E58-0833-A493-CC69-3BD5274322B6}"/>
              </a:ext>
            </a:extLst>
          </p:cNvPr>
          <p:cNvPicPr>
            <a:picLocks noChangeAspect="1"/>
          </p:cNvPicPr>
          <p:nvPr/>
        </p:nvPicPr>
        <p:blipFill>
          <a:blip r:embed="rId3"/>
          <a:stretch>
            <a:fillRect/>
          </a:stretch>
        </p:blipFill>
        <p:spPr>
          <a:xfrm>
            <a:off x="4572000" y="1658572"/>
            <a:ext cx="3978344" cy="2759326"/>
          </a:xfrm>
          <a:prstGeom prst="rect">
            <a:avLst/>
          </a:prstGeom>
        </p:spPr>
      </p:pic>
    </p:spTree>
    <p:extLst>
      <p:ext uri="{BB962C8B-B14F-4D97-AF65-F5344CB8AC3E}">
        <p14:creationId xmlns:p14="http://schemas.microsoft.com/office/powerpoint/2010/main" val="473953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27F43-C67D-48C4-AC70-A0ED8765727E}"/>
              </a:ext>
            </a:extLst>
          </p:cNvPr>
          <p:cNvSpPr>
            <a:spLocks noGrp="1"/>
          </p:cNvSpPr>
          <p:nvPr>
            <p:ph type="title"/>
          </p:nvPr>
        </p:nvSpPr>
        <p:spPr/>
        <p:txBody>
          <a:bodyPr/>
          <a:lstStyle/>
          <a:p>
            <a:r>
              <a:rPr lang="en-GB" dirty="0"/>
              <a:t>tasks</a:t>
            </a:r>
          </a:p>
        </p:txBody>
      </p:sp>
      <p:sp>
        <p:nvSpPr>
          <p:cNvPr id="3" name="Content Placeholder 2">
            <a:extLst>
              <a:ext uri="{FF2B5EF4-FFF2-40B4-BE49-F238E27FC236}">
                <a16:creationId xmlns:a16="http://schemas.microsoft.com/office/drawing/2014/main" id="{20C2646A-3BD8-46BF-BBE7-5D1BC5B2B8AF}"/>
              </a:ext>
            </a:extLst>
          </p:cNvPr>
          <p:cNvSpPr>
            <a:spLocks noGrp="1"/>
          </p:cNvSpPr>
          <p:nvPr>
            <p:ph idx="1"/>
          </p:nvPr>
        </p:nvSpPr>
        <p:spPr/>
        <p:txBody>
          <a:bodyPr/>
          <a:lstStyle/>
          <a:p>
            <a:r>
              <a:rPr lang="en-GB" b="1" u="sng" dirty="0"/>
              <a:t>Task 4:</a:t>
            </a:r>
            <a:endParaRPr lang="en-US" dirty="0"/>
          </a:p>
          <a:p>
            <a:pPr fontAlgn="base"/>
            <a:r>
              <a:rPr lang="en-US" dirty="0"/>
              <a:t>Create the password checker program. The password must be 8 to 15 characters with at least one upper case letter, one lower case letter, one number and one symbol – this program must repeat until the conditions are met AND typed in twice with matching results </a:t>
            </a:r>
          </a:p>
          <a:p>
            <a:pPr fontAlgn="base"/>
            <a:r>
              <a:rPr lang="en-US" dirty="0"/>
              <a:t>Extend this program: </a:t>
            </a:r>
          </a:p>
          <a:p>
            <a:pPr fontAlgn="base"/>
            <a:r>
              <a:rPr lang="en-US" dirty="0"/>
              <a:t>It is not a good idea to store passwords internally in your file – make a program that stores the passwords externally in an encrypted file (</a:t>
            </a:r>
            <a:r>
              <a:rPr lang="en-US" b="1" dirty="0"/>
              <a:t>you choose the level of encryption based on your theory knowledge or maybe look into the hashing libraries in Python</a:t>
            </a:r>
            <a:r>
              <a:rPr lang="en-US" dirty="0"/>
              <a:t>). It should give the user 3 attempts at getting the correct password from then block them from the system. </a:t>
            </a:r>
          </a:p>
          <a:p>
            <a:endParaRPr lang="en-GB" dirty="0"/>
          </a:p>
        </p:txBody>
      </p:sp>
    </p:spTree>
    <p:extLst>
      <p:ext uri="{BB962C8B-B14F-4D97-AF65-F5344CB8AC3E}">
        <p14:creationId xmlns:p14="http://schemas.microsoft.com/office/powerpoint/2010/main" val="389571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F8FE83-7352-D2BB-E829-F743557D2280}"/>
              </a:ext>
            </a:extLst>
          </p:cNvPr>
          <p:cNvPicPr>
            <a:picLocks noChangeAspect="1"/>
          </p:cNvPicPr>
          <p:nvPr/>
        </p:nvPicPr>
        <p:blipFill>
          <a:blip r:embed="rId2"/>
          <a:stretch>
            <a:fillRect/>
          </a:stretch>
        </p:blipFill>
        <p:spPr>
          <a:xfrm>
            <a:off x="172720" y="251348"/>
            <a:ext cx="4316423" cy="5143612"/>
          </a:xfrm>
          <a:prstGeom prst="rect">
            <a:avLst/>
          </a:prstGeom>
        </p:spPr>
      </p:pic>
      <p:pic>
        <p:nvPicPr>
          <p:cNvPr id="7" name="Picture 6">
            <a:extLst>
              <a:ext uri="{FF2B5EF4-FFF2-40B4-BE49-F238E27FC236}">
                <a16:creationId xmlns:a16="http://schemas.microsoft.com/office/drawing/2014/main" id="{0A30A73E-A3E5-E2F5-AED2-BAEE529EB4E7}"/>
              </a:ext>
            </a:extLst>
          </p:cNvPr>
          <p:cNvPicPr>
            <a:picLocks noChangeAspect="1"/>
          </p:cNvPicPr>
          <p:nvPr/>
        </p:nvPicPr>
        <p:blipFill>
          <a:blip r:embed="rId3"/>
          <a:stretch>
            <a:fillRect/>
          </a:stretch>
        </p:blipFill>
        <p:spPr>
          <a:xfrm>
            <a:off x="4572000" y="251348"/>
            <a:ext cx="4242517" cy="5842986"/>
          </a:xfrm>
          <a:prstGeom prst="rect">
            <a:avLst/>
          </a:prstGeom>
        </p:spPr>
      </p:pic>
    </p:spTree>
    <p:extLst>
      <p:ext uri="{BB962C8B-B14F-4D97-AF65-F5344CB8AC3E}">
        <p14:creationId xmlns:p14="http://schemas.microsoft.com/office/powerpoint/2010/main" val="34742256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CC441-C820-4325-A865-49C58B321FDB}"/>
              </a:ext>
            </a:extLst>
          </p:cNvPr>
          <p:cNvSpPr>
            <a:spLocks noGrp="1"/>
          </p:cNvSpPr>
          <p:nvPr>
            <p:ph type="ctrTitle"/>
          </p:nvPr>
        </p:nvSpPr>
        <p:spPr/>
        <p:txBody>
          <a:bodyPr/>
          <a:lstStyle/>
          <a:p>
            <a:r>
              <a:rPr lang="en-GB" dirty="0"/>
              <a:t>challenges</a:t>
            </a:r>
          </a:p>
        </p:txBody>
      </p:sp>
      <p:sp>
        <p:nvSpPr>
          <p:cNvPr id="3" name="Subtitle 2">
            <a:extLst>
              <a:ext uri="{FF2B5EF4-FFF2-40B4-BE49-F238E27FC236}">
                <a16:creationId xmlns:a16="http://schemas.microsoft.com/office/drawing/2014/main" id="{E734B9A6-2552-468A-B1B5-0544C41494D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434365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23C4-02A5-449D-A9C0-E6E1567DCE94}"/>
              </a:ext>
            </a:extLst>
          </p:cNvPr>
          <p:cNvSpPr>
            <a:spLocks noGrp="1"/>
          </p:cNvSpPr>
          <p:nvPr>
            <p:ph type="title"/>
          </p:nvPr>
        </p:nvSpPr>
        <p:spPr/>
        <p:txBody>
          <a:bodyPr/>
          <a:lstStyle/>
          <a:p>
            <a:r>
              <a:rPr lang="en-GB" dirty="0"/>
              <a:t>4.1.1.8 Randomisation challenges</a:t>
            </a:r>
          </a:p>
        </p:txBody>
      </p:sp>
      <p:sp>
        <p:nvSpPr>
          <p:cNvPr id="3" name="Content Placeholder 2">
            <a:extLst>
              <a:ext uri="{FF2B5EF4-FFF2-40B4-BE49-F238E27FC236}">
                <a16:creationId xmlns:a16="http://schemas.microsoft.com/office/drawing/2014/main" id="{DC04675A-E326-4960-B6F9-9D2874B9DFEC}"/>
              </a:ext>
            </a:extLst>
          </p:cNvPr>
          <p:cNvSpPr>
            <a:spLocks noGrp="1"/>
          </p:cNvSpPr>
          <p:nvPr>
            <p:ph idx="1"/>
          </p:nvPr>
        </p:nvSpPr>
        <p:spPr/>
        <p:txBody>
          <a:bodyPr numCol="2">
            <a:normAutofit fontScale="55000" lnSpcReduction="20000"/>
          </a:bodyPr>
          <a:lstStyle/>
          <a:p>
            <a:pPr fontAlgn="base"/>
            <a:r>
              <a:rPr lang="en-US" dirty="0"/>
              <a:t>*If you have finished the 1-6 tasks and your notes, challenge yourself to complete some of these* </a:t>
            </a:r>
          </a:p>
          <a:p>
            <a:pPr fontAlgn="base"/>
            <a:r>
              <a:rPr lang="en-US" b="1" i="1" u="sng" dirty="0"/>
              <a:t>R@nd0m P@ssw0rd generator </a:t>
            </a:r>
            <a:r>
              <a:rPr lang="en-US" dirty="0"/>
              <a:t> </a:t>
            </a:r>
          </a:p>
          <a:p>
            <a:pPr fontAlgn="base"/>
            <a:r>
              <a:rPr lang="en-US" dirty="0"/>
              <a:t>Have the </a:t>
            </a:r>
            <a:r>
              <a:rPr lang="en-US" dirty="0" err="1"/>
              <a:t>programme</a:t>
            </a:r>
            <a:r>
              <a:rPr lang="en-US" dirty="0"/>
              <a:t> create random strong passwords mixing upper and lower case, symbols and numbers.  </a:t>
            </a:r>
          </a:p>
          <a:p>
            <a:pPr fontAlgn="base"/>
            <a:r>
              <a:rPr lang="en-US" b="1" dirty="0"/>
              <a:t>Extension: </a:t>
            </a:r>
            <a:r>
              <a:rPr lang="en-US" dirty="0"/>
              <a:t> </a:t>
            </a:r>
          </a:p>
          <a:p>
            <a:pPr fontAlgn="base"/>
            <a:r>
              <a:rPr lang="en-US" dirty="0"/>
              <a:t>• Have the password also use ASCII characters  </a:t>
            </a:r>
          </a:p>
          <a:p>
            <a:pPr fontAlgn="base"/>
            <a:r>
              <a:rPr lang="en-US" dirty="0"/>
              <a:t>• Have the passwords stored in an external file  </a:t>
            </a:r>
          </a:p>
          <a:p>
            <a:pPr fontAlgn="base"/>
            <a:r>
              <a:rPr lang="en-US" b="1" i="1" u="sng" dirty="0"/>
              <a:t>Events calendar </a:t>
            </a:r>
            <a:r>
              <a:rPr lang="en-US" dirty="0"/>
              <a:t> </a:t>
            </a:r>
          </a:p>
          <a:p>
            <a:pPr fontAlgn="base"/>
            <a:r>
              <a:rPr lang="en-US" dirty="0"/>
              <a:t>Create a menu driven program that allows the user to add or delete events from a list of dates and timings, just like a calendar. The program should warn you if any of the events overlap when entering them.  </a:t>
            </a:r>
          </a:p>
          <a:p>
            <a:pPr fontAlgn="base"/>
            <a:r>
              <a:rPr lang="en-US" b="1" dirty="0"/>
              <a:t>Extensions: </a:t>
            </a:r>
            <a:r>
              <a:rPr lang="en-US" dirty="0"/>
              <a:t> </a:t>
            </a:r>
          </a:p>
          <a:p>
            <a:pPr fontAlgn="base"/>
            <a:r>
              <a:rPr lang="en-US" dirty="0"/>
              <a:t>Make it so that none of the events are hard-coded into the program  </a:t>
            </a:r>
          </a:p>
          <a:p>
            <a:pPr fontAlgn="base"/>
            <a:r>
              <a:rPr lang="en-US" b="1" i="1" u="sng" dirty="0"/>
              <a:t>Years in a Range </a:t>
            </a:r>
            <a:r>
              <a:rPr lang="en-US" dirty="0"/>
              <a:t> </a:t>
            </a:r>
          </a:p>
          <a:p>
            <a:pPr fontAlgn="base"/>
            <a:r>
              <a:rPr lang="en-US" dirty="0"/>
              <a:t>Write a program to count the number years in a range that has a repeated digit.  </a:t>
            </a:r>
          </a:p>
          <a:p>
            <a:pPr fontAlgn="base"/>
            <a:r>
              <a:rPr lang="en-US" dirty="0"/>
              <a:t>For example, 2012 has a repeated digit, but 2013 does not.  </a:t>
            </a:r>
          </a:p>
          <a:p>
            <a:pPr fontAlgn="base"/>
            <a:r>
              <a:rPr lang="en-US" b="1" i="1" u="sng" dirty="0"/>
              <a:t>Name that Number </a:t>
            </a:r>
            <a:r>
              <a:rPr lang="en-US" dirty="0"/>
              <a:t> </a:t>
            </a:r>
          </a:p>
          <a:p>
            <a:pPr fontAlgn="base"/>
            <a:r>
              <a:rPr lang="en-US" dirty="0"/>
              <a:t>Telephone Keypads often have letters associated with each number. This means that 0141 117 2556 could be stored as 0141-CAT-DOOR. Create a program that can convert a phone number with “letters” into one that only contains digits.  </a:t>
            </a:r>
          </a:p>
          <a:p>
            <a:pPr fontAlgn="base"/>
            <a:r>
              <a:rPr lang="en-US" b="1" dirty="0"/>
              <a:t>Extensions: </a:t>
            </a:r>
            <a:r>
              <a:rPr lang="en-US" dirty="0"/>
              <a:t> </a:t>
            </a:r>
          </a:p>
          <a:p>
            <a:pPr fontAlgn="base"/>
            <a:r>
              <a:rPr lang="en-US" dirty="0"/>
              <a:t>1. Can you develop your program so that only words in the dictionary are allowed?  </a:t>
            </a:r>
          </a:p>
          <a:p>
            <a:pPr fontAlgn="base"/>
            <a:r>
              <a:rPr lang="en-US" dirty="0"/>
              <a:t> </a:t>
            </a:r>
          </a:p>
          <a:p>
            <a:endParaRPr lang="en-GB" dirty="0"/>
          </a:p>
        </p:txBody>
      </p:sp>
    </p:spTree>
    <p:extLst>
      <p:ext uri="{BB962C8B-B14F-4D97-AF65-F5344CB8AC3E}">
        <p14:creationId xmlns:p14="http://schemas.microsoft.com/office/powerpoint/2010/main" val="3043348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23C4-02A5-449D-A9C0-E6E1567DCE94}"/>
              </a:ext>
            </a:extLst>
          </p:cNvPr>
          <p:cNvSpPr>
            <a:spLocks noGrp="1"/>
          </p:cNvSpPr>
          <p:nvPr>
            <p:ph type="title"/>
          </p:nvPr>
        </p:nvSpPr>
        <p:spPr/>
        <p:txBody>
          <a:bodyPr/>
          <a:lstStyle/>
          <a:p>
            <a:r>
              <a:rPr lang="en-GB" dirty="0"/>
              <a:t>4.1.1.9 exception handling challenges</a:t>
            </a:r>
          </a:p>
        </p:txBody>
      </p:sp>
      <p:sp>
        <p:nvSpPr>
          <p:cNvPr id="3" name="Content Placeholder 2">
            <a:extLst>
              <a:ext uri="{FF2B5EF4-FFF2-40B4-BE49-F238E27FC236}">
                <a16:creationId xmlns:a16="http://schemas.microsoft.com/office/drawing/2014/main" id="{DC04675A-E326-4960-B6F9-9D2874B9DFEC}"/>
              </a:ext>
            </a:extLst>
          </p:cNvPr>
          <p:cNvSpPr>
            <a:spLocks noGrp="1"/>
          </p:cNvSpPr>
          <p:nvPr>
            <p:ph idx="1"/>
          </p:nvPr>
        </p:nvSpPr>
        <p:spPr/>
        <p:txBody>
          <a:bodyPr numCol="2">
            <a:normAutofit fontScale="40000" lnSpcReduction="20000"/>
          </a:bodyPr>
          <a:lstStyle/>
          <a:p>
            <a:pPr fontAlgn="base"/>
            <a:r>
              <a:rPr lang="en-US" dirty="0"/>
              <a:t>*If you have finished the 1-6 tasks and your notes, challenge yourself to complete some of these* </a:t>
            </a:r>
          </a:p>
          <a:p>
            <a:pPr fontAlgn="base"/>
            <a:r>
              <a:rPr lang="en-US" dirty="0"/>
              <a:t> </a:t>
            </a:r>
            <a:r>
              <a:rPr lang="en-US" b="1" i="1" u="sng" dirty="0"/>
              <a:t>Hack-proof </a:t>
            </a:r>
            <a:r>
              <a:rPr lang="en-US" dirty="0"/>
              <a:t> </a:t>
            </a:r>
          </a:p>
          <a:p>
            <a:pPr fontAlgn="base"/>
            <a:r>
              <a:rPr lang="en-US" dirty="0"/>
              <a:t>Create a program that will only open a text document if the correct password is entered. The user should choose the username and password first and it should also verify the password before allowing it.  </a:t>
            </a:r>
          </a:p>
          <a:p>
            <a:pPr fontAlgn="base"/>
            <a:r>
              <a:rPr lang="en-US" b="1" dirty="0"/>
              <a:t>Extensions: </a:t>
            </a:r>
            <a:r>
              <a:rPr lang="en-US" dirty="0"/>
              <a:t> </a:t>
            </a:r>
          </a:p>
          <a:p>
            <a:pPr fontAlgn="base"/>
            <a:r>
              <a:rPr lang="en-US" dirty="0"/>
              <a:t>1. Create a random password first of at least 8 characters first as a suggested password  </a:t>
            </a:r>
          </a:p>
          <a:p>
            <a:pPr fontAlgn="base"/>
            <a:r>
              <a:rPr lang="en-US" dirty="0"/>
              <a:t>2. Create a random password that contains at least a lowercase, uppercase and special character of at least 8 characters in length  </a:t>
            </a:r>
          </a:p>
          <a:p>
            <a:pPr fontAlgn="base"/>
            <a:r>
              <a:rPr lang="en-US" dirty="0"/>
              <a:t>3. Verify that the password given by the user matches:  </a:t>
            </a:r>
          </a:p>
          <a:p>
            <a:pPr fontAlgn="base"/>
            <a:r>
              <a:rPr lang="en-US" dirty="0"/>
              <a:t>a. The limits in Extension 1 above  </a:t>
            </a:r>
          </a:p>
          <a:p>
            <a:pPr fontAlgn="base"/>
            <a:r>
              <a:rPr lang="en-US" dirty="0"/>
              <a:t>b. The limits in Extension 2 above  </a:t>
            </a:r>
          </a:p>
          <a:p>
            <a:pPr fontAlgn="base"/>
            <a:r>
              <a:rPr lang="en-US" b="1" i="1" u="sng" dirty="0"/>
              <a:t>Palindromes </a:t>
            </a:r>
            <a:r>
              <a:rPr lang="en-US" dirty="0"/>
              <a:t> </a:t>
            </a:r>
          </a:p>
          <a:p>
            <a:pPr fontAlgn="base"/>
            <a:r>
              <a:rPr lang="en-US" dirty="0"/>
              <a:t>Write a program that checks if a string entered by the user is a palindrome. A palindrome is a word that reads the same forwards as backwards like “racecar” </a:t>
            </a:r>
          </a:p>
          <a:p>
            <a:pPr fontAlgn="base"/>
            <a:r>
              <a:rPr lang="en-US" b="1" i="1" u="sng" dirty="0"/>
              <a:t>Data Entry </a:t>
            </a:r>
            <a:r>
              <a:rPr lang="en-US" dirty="0"/>
              <a:t> </a:t>
            </a:r>
          </a:p>
          <a:p>
            <a:pPr fontAlgn="base"/>
            <a:r>
              <a:rPr lang="en-US" dirty="0"/>
              <a:t>Create a program that retrieves the membership details for a Rock Climbing Club. The program should take a range of details and then repeat them back, with headings, for confirmation. Once confirmed, the program stores these details; else it clears them and allows a new input.  </a:t>
            </a:r>
          </a:p>
          <a:p>
            <a:pPr fontAlgn="base"/>
            <a:r>
              <a:rPr lang="en-US" b="1" dirty="0"/>
              <a:t>Extensions: </a:t>
            </a:r>
            <a:r>
              <a:rPr lang="en-US" dirty="0"/>
              <a:t> </a:t>
            </a:r>
          </a:p>
          <a:p>
            <a:pPr fontAlgn="base"/>
            <a:r>
              <a:rPr lang="en-US" dirty="0"/>
              <a:t>1. Allow entry of more than one membership  </a:t>
            </a:r>
          </a:p>
          <a:p>
            <a:pPr fontAlgn="base"/>
            <a:r>
              <a:rPr lang="en-US" dirty="0"/>
              <a:t>2. Store membership details to a file  </a:t>
            </a:r>
          </a:p>
          <a:p>
            <a:pPr fontAlgn="base"/>
            <a:r>
              <a:rPr lang="en-US" dirty="0"/>
              <a:t>3. Retrieve details from a file  </a:t>
            </a:r>
          </a:p>
          <a:p>
            <a:pPr fontAlgn="base"/>
            <a:r>
              <a:rPr lang="en-US" dirty="0"/>
              <a:t>4. Allow searching for stored users  </a:t>
            </a:r>
          </a:p>
          <a:p>
            <a:pPr fontAlgn="base"/>
            <a:r>
              <a:rPr lang="en-US" b="1" i="1" u="sng" dirty="0"/>
              <a:t>Fibbing </a:t>
            </a:r>
            <a:r>
              <a:rPr lang="en-US" dirty="0"/>
              <a:t> </a:t>
            </a:r>
          </a:p>
          <a:p>
            <a:pPr fontAlgn="base"/>
            <a:r>
              <a:rPr lang="en-US" dirty="0"/>
              <a:t>Create a program that will calculate the Fibonacci Sequence to 10 places.  </a:t>
            </a:r>
          </a:p>
          <a:p>
            <a:pPr fontAlgn="base"/>
            <a:r>
              <a:rPr lang="en-US" b="1" dirty="0"/>
              <a:t>Extensions: </a:t>
            </a:r>
            <a:r>
              <a:rPr lang="en-US" dirty="0"/>
              <a:t> </a:t>
            </a:r>
          </a:p>
          <a:p>
            <a:pPr fontAlgn="base"/>
            <a:r>
              <a:rPr lang="en-US" dirty="0"/>
              <a:t>1. Allow the user to specify the number of places generated  </a:t>
            </a:r>
          </a:p>
          <a:p>
            <a:pPr fontAlgn="base"/>
            <a:r>
              <a:rPr lang="en-US" dirty="0"/>
              <a:t>2. Print this in reverse order  </a:t>
            </a:r>
          </a:p>
          <a:p>
            <a:pPr fontAlgn="base"/>
            <a:r>
              <a:rPr lang="en-US" dirty="0"/>
              <a:t>3. Display the total of all the numbers shown </a:t>
            </a:r>
          </a:p>
          <a:p>
            <a:endParaRPr lang="en-GB" dirty="0"/>
          </a:p>
        </p:txBody>
      </p:sp>
    </p:spTree>
    <p:extLst>
      <p:ext uri="{BB962C8B-B14F-4D97-AF65-F5344CB8AC3E}">
        <p14:creationId xmlns:p14="http://schemas.microsoft.com/office/powerpoint/2010/main" val="36418678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1417</TotalTime>
  <Words>2576</Words>
  <Application>Microsoft Office PowerPoint</Application>
  <PresentationFormat>On-screen Show (4:3)</PresentationFormat>
  <Paragraphs>285</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Calibri</vt:lpstr>
      <vt:lpstr>Consolas</vt:lpstr>
      <vt:lpstr>Tw Cen MT</vt:lpstr>
      <vt:lpstr>Tw Cen MT Condensed</vt:lpstr>
      <vt:lpstr>Wingdings</vt:lpstr>
      <vt:lpstr>Wingdings 3</vt:lpstr>
      <vt:lpstr>Integral</vt:lpstr>
      <vt:lpstr>4.1.1.8-4.1.1.9</vt:lpstr>
      <vt:lpstr>Starter</vt:lpstr>
      <vt:lpstr>Spec points</vt:lpstr>
      <vt:lpstr>randomisation</vt:lpstr>
      <vt:lpstr>PowerPoint Presentation</vt:lpstr>
      <vt:lpstr>Spec points</vt:lpstr>
      <vt:lpstr>starter</vt:lpstr>
      <vt:lpstr>starter</vt:lpstr>
      <vt:lpstr>Type command – good for problem solving, not for exception handling</vt:lpstr>
      <vt:lpstr>If statements – always finish them</vt:lpstr>
      <vt:lpstr>Inputs – sanitise them</vt:lpstr>
      <vt:lpstr>Is this validated?</vt:lpstr>
      <vt:lpstr>Use of loops to control flow</vt:lpstr>
      <vt:lpstr>Runtime errors</vt:lpstr>
      <vt:lpstr>Index errors</vt:lpstr>
      <vt:lpstr>Value errors</vt:lpstr>
      <vt:lpstr>Value errors</vt:lpstr>
      <vt:lpstr>Specifying error types</vt:lpstr>
      <vt:lpstr>Type errors</vt:lpstr>
      <vt:lpstr>Multiple Exceptions handling</vt:lpstr>
      <vt:lpstr>File Not Found Error</vt:lpstr>
      <vt:lpstr>Name error</vt:lpstr>
      <vt:lpstr>Challenge</vt:lpstr>
      <vt:lpstr>Challenge – Program this</vt:lpstr>
      <vt:lpstr>Challenge 2.0</vt:lpstr>
      <vt:lpstr>Hashing explanation and code for task 4</vt:lpstr>
      <vt:lpstr>Hashing</vt:lpstr>
      <vt:lpstr>Programming tasks</vt:lpstr>
      <vt:lpstr>tasks</vt:lpstr>
      <vt:lpstr>Task 1 Answer</vt:lpstr>
      <vt:lpstr>tasks</vt:lpstr>
      <vt:lpstr>Task 2 Answer</vt:lpstr>
      <vt:lpstr>tasks</vt:lpstr>
      <vt:lpstr>Exercise 2 Code</vt:lpstr>
      <vt:lpstr>PowerPoint Presentation</vt:lpstr>
      <vt:lpstr>tasks</vt:lpstr>
      <vt:lpstr>PowerPoint Presentation</vt:lpstr>
      <vt:lpstr>challenges</vt:lpstr>
      <vt:lpstr>4.1.1.8 Randomisation challenges</vt:lpstr>
      <vt:lpstr>4.1.1.9 exception handling challenges</vt:lpstr>
    </vt:vector>
  </TitlesOfParts>
  <Company>Lancaster Girls' Grammar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Stylee</dc:title>
  <dc:creator>Julia Gibson</dc:creator>
  <cp:lastModifiedBy>Helen Finnigan</cp:lastModifiedBy>
  <cp:revision>95</cp:revision>
  <cp:lastPrinted>2022-02-21T08:33:40Z</cp:lastPrinted>
  <dcterms:created xsi:type="dcterms:W3CDTF">2018-08-24T10:45:39Z</dcterms:created>
  <dcterms:modified xsi:type="dcterms:W3CDTF">2025-09-16T12:10:30Z</dcterms:modified>
</cp:coreProperties>
</file>