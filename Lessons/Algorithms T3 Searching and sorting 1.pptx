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60" r:id="rId2"/>
    <p:sldId id="261" r:id="rId3"/>
    <p:sldId id="262" r:id="rId4"/>
    <p:sldId id="284" r:id="rId5"/>
    <p:sldId id="263" r:id="rId6"/>
    <p:sldId id="265" r:id="rId7"/>
    <p:sldId id="268" r:id="rId8"/>
    <p:sldId id="266" r:id="rId9"/>
    <p:sldId id="269" r:id="rId10"/>
    <p:sldId id="270" r:id="rId11"/>
    <p:sldId id="271" r:id="rId12"/>
    <p:sldId id="267" r:id="rId13"/>
    <p:sldId id="272" r:id="rId14"/>
    <p:sldId id="273" r:id="rId15"/>
    <p:sldId id="275" r:id="rId16"/>
    <p:sldId id="277" r:id="rId17"/>
    <p:sldId id="278" r:id="rId18"/>
    <p:sldId id="279" r:id="rId19"/>
    <p:sldId id="280" r:id="rId20"/>
    <p:sldId id="281" r:id="rId21"/>
    <p:sldId id="282" r:id="rId22"/>
    <p:sldId id="283" r:id="rId23"/>
    <p:sldId id="285" r:id="rId24"/>
  </p:sldIdLst>
  <p:sldSz cx="9144000" cy="6858000" type="screen4x3"/>
  <p:notesSz cx="6858000" cy="9144000"/>
  <p:embeddedFontLst>
    <p:embeddedFont>
      <p:font typeface="Corbel" panose="020B0503020204020204" pitchFamily="34"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Calibri" panose="020F0502020204030204" pitchFamily="34" charset="0"/>
      <p:regular r:id="rId34"/>
      <p:bold r:id="rId35"/>
      <p:italic r:id="rId36"/>
      <p:boldItalic r:id="rId37"/>
    </p:embeddedFont>
    <p:embeddedFont>
      <p:font typeface="Museo900-Regular" panose="02000000000000000000" pitchFamily="50" charset="0"/>
      <p:bold r:id="rId38"/>
    </p:embeddedFont>
    <p:embeddedFont>
      <p:font typeface="Museo 900" panose="02000000000000000000" pitchFamily="50" charset="0"/>
      <p:bold r:id="rId39"/>
    </p:embeddedFont>
    <p:embeddedFont>
      <p:font typeface="Museo 700" panose="02000000000000000000" pitchFamily="50" charset="0"/>
      <p:bold r:id="rId40"/>
    </p:embeddedFont>
    <p:embeddedFont>
      <p:font typeface="Museo 100" panose="02000000000000000000" pitchFamily="50" charset="0"/>
      <p:regular r:id="rId41"/>
    </p:embeddedFont>
    <p:embeddedFont>
      <p:font typeface="Museo 500" panose="02000000000000000000" pitchFamily="50" charset="0"/>
      <p:regular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ricia Heathcote" initials="PH" lastIdx="23" clrIdx="0">
    <p:extLst>
      <p:ext uri="{19B8F6BF-5375-455C-9EA6-DF929625EA0E}">
        <p15:presenceInfo xmlns:p15="http://schemas.microsoft.com/office/powerpoint/2012/main" userId="f91a954299b6cd1a" providerId="Windows Live"/>
      </p:ext>
    </p:extLst>
  </p:cmAuthor>
  <p:cmAuthor id="2" name="CSelby" initials="CCS" lastIdx="7" clrIdx="1">
    <p:extLst>
      <p:ext uri="{19B8F6BF-5375-455C-9EA6-DF929625EA0E}">
        <p15:presenceInfo xmlns:p15="http://schemas.microsoft.com/office/powerpoint/2012/main" userId="CSelb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6320"/>
    <a:srgbClr val="2F586A"/>
    <a:srgbClr val="364656"/>
    <a:srgbClr val="274754"/>
    <a:srgbClr val="979A78"/>
    <a:srgbClr val="8D8959"/>
    <a:srgbClr val="2B75A6"/>
    <a:srgbClr val="50AAC1"/>
    <a:srgbClr val="D68328"/>
    <a:srgbClr val="D7A76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16" autoAdjust="0"/>
    <p:restoredTop sz="85448" autoAdjust="0"/>
  </p:normalViewPr>
  <p:slideViewPr>
    <p:cSldViewPr snapToGrid="0" snapToObjects="1" showGuides="1">
      <p:cViewPr>
        <p:scale>
          <a:sx n="104" d="100"/>
          <a:sy n="104" d="100"/>
        </p:scale>
        <p:origin x="762" y="57"/>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p:scale>
        <a:sx n="110" d="100"/>
        <a:sy n="11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15/10/2016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98D5B-57F4-4A7F-8DDC-A432FF1B0DAA}" type="slidenum">
              <a:rPr lang="en-GB" smtClean="0"/>
              <a:t>18</a:t>
            </a:fld>
            <a:endParaRPr lang="en-GB"/>
          </a:p>
        </p:txBody>
      </p:sp>
    </p:spTree>
    <p:extLst>
      <p:ext uri="{BB962C8B-B14F-4D97-AF65-F5344CB8AC3E}">
        <p14:creationId xmlns:p14="http://schemas.microsoft.com/office/powerpoint/2010/main" val="31465696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Unit 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0" name="Text Placeholder 19"/>
          <p:cNvSpPr>
            <a:spLocks noGrp="1"/>
          </p:cNvSpPr>
          <p:nvPr>
            <p:ph type="body" sz="quarter" idx="10"/>
          </p:nvPr>
        </p:nvSpPr>
        <p:spPr>
          <a:xfrm>
            <a:off x="1803400" y="1841231"/>
            <a:ext cx="2527300" cy="2201863"/>
          </a:xfrm>
          <a:prstGeom prst="rect">
            <a:avLst/>
          </a:prstGeom>
        </p:spPr>
        <p:txBody>
          <a:bodyPr vert="horz" lIns="0"/>
          <a:lstStyle>
            <a:lvl1pPr marL="0" indent="0">
              <a:lnSpc>
                <a:spcPts val="4800"/>
              </a:lnSpc>
              <a:spcBef>
                <a:spcPts val="0"/>
              </a:spcBef>
              <a:buNone/>
              <a:defRPr sz="4500" b="1" kern="0" spc="-140">
                <a:solidFill>
                  <a:schemeClr val="bg1"/>
                </a:solidFill>
                <a:latin typeface="Arial"/>
                <a:cs typeface="Arial"/>
              </a:defRPr>
            </a:lvl1pPr>
            <a:lvl2pPr marL="0" indent="0">
              <a:lnSpc>
                <a:spcPts val="2500"/>
              </a:lnSpc>
              <a:spcBef>
                <a:spcPts val="0"/>
              </a:spcBef>
              <a:buNone/>
              <a:defRPr sz="2500" kern="0" spc="-140">
                <a:solidFill>
                  <a:schemeClr val="bg1"/>
                </a:solidFill>
                <a:latin typeface="Arial"/>
                <a:cs typeface="Arial"/>
              </a:defRPr>
            </a:lvl2pPr>
            <a:lvl3pPr marL="0" indent="0">
              <a:lnSpc>
                <a:spcPts val="4800"/>
              </a:lnSpc>
              <a:spcBef>
                <a:spcPts val="0"/>
              </a:spcBef>
              <a:buNone/>
              <a:defRPr sz="4500">
                <a:solidFill>
                  <a:schemeClr val="bg1"/>
                </a:solidFill>
                <a:latin typeface="Arial"/>
                <a:cs typeface="Arial"/>
              </a:defRPr>
            </a:lvl3pPr>
            <a:lvl4pPr marL="0" indent="0">
              <a:lnSpc>
                <a:spcPts val="2600"/>
              </a:lnSpc>
              <a:spcBef>
                <a:spcPts val="0"/>
              </a:spcBef>
              <a:buNone/>
              <a:defRPr sz="3000">
                <a:solidFill>
                  <a:srgbClr val="274754"/>
                </a:solidFill>
                <a:latin typeface="Arial"/>
                <a:cs typeface="Arial"/>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19"/>
          <p:cNvSpPr>
            <a:spLocks noGrp="1"/>
          </p:cNvSpPr>
          <p:nvPr>
            <p:ph type="body" sz="quarter" idx="11"/>
          </p:nvPr>
        </p:nvSpPr>
        <p:spPr>
          <a:xfrm>
            <a:off x="4800600" y="1841231"/>
            <a:ext cx="2768600" cy="2201863"/>
          </a:xfrm>
          <a:prstGeom prst="rect">
            <a:avLst/>
          </a:prstGeom>
        </p:spPr>
        <p:txBody>
          <a:bodyPr vert="horz" lIns="0"/>
          <a:lstStyle>
            <a:lvl1pPr marL="0" indent="0">
              <a:lnSpc>
                <a:spcPts val="2600"/>
              </a:lnSpc>
              <a:spcBef>
                <a:spcPts val="0"/>
              </a:spcBef>
              <a:buNone/>
              <a:defRPr sz="2600" b="1" kern="0" spc="-60">
                <a:solidFill>
                  <a:schemeClr val="bg1"/>
                </a:solidFill>
                <a:latin typeface="Arial"/>
                <a:cs typeface="Arial"/>
              </a:defRPr>
            </a:lvl1pPr>
            <a:lvl2pPr marL="0" indent="0">
              <a:lnSpc>
                <a:spcPts val="2000"/>
              </a:lnSpc>
              <a:spcBef>
                <a:spcPts val="500"/>
              </a:spcBef>
              <a:buNone/>
              <a:defRPr sz="1800">
                <a:solidFill>
                  <a:schemeClr val="bg1"/>
                </a:solidFill>
                <a:latin typeface="Arial"/>
                <a:cs typeface="Arial"/>
              </a:defRPr>
            </a:lvl2pPr>
            <a:lvl3pPr marL="0" indent="0">
              <a:buNone/>
              <a:defRPr sz="3000">
                <a:solidFill>
                  <a:srgbClr val="ECCC7B"/>
                </a:solidFill>
                <a:latin typeface="Arial"/>
                <a:cs typeface="Arial"/>
              </a:defRPr>
            </a:lvl3pPr>
            <a:lvl4pPr marL="1371600" indent="0">
              <a:buNone/>
              <a:defRPr/>
            </a:lvl4pPr>
            <a:lvl5pPr marL="1828800" indent="0">
              <a:buNone/>
              <a:defRPr/>
            </a:lvl5pPr>
          </a:lstStyle>
          <a:p>
            <a:pPr lvl="0"/>
            <a:r>
              <a:rPr lang="en-US"/>
              <a:t>Click to edit Master text styles</a:t>
            </a:r>
          </a:p>
          <a:p>
            <a:pPr lvl="1"/>
            <a:r>
              <a:rPr lang="en-US"/>
              <a:t>Second level</a:t>
            </a:r>
          </a:p>
        </p:txBody>
      </p:sp>
      <p:pic>
        <p:nvPicPr>
          <p:cNvPr id="8" name="Picture 7" descr="Logo.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50685" y="4018819"/>
            <a:ext cx="2291515" cy="456997"/>
          </a:xfrm>
          <a:prstGeom prst="rect">
            <a:avLst/>
          </a:prstGeom>
        </p:spPr>
      </p:pic>
      <p:sp>
        <p:nvSpPr>
          <p:cNvPr id="10" name="Hexagon 9"/>
          <p:cNvSpPr/>
          <p:nvPr userDrawn="1"/>
        </p:nvSpPr>
        <p:spPr>
          <a:xfrm>
            <a:off x="1072794" y="4100382"/>
            <a:ext cx="1080000" cy="972000"/>
          </a:xfrm>
          <a:prstGeom prst="hexagon">
            <a:avLst/>
          </a:prstGeom>
          <a:noFill/>
          <a:ln w="114300">
            <a:solidFill>
              <a:srgbClr val="274754"/>
            </a:solid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US" sz="4500" b="1" dirty="0">
                <a:solidFill>
                  <a:srgbClr val="274754"/>
                </a:solidFill>
                <a:latin typeface="Arial"/>
                <a:cs typeface="Arial"/>
              </a:rPr>
              <a:t>3</a:t>
            </a:r>
          </a:p>
        </p:txBody>
      </p:sp>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rgbClr val="274754"/>
        </a:solid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584200" y="1702800"/>
            <a:ext cx="0" cy="3939048"/>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483214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95632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Tree>
    <p:extLst>
      <p:ext uri="{BB962C8B-B14F-4D97-AF65-F5344CB8AC3E}">
        <p14:creationId xmlns:p14="http://schemas.microsoft.com/office/powerpoint/2010/main" val="3835404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9" name="Picture 8" descr="Unit 8.jpg"/>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9144000" cy="667512"/>
          </a:xfrm>
          <a:prstGeom prst="rect">
            <a:avLst/>
          </a:prstGeom>
        </p:spPr>
      </p:pic>
      <p:pic>
        <p:nvPicPr>
          <p:cNvPr id="6" name="Picture 5" descr="Untitled-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Sorting and searching</a:t>
            </a:r>
          </a:p>
          <a:p>
            <a:pPr>
              <a:spcBef>
                <a:spcPts val="288"/>
              </a:spcBef>
            </a:pPr>
            <a:r>
              <a:rPr lang="en-US" sz="1200" b="0" dirty="0">
                <a:solidFill>
                  <a:srgbClr val="FFFFFF"/>
                </a:solidFill>
                <a:latin typeface="Arial"/>
                <a:cs typeface="Arial"/>
              </a:rPr>
              <a:t>Unit 8 Algorithms</a:t>
            </a:r>
          </a:p>
        </p:txBody>
      </p:sp>
      <p:pic>
        <p:nvPicPr>
          <p:cNvPr id="22" name="Picture 21" descr="Logo Unit 8.ai"/>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spTree>
    <p:extLst>
      <p:ext uri="{BB962C8B-B14F-4D97-AF65-F5344CB8AC3E}">
        <p14:creationId xmlns:p14="http://schemas.microsoft.com/office/powerpoint/2010/main" val="300646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hasCustomPrompt="1"/>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Sorting and searching</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2152160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10" name="Picture 9" descr="Untitled-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pic>
        <p:nvPicPr>
          <p:cNvPr id="20" name="Picture 19"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4" name="TextBox 23"/>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Sorting and searching</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78423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18" name="Picture 17" descr="Unit 8.jpg"/>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0"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1"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956320"/>
                </a:solidFill>
                <a:latin typeface="Arial"/>
                <a:cs typeface="Arial"/>
              </a:defRPr>
            </a:lvl2pPr>
            <a:lvl3pPr marL="723900" indent="-279400">
              <a:lnSpc>
                <a:spcPct val="100000"/>
              </a:lnSpc>
              <a:buFont typeface="Arial"/>
              <a:buChar char="•"/>
              <a:defRPr lang="en-US" sz="2000" kern="1200" baseline="0" dirty="0" smtClean="0">
                <a:solidFill>
                  <a:srgbClr val="2F586A"/>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22" name="TextBox 21"/>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Sorting and searching</a:t>
            </a:r>
          </a:p>
          <a:p>
            <a:pPr>
              <a:spcBef>
                <a:spcPts val="288"/>
              </a:spcBef>
            </a:pPr>
            <a:r>
              <a:rPr lang="en-US" sz="1200" b="0" dirty="0">
                <a:solidFill>
                  <a:srgbClr val="FFFFFF"/>
                </a:solidFill>
                <a:latin typeface="Arial"/>
                <a:cs typeface="Arial"/>
              </a:rPr>
              <a:t>Unit 8 Algorithms</a:t>
            </a:r>
          </a:p>
        </p:txBody>
      </p:sp>
    </p:spTree>
    <p:extLst>
      <p:ext uri="{BB962C8B-B14F-4D97-AF65-F5344CB8AC3E}">
        <p14:creationId xmlns:p14="http://schemas.microsoft.com/office/powerpoint/2010/main" val="2470402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Custom Layout">
    <p:bg>
      <p:bgPr>
        <a:solidFill>
          <a:schemeClr val="tx1"/>
        </a:solidFill>
        <a:effectLst/>
      </p:bgPr>
    </p:bg>
    <p:spTree>
      <p:nvGrpSpPr>
        <p:cNvPr id="1" name=""/>
        <p:cNvGrpSpPr/>
        <p:nvPr/>
      </p:nvGrpSpPr>
      <p:grpSpPr>
        <a:xfrm>
          <a:off x="0" y="0"/>
          <a:ext cx="0" cy="0"/>
          <a:chOff x="0" y="0"/>
          <a:chExt cx="0" cy="0"/>
        </a:xfrm>
      </p:grpSpPr>
      <p:pic>
        <p:nvPicPr>
          <p:cNvPr id="23" name="Picture 22" descr="Logo Unit 8.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3600" y="6339600"/>
            <a:ext cx="1476000" cy="294359"/>
          </a:xfrm>
          <a:prstGeom prst="rect">
            <a:avLst/>
          </a:prstGeom>
        </p:spPr>
      </p:pic>
      <p:pic>
        <p:nvPicPr>
          <p:cNvPr id="24" name="Picture 23" descr="Unit 8.jpg"/>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0" y="0"/>
            <a:ext cx="9144000" cy="660400"/>
          </a:xfrm>
          <a:prstGeom prst="rect">
            <a:avLst/>
          </a:prstGeom>
        </p:spPr>
      </p:pic>
      <p:sp>
        <p:nvSpPr>
          <p:cNvPr id="28" name="TextBox 27"/>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US" sz="1200" b="1" dirty="0">
                <a:solidFill>
                  <a:srgbClr val="FFFFFF"/>
                </a:solidFill>
                <a:latin typeface="Arial"/>
                <a:cs typeface="Arial"/>
              </a:rPr>
              <a:t>Sorting and searching</a:t>
            </a:r>
          </a:p>
          <a:p>
            <a:pPr>
              <a:spcBef>
                <a:spcPts val="288"/>
              </a:spcBef>
            </a:pPr>
            <a:r>
              <a:rPr lang="en-US" sz="1200" b="0" dirty="0">
                <a:solidFill>
                  <a:srgbClr val="FFFFFF"/>
                </a:solidFill>
                <a:latin typeface="Arial"/>
                <a:cs typeface="Arial"/>
              </a:rPr>
              <a:t>Unit 8 Algorithms</a:t>
            </a:r>
          </a:p>
        </p:txBody>
      </p:sp>
      <p:sp>
        <p:nvSpPr>
          <p:cNvPr id="7" name="Rectangle 6"/>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2016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spTree>
    <p:extLst>
      <p:ext uri="{BB962C8B-B14F-4D97-AF65-F5344CB8AC3E}">
        <p14:creationId xmlns:p14="http://schemas.microsoft.com/office/powerpoint/2010/main" val="269471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803399" y="1841231"/>
            <a:ext cx="2750617" cy="2201863"/>
          </a:xfrm>
        </p:spPr>
        <p:txBody>
          <a:bodyPr/>
          <a:lstStyle/>
          <a:p>
            <a:r>
              <a:rPr lang="en-US" dirty="0">
                <a:latin typeface="Museo 700" panose="02000000000000000000" pitchFamily="50" charset="0"/>
              </a:rPr>
              <a:t>AQA</a:t>
            </a:r>
            <a:endParaRPr lang="en-US" b="0" dirty="0">
              <a:latin typeface="Museo900-Regular"/>
              <a:cs typeface="Museo900-Regular"/>
            </a:endParaRPr>
          </a:p>
          <a:p>
            <a:pPr lvl="2"/>
            <a:r>
              <a:rPr lang="en-US" dirty="0">
                <a:latin typeface="Museo 500" panose="02000000000000000000" pitchFamily="50" charset="0"/>
              </a:rPr>
              <a:t>A Level</a:t>
            </a:r>
          </a:p>
          <a:p>
            <a:pPr lvl="3"/>
            <a:r>
              <a:rPr lang="en-US" sz="2500" dirty="0">
                <a:solidFill>
                  <a:schemeClr val="bg1"/>
                </a:solidFill>
                <a:latin typeface="Museo 100" panose="02000000000000000000" pitchFamily="50" charset="0"/>
              </a:rPr>
              <a:t>Computer Science</a:t>
            </a:r>
          </a:p>
          <a:p>
            <a:pPr lvl="3">
              <a:lnSpc>
                <a:spcPts val="3000"/>
              </a:lnSpc>
            </a:pPr>
            <a:r>
              <a:rPr lang="en-US" sz="2500" dirty="0">
                <a:latin typeface="Museo 100" panose="02000000000000000000" pitchFamily="50" charset="0"/>
              </a:rPr>
              <a:t>Paper 1</a:t>
            </a:r>
          </a:p>
          <a:p>
            <a:pPr lvl="3">
              <a:lnSpc>
                <a:spcPts val="4000"/>
              </a:lnSpc>
            </a:pPr>
            <a:endParaRPr lang="en-US" sz="3200" dirty="0">
              <a:latin typeface="Museo 100" panose="02000000000000000000" pitchFamily="50" charset="0"/>
            </a:endParaRPr>
          </a:p>
        </p:txBody>
      </p:sp>
      <p:sp>
        <p:nvSpPr>
          <p:cNvPr id="6" name="Text Placeholder 5"/>
          <p:cNvSpPr>
            <a:spLocks noGrp="1"/>
          </p:cNvSpPr>
          <p:nvPr>
            <p:ph type="body" sz="quarter" idx="11"/>
          </p:nvPr>
        </p:nvSpPr>
        <p:spPr>
          <a:xfrm>
            <a:off x="4800600" y="1860085"/>
            <a:ext cx="2768600" cy="2201863"/>
          </a:xfrm>
        </p:spPr>
        <p:txBody>
          <a:bodyPr/>
          <a:lstStyle/>
          <a:p>
            <a:r>
              <a:rPr lang="en-US" dirty="0">
                <a:latin typeface="Museo 900" panose="02000000000000000000" pitchFamily="50" charset="0"/>
              </a:rPr>
              <a:t>Searching and sorting</a:t>
            </a:r>
            <a:endParaRPr lang="en-US" dirty="0">
              <a:latin typeface="Museo 100" panose="02000000000000000000" pitchFamily="50" charset="0"/>
            </a:endParaRPr>
          </a:p>
          <a:p>
            <a:pPr lvl="1"/>
            <a:endParaRPr lang="en-US" sz="2000" dirty="0">
              <a:latin typeface="Museo 100" panose="02000000000000000000" pitchFamily="50" charset="0"/>
            </a:endParaRPr>
          </a:p>
          <a:p>
            <a:pPr lvl="1"/>
            <a:br>
              <a:rPr lang="en-US" sz="2000" dirty="0">
                <a:latin typeface="Museo 100" panose="02000000000000000000" pitchFamily="50" charset="0"/>
              </a:rPr>
            </a:br>
            <a:r>
              <a:rPr lang="en-US" sz="2000" dirty="0">
                <a:latin typeface="Museo 100" panose="02000000000000000000" pitchFamily="50" charset="0"/>
              </a:rPr>
              <a:t>Unit 8</a:t>
            </a:r>
          </a:p>
          <a:p>
            <a:pPr lvl="1"/>
            <a:r>
              <a:rPr lang="en-US" sz="2000" dirty="0">
                <a:latin typeface="Museo 100" panose="02000000000000000000" pitchFamily="50" charset="0"/>
              </a:rPr>
              <a:t>Algorithms</a:t>
            </a:r>
          </a:p>
        </p:txBody>
      </p:sp>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pPr lvl="0"/>
            <a:r>
              <a:rPr lang="en-GB" dirty="0">
                <a:solidFill>
                  <a:schemeClr val="bg1"/>
                </a:solidFill>
              </a:rPr>
              <a:t>Know and be able to trace and analyse the time complexity of the linear search and binary search algorithms</a:t>
            </a:r>
          </a:p>
          <a:p>
            <a:pPr lvl="0"/>
            <a:r>
              <a:rPr lang="en-GB" dirty="0">
                <a:solidFill>
                  <a:schemeClr val="bg1"/>
                </a:solidFill>
              </a:rPr>
              <a:t>Be able to trace and analyse the time complexity of the binary tree search algorithm</a:t>
            </a:r>
          </a:p>
          <a:p>
            <a:pPr lvl="0"/>
            <a:r>
              <a:rPr lang="en-GB" dirty="0">
                <a:solidFill>
                  <a:schemeClr val="bg1"/>
                </a:solidFill>
              </a:rPr>
              <a:t>Know and be able to explain and trace and analyse the time complexity of the bubble sort algorithm</a:t>
            </a:r>
          </a:p>
          <a:p>
            <a:r>
              <a:rPr lang="en-GB" dirty="0">
                <a:solidFill>
                  <a:schemeClr val="bg1"/>
                </a:solidFill>
              </a:rPr>
              <a:t>Be able to trace and analyse the time complexity of the merge sort algorithm</a:t>
            </a:r>
            <a:r>
              <a:rPr lang="en-US" dirty="0">
                <a:solidFill>
                  <a:schemeClr val="bg1"/>
                </a:solidFill>
              </a:rPr>
              <a:t> </a:t>
            </a:r>
          </a:p>
          <a:p>
            <a:endParaRPr lang="en-GB" dirty="0"/>
          </a:p>
        </p:txBody>
      </p:sp>
      <p:sp>
        <p:nvSpPr>
          <p:cNvPr id="3" name="Text Placeholder 2"/>
          <p:cNvSpPr>
            <a:spLocks noGrp="1"/>
          </p:cNvSpPr>
          <p:nvPr>
            <p:ph type="body" sz="quarter" idx="13"/>
          </p:nvPr>
        </p:nvSpPr>
        <p:spPr/>
        <p:txBody>
          <a:bodyPr/>
          <a:lstStyle/>
          <a:p>
            <a:r>
              <a:rPr lang="en-GB" dirty="0"/>
              <a:t>Objectives</a:t>
            </a:r>
          </a:p>
        </p:txBody>
      </p:sp>
    </p:spTree>
    <p:extLst>
      <p:ext uri="{BB962C8B-B14F-4D97-AF65-F5344CB8AC3E}">
        <p14:creationId xmlns:p14="http://schemas.microsoft.com/office/powerpoint/2010/main" val="1132202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Searching algorithms</a:t>
            </a:r>
          </a:p>
        </p:txBody>
      </p:sp>
      <p:sp>
        <p:nvSpPr>
          <p:cNvPr id="5" name="Text Placeholder 4"/>
          <p:cNvSpPr>
            <a:spLocks noGrp="1"/>
          </p:cNvSpPr>
          <p:nvPr>
            <p:ph type="body" sz="quarter" idx="14"/>
          </p:nvPr>
        </p:nvSpPr>
        <p:spPr/>
        <p:txBody>
          <a:bodyPr/>
          <a:lstStyle/>
          <a:p>
            <a:r>
              <a:rPr lang="en-GB" dirty="0"/>
              <a:t>Searching for a particular item in a list or a database is a very common operation in computing</a:t>
            </a:r>
          </a:p>
          <a:p>
            <a:r>
              <a:rPr lang="en-GB" dirty="0"/>
              <a:t>The cards list the top ten most popular girls’ names in England in 2015, and the number of babies given each name</a:t>
            </a:r>
          </a:p>
          <a:p>
            <a:endParaRPr lang="en-GB" dirty="0"/>
          </a:p>
        </p:txBody>
      </p:sp>
      <p:graphicFrame>
        <p:nvGraphicFramePr>
          <p:cNvPr id="2" name="Table 1"/>
          <p:cNvGraphicFramePr>
            <a:graphicFrameLocks noGrp="1"/>
          </p:cNvGraphicFramePr>
          <p:nvPr>
            <p:extLst>
              <p:ext uri="{D42A27DB-BD31-4B8C-83A1-F6EECF244321}">
                <p14:modId xmlns:p14="http://schemas.microsoft.com/office/powerpoint/2010/main" val="454856991"/>
              </p:ext>
            </p:extLst>
          </p:nvPr>
        </p:nvGraphicFramePr>
        <p:xfrm>
          <a:off x="656620" y="4001294"/>
          <a:ext cx="7886700" cy="2088000"/>
        </p:xfrm>
        <a:graphic>
          <a:graphicData uri="http://schemas.openxmlformats.org/drawingml/2006/table">
            <a:tbl>
              <a:tblPr firstRow="1" firstCol="1" bandRow="1">
                <a:tableStyleId>{5C22544A-7EE6-4342-B048-85BDC9FD1C3A}</a:tableStyleId>
              </a:tblPr>
              <a:tblGrid>
                <a:gridCol w="15773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1577340">
                  <a:extLst>
                    <a:ext uri="{9D8B030D-6E8A-4147-A177-3AD203B41FA5}">
                      <a16:colId xmlns:a16="http://schemas.microsoft.com/office/drawing/2014/main" val="20002"/>
                    </a:ext>
                  </a:extLst>
                </a:gridCol>
                <a:gridCol w="1577340">
                  <a:extLst>
                    <a:ext uri="{9D8B030D-6E8A-4147-A177-3AD203B41FA5}">
                      <a16:colId xmlns:a16="http://schemas.microsoft.com/office/drawing/2014/main" val="20003"/>
                    </a:ext>
                  </a:extLst>
                </a:gridCol>
                <a:gridCol w="1577340">
                  <a:extLst>
                    <a:ext uri="{9D8B030D-6E8A-4147-A177-3AD203B41FA5}">
                      <a16:colId xmlns:a16="http://schemas.microsoft.com/office/drawing/2014/main" val="20004"/>
                    </a:ext>
                  </a:extLst>
                </a:gridCol>
              </a:tblGrid>
              <a:tr h="1044000">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Amelia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5,327</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Olivia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4,724</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Isla</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4,012</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Emily</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3,991</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Poppy</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3,273</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044000">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Ava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3,171</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Isabella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3,022</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Jessica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2,995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Lily</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2,965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Sophie</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2,905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94577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Searching algorithms</a:t>
            </a:r>
            <a:endParaRPr lang="en-GB" dirty="0"/>
          </a:p>
        </p:txBody>
      </p:sp>
      <p:sp>
        <p:nvSpPr>
          <p:cNvPr id="5" name="Text Placeholder 4"/>
          <p:cNvSpPr>
            <a:spLocks noGrp="1"/>
          </p:cNvSpPr>
          <p:nvPr>
            <p:ph type="body" sz="quarter" idx="14"/>
          </p:nvPr>
        </p:nvSpPr>
        <p:spPr>
          <a:xfrm>
            <a:off x="724280" y="1704179"/>
            <a:ext cx="4370234" cy="4359164"/>
          </a:xfrm>
        </p:spPr>
        <p:txBody>
          <a:bodyPr/>
          <a:lstStyle/>
          <a:p>
            <a:r>
              <a:rPr lang="en-GB" dirty="0"/>
              <a:t>Using the cards, you can try out two searching algorithms</a:t>
            </a:r>
          </a:p>
          <a:p>
            <a:r>
              <a:rPr lang="en-GB" dirty="0"/>
              <a:t>Start by putting the cards face down in a line in random order</a:t>
            </a:r>
          </a:p>
          <a:p>
            <a:pPr lvl="1"/>
            <a:r>
              <a:rPr lang="en-GB" dirty="0"/>
              <a:t>How many babies were named Lily in 2015?</a:t>
            </a:r>
          </a:p>
          <a:p>
            <a:endParaRPr lang="en-GB" dirty="0"/>
          </a:p>
          <a:p>
            <a:endParaRPr lang="en-GB" dirty="0"/>
          </a:p>
        </p:txBody>
      </p:sp>
      <p:pic>
        <p:nvPicPr>
          <p:cNvPr id="1026" name="Picture 2" descr="C:\Users\Rob\AppData\Roaming\PixelMetrics\CaptureWiz\Temp\19.png"/>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18072"/>
          <a:stretch/>
        </p:blipFill>
        <p:spPr bwMode="auto">
          <a:xfrm>
            <a:off x="5196164" y="1814287"/>
            <a:ext cx="2775230" cy="5043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930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Linear search</a:t>
            </a:r>
          </a:p>
        </p:txBody>
      </p:sp>
      <p:sp>
        <p:nvSpPr>
          <p:cNvPr id="3" name="Text Placeholder 2"/>
          <p:cNvSpPr>
            <a:spLocks noGrp="1"/>
          </p:cNvSpPr>
          <p:nvPr>
            <p:ph type="body" sz="quarter" idx="14"/>
          </p:nvPr>
        </p:nvSpPr>
        <p:spPr/>
        <p:txBody>
          <a:bodyPr/>
          <a:lstStyle/>
          <a:p>
            <a:r>
              <a:rPr lang="en-GB" dirty="0"/>
              <a:t>The only systematic way of finding out is to look at each card, starting with the first card, until you find Lily</a:t>
            </a:r>
          </a:p>
          <a:p>
            <a:r>
              <a:rPr lang="en-GB" dirty="0"/>
              <a:t>How many cards did you have to turn up?</a:t>
            </a:r>
          </a:p>
          <a:p>
            <a:r>
              <a:rPr lang="en-GB" dirty="0"/>
              <a:t>If there are </a:t>
            </a:r>
            <a:r>
              <a:rPr lang="en-GB" dirty="0">
                <a:solidFill>
                  <a:srgbClr val="956320"/>
                </a:solidFill>
              </a:rPr>
              <a:t>n</a:t>
            </a:r>
            <a:r>
              <a:rPr lang="en-GB" dirty="0"/>
              <a:t> names in a list, what is the </a:t>
            </a:r>
            <a:r>
              <a:rPr lang="en-GB" dirty="0">
                <a:solidFill>
                  <a:srgbClr val="956320"/>
                </a:solidFill>
              </a:rPr>
              <a:t>average</a:t>
            </a:r>
            <a:r>
              <a:rPr lang="en-GB" dirty="0"/>
              <a:t> number of names that will have to be examined?</a:t>
            </a:r>
          </a:p>
          <a:p>
            <a:r>
              <a:rPr lang="en-GB" dirty="0"/>
              <a:t>What is the “</a:t>
            </a:r>
            <a:r>
              <a:rPr lang="en-GB" dirty="0">
                <a:solidFill>
                  <a:srgbClr val="956320"/>
                </a:solidFill>
              </a:rPr>
              <a:t>worst case </a:t>
            </a:r>
            <a:r>
              <a:rPr lang="en-GB" dirty="0"/>
              <a:t>scenario”?</a:t>
            </a:r>
          </a:p>
          <a:p>
            <a:endParaRPr lang="en-GB" dirty="0"/>
          </a:p>
        </p:txBody>
      </p:sp>
    </p:spTree>
    <p:extLst>
      <p:ext uri="{BB962C8B-B14F-4D97-AF65-F5344CB8AC3E}">
        <p14:creationId xmlns:p14="http://schemas.microsoft.com/office/powerpoint/2010/main" val="693744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Algorithm for linear search</a:t>
            </a:r>
          </a:p>
        </p:txBody>
      </p:sp>
      <p:sp>
        <p:nvSpPr>
          <p:cNvPr id="3" name="Text Placeholder 2"/>
          <p:cNvSpPr>
            <a:spLocks noGrp="1"/>
          </p:cNvSpPr>
          <p:nvPr>
            <p:ph type="body" sz="quarter" idx="14"/>
          </p:nvPr>
        </p:nvSpPr>
        <p:spPr/>
        <p:txBody>
          <a:bodyPr/>
          <a:lstStyle/>
          <a:p>
            <a:pPr>
              <a:spcAft>
                <a:spcPts val="1200"/>
              </a:spcAft>
            </a:pPr>
            <a:r>
              <a:rPr lang="en-GB" dirty="0">
                <a:latin typeface="Arial" panose="020B0604020202020204" pitchFamily="34" charset="0"/>
                <a:cs typeface="Arial" panose="020B0604020202020204" pitchFamily="34" charset="0"/>
              </a:rPr>
              <a:t>Complete this algorithm:</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SUB </a:t>
            </a:r>
            <a:r>
              <a:rPr lang="en-GB" sz="2000" dirty="0" err="1">
                <a:solidFill>
                  <a:srgbClr val="956320"/>
                </a:solidFill>
                <a:latin typeface="Consolas" panose="020B0609020204030204" pitchFamily="49" charset="0"/>
              </a:rPr>
              <a:t>linearSearch</a:t>
            </a:r>
            <a:r>
              <a:rPr lang="en-GB" sz="2000" dirty="0">
                <a:solidFill>
                  <a:srgbClr val="956320"/>
                </a:solidFill>
                <a:latin typeface="Consolas" panose="020B0609020204030204" pitchFamily="49" charset="0"/>
              </a:rPr>
              <a:t>(</a:t>
            </a:r>
            <a:r>
              <a:rPr lang="en-GB" sz="2000" dirty="0" err="1">
                <a:solidFill>
                  <a:srgbClr val="956320"/>
                </a:solidFill>
                <a:latin typeface="Consolas" panose="020B0609020204030204" pitchFamily="49" charset="0"/>
              </a:rPr>
              <a:t>namelist,nameSought</a:t>
            </a:r>
            <a:r>
              <a:rPr lang="en-GB" sz="2000" dirty="0">
                <a:solidFill>
                  <a:srgbClr val="956320"/>
                </a:solidFill>
                <a:latin typeface="Consolas" panose="020B0609020204030204" pitchFamily="49" charset="0"/>
              </a:rPr>
              <a:t>)</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index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-1</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0</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found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False</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WHILE i &lt; length(</a:t>
            </a:r>
            <a:r>
              <a:rPr lang="en-GB" sz="2000" dirty="0" err="1">
                <a:solidFill>
                  <a:srgbClr val="956320"/>
                </a:solidFill>
                <a:latin typeface="Consolas" panose="020B0609020204030204" pitchFamily="49" charset="0"/>
              </a:rPr>
              <a:t>namelist</a:t>
            </a:r>
            <a:r>
              <a:rPr lang="en-GB" sz="2000" dirty="0">
                <a:solidFill>
                  <a:srgbClr val="956320"/>
                </a:solidFill>
                <a:latin typeface="Consolas" panose="020B0609020204030204" pitchFamily="49" charset="0"/>
              </a:rPr>
              <a:t>) AND NOT found</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IF </a:t>
            </a:r>
            <a:r>
              <a:rPr lang="en-GB" sz="2000" dirty="0" err="1">
                <a:solidFill>
                  <a:srgbClr val="956320"/>
                </a:solidFill>
                <a:latin typeface="Consolas" panose="020B0609020204030204" pitchFamily="49" charset="0"/>
              </a:rPr>
              <a:t>namelist</a:t>
            </a:r>
            <a:r>
              <a:rPr lang="en-GB" sz="2000" dirty="0">
                <a:solidFill>
                  <a:srgbClr val="956320"/>
                </a:solidFill>
                <a:latin typeface="Consolas" panose="020B0609020204030204" pitchFamily="49" charset="0"/>
              </a:rPr>
              <a:t>[i] = </a:t>
            </a:r>
            <a:r>
              <a:rPr lang="en-GB" sz="2000" dirty="0" err="1">
                <a:solidFill>
                  <a:srgbClr val="956320"/>
                </a:solidFill>
                <a:latin typeface="Consolas" panose="020B0609020204030204" pitchFamily="49" charset="0"/>
              </a:rPr>
              <a:t>nameSought</a:t>
            </a:r>
            <a:r>
              <a:rPr lang="en-GB" sz="2000" dirty="0">
                <a:solidFill>
                  <a:srgbClr val="956320"/>
                </a:solidFill>
                <a:latin typeface="Consolas" panose="020B0609020204030204" pitchFamily="49" charset="0"/>
              </a:rPr>
              <a:t> THEN</a:t>
            </a:r>
          </a:p>
          <a:p>
            <a:pPr marL="725488" indent="0">
              <a:spcAft>
                <a:spcPts val="0"/>
              </a:spcAft>
              <a:buNone/>
              <a:tabLst>
                <a:tab pos="725488" algn="l"/>
                <a:tab pos="1071563" algn="l"/>
                <a:tab pos="1435100" algn="l"/>
                <a:tab pos="1797050" algn="l"/>
                <a:tab pos="2160588" algn="l"/>
              </a:tabLst>
            </a:pPr>
            <a:r>
              <a:rPr lang="en-GB" sz="2000" dirty="0">
                <a:latin typeface="Consolas" panose="020B0609020204030204" pitchFamily="49" charset="0"/>
              </a:rPr>
              <a:t>			</a:t>
            </a:r>
            <a:r>
              <a:rPr lang="en-GB" sz="2000" b="1" dirty="0">
                <a:solidFill>
                  <a:srgbClr val="FF0000"/>
                </a:solidFill>
                <a:latin typeface="Consolas" panose="020B0609020204030204" pitchFamily="49" charset="0"/>
              </a:rPr>
              <a:t>??????</a:t>
            </a:r>
          </a:p>
          <a:p>
            <a:pPr marL="725488" indent="0">
              <a:spcAft>
                <a:spcPts val="0"/>
              </a:spcAft>
              <a:buNone/>
              <a:tabLst>
                <a:tab pos="725488" algn="l"/>
                <a:tab pos="1071563" algn="l"/>
                <a:tab pos="1435100" algn="l"/>
                <a:tab pos="1797050" algn="l"/>
                <a:tab pos="2160588" algn="l"/>
              </a:tabLst>
            </a:pPr>
            <a:r>
              <a:rPr lang="en-GB" sz="2000" b="1" dirty="0">
                <a:latin typeface="Consolas" panose="020B0609020204030204" pitchFamily="49" charset="0"/>
              </a:rPr>
              <a:t>			</a:t>
            </a:r>
            <a:r>
              <a:rPr lang="en-GB" sz="2000" b="1" dirty="0">
                <a:solidFill>
                  <a:srgbClr val="FF0000"/>
                </a:solidFill>
                <a:latin typeface="Consolas" panose="020B0609020204030204" pitchFamily="49" charset="0"/>
              </a:rPr>
              <a:t>??????</a:t>
            </a:r>
          </a:p>
          <a:p>
            <a:pPr marL="725488" indent="0">
              <a:spcAft>
                <a:spcPts val="0"/>
              </a:spcAft>
              <a:buNone/>
              <a:tabLst>
                <a:tab pos="725488" algn="l"/>
                <a:tab pos="1071563" algn="l"/>
                <a:tab pos="1435100" algn="l"/>
                <a:tab pos="1797050" algn="l"/>
                <a:tab pos="2160588" algn="l"/>
              </a:tabLst>
            </a:pPr>
            <a:r>
              <a:rPr lang="en-GB" sz="2000" dirty="0">
                <a:latin typeface="Consolas" panose="020B0609020204030204" pitchFamily="49" charset="0"/>
              </a:rPr>
              <a:t>		</a:t>
            </a:r>
            <a:r>
              <a:rPr lang="en-GB" sz="2000" dirty="0">
                <a:solidFill>
                  <a:srgbClr val="956320"/>
                </a:solidFill>
                <a:latin typeface="Consolas" panose="020B0609020204030204" pitchFamily="49" charset="0"/>
              </a:rPr>
              <a:t>ENDIF</a:t>
            </a:r>
          </a:p>
          <a:p>
            <a:pPr marL="725488" indent="0">
              <a:spcAft>
                <a:spcPts val="0"/>
              </a:spcAft>
              <a:buNone/>
              <a:tabLst>
                <a:tab pos="725488" algn="l"/>
                <a:tab pos="1071563" algn="l"/>
                <a:tab pos="1435100" algn="l"/>
                <a:tab pos="1797050" algn="l"/>
                <a:tab pos="2160588" algn="l"/>
              </a:tabLst>
            </a:pPr>
            <a:r>
              <a:rPr lang="en-GB" sz="2000" dirty="0">
                <a:latin typeface="Consolas" panose="020B0609020204030204" pitchFamily="49" charset="0"/>
              </a:rPr>
              <a:t>		</a:t>
            </a:r>
            <a:r>
              <a:rPr lang="en-GB" sz="2000" b="1" dirty="0">
                <a:solidFill>
                  <a:srgbClr val="FF0000"/>
                </a:solidFill>
                <a:latin typeface="Consolas" panose="020B0609020204030204" pitchFamily="49" charset="0"/>
              </a:rPr>
              <a:t>??????</a:t>
            </a:r>
          </a:p>
          <a:p>
            <a:pPr marL="725488" indent="0">
              <a:spcAft>
                <a:spcPts val="0"/>
              </a:spcAft>
              <a:buNone/>
              <a:tabLst>
                <a:tab pos="725488" algn="l"/>
                <a:tab pos="1071563" algn="l"/>
                <a:tab pos="1435100" algn="l"/>
                <a:tab pos="1797050" algn="l"/>
                <a:tab pos="2160588" algn="l"/>
              </a:tabLst>
            </a:pPr>
            <a:r>
              <a:rPr lang="en-GB" sz="2000" dirty="0">
                <a:latin typeface="Consolas" panose="020B0609020204030204" pitchFamily="49" charset="0"/>
              </a:rPr>
              <a:t>	</a:t>
            </a:r>
            <a:r>
              <a:rPr lang="en-GB" sz="2000" dirty="0">
                <a:solidFill>
                  <a:srgbClr val="956320"/>
                </a:solidFill>
                <a:latin typeface="Consolas" panose="020B0609020204030204" pitchFamily="49" charset="0"/>
              </a:rPr>
              <a:t>ENDWHILE		</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RETURN index		</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ENDSUB</a:t>
            </a:r>
          </a:p>
        </p:txBody>
      </p:sp>
    </p:spTree>
    <p:extLst>
      <p:ext uri="{BB962C8B-B14F-4D97-AF65-F5344CB8AC3E}">
        <p14:creationId xmlns:p14="http://schemas.microsoft.com/office/powerpoint/2010/main" val="3829945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Analysing the algorithm</a:t>
            </a:r>
          </a:p>
        </p:txBody>
      </p:sp>
      <p:sp>
        <p:nvSpPr>
          <p:cNvPr id="3" name="Text Placeholder 2"/>
          <p:cNvSpPr>
            <a:spLocks noGrp="1"/>
          </p:cNvSpPr>
          <p:nvPr>
            <p:ph type="body" sz="quarter" idx="14"/>
          </p:nvPr>
        </p:nvSpPr>
        <p:spPr/>
        <p:txBody>
          <a:bodyPr/>
          <a:lstStyle/>
          <a:p>
            <a:r>
              <a:rPr lang="en-GB" dirty="0"/>
              <a:t>How many steps are there in the algorithm? What is its time complexity?</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SUB </a:t>
            </a:r>
            <a:r>
              <a:rPr lang="en-GB" sz="2000" dirty="0" err="1">
                <a:solidFill>
                  <a:srgbClr val="956320"/>
                </a:solidFill>
                <a:latin typeface="Consolas" panose="020B0609020204030204" pitchFamily="49" charset="0"/>
              </a:rPr>
              <a:t>linearSearch</a:t>
            </a:r>
            <a:r>
              <a:rPr lang="en-GB" sz="2000" dirty="0">
                <a:solidFill>
                  <a:srgbClr val="956320"/>
                </a:solidFill>
                <a:latin typeface="Consolas" panose="020B0609020204030204" pitchFamily="49" charset="0"/>
              </a:rPr>
              <a:t>(</a:t>
            </a:r>
            <a:r>
              <a:rPr lang="en-GB" sz="2000" dirty="0" err="1">
                <a:solidFill>
                  <a:srgbClr val="956320"/>
                </a:solidFill>
                <a:latin typeface="Consolas" panose="020B0609020204030204" pitchFamily="49" charset="0"/>
              </a:rPr>
              <a:t>namelist,nameSought</a:t>
            </a:r>
            <a:r>
              <a:rPr lang="en-GB" sz="2000" dirty="0">
                <a:solidFill>
                  <a:srgbClr val="956320"/>
                </a:solidFill>
                <a:latin typeface="Consolas" panose="020B0609020204030204" pitchFamily="49" charset="0"/>
              </a:rPr>
              <a:t>)</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index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-1</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0</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found </a:t>
            </a:r>
            <a:r>
              <a:rPr lang="en-GB" sz="2000" dirty="0">
                <a:solidFill>
                  <a:srgbClr val="956320"/>
                </a:solidFill>
                <a:latin typeface="Consolas" panose="020B0609020204030204" pitchFamily="49" charset="0"/>
                <a:sym typeface="Wingdings" panose="05000000000000000000" pitchFamily="2" charset="2"/>
              </a:rPr>
              <a:t></a:t>
            </a:r>
            <a:r>
              <a:rPr lang="en-GB" sz="2000" dirty="0">
                <a:solidFill>
                  <a:srgbClr val="956320"/>
                </a:solidFill>
                <a:latin typeface="Consolas" panose="020B0609020204030204" pitchFamily="49" charset="0"/>
              </a:rPr>
              <a:t> False</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WHILE i &lt; length(</a:t>
            </a:r>
            <a:r>
              <a:rPr lang="en-GB" sz="2000" dirty="0" err="1">
                <a:solidFill>
                  <a:srgbClr val="956320"/>
                </a:solidFill>
                <a:latin typeface="Consolas" panose="020B0609020204030204" pitchFamily="49" charset="0"/>
              </a:rPr>
              <a:t>namelist</a:t>
            </a:r>
            <a:r>
              <a:rPr lang="en-GB" sz="2000" dirty="0">
                <a:solidFill>
                  <a:srgbClr val="956320"/>
                </a:solidFill>
                <a:latin typeface="Consolas" panose="020B0609020204030204" pitchFamily="49" charset="0"/>
              </a:rPr>
              <a:t>) AND NOT found</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IF </a:t>
            </a:r>
            <a:r>
              <a:rPr lang="en-GB" sz="2000" dirty="0" err="1">
                <a:solidFill>
                  <a:srgbClr val="956320"/>
                </a:solidFill>
                <a:latin typeface="Consolas" panose="020B0609020204030204" pitchFamily="49" charset="0"/>
              </a:rPr>
              <a:t>namelist</a:t>
            </a:r>
            <a:r>
              <a:rPr lang="en-GB" sz="2000" dirty="0">
                <a:solidFill>
                  <a:srgbClr val="956320"/>
                </a:solidFill>
                <a:latin typeface="Consolas" panose="020B0609020204030204" pitchFamily="49" charset="0"/>
              </a:rPr>
              <a:t>[i] = </a:t>
            </a:r>
            <a:r>
              <a:rPr lang="en-GB" sz="2000" dirty="0" err="1">
                <a:solidFill>
                  <a:srgbClr val="956320"/>
                </a:solidFill>
                <a:latin typeface="Consolas" panose="020B0609020204030204" pitchFamily="49" charset="0"/>
              </a:rPr>
              <a:t>nameSought</a:t>
            </a:r>
            <a:r>
              <a:rPr lang="en-GB" sz="2000" dirty="0">
                <a:solidFill>
                  <a:srgbClr val="956320"/>
                </a:solidFill>
                <a:latin typeface="Consolas" panose="020B0609020204030204" pitchFamily="49" charset="0"/>
              </a:rPr>
              <a:t> THEN</a:t>
            </a:r>
          </a:p>
          <a:p>
            <a:pPr marL="0"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a:t>
            </a:r>
            <a:r>
              <a:rPr lang="en-GB" sz="2000" dirty="0">
                <a:solidFill>
                  <a:srgbClr val="FF0000"/>
                </a:solidFill>
                <a:latin typeface="Consolas" panose="020B0609020204030204" pitchFamily="49" charset="0"/>
              </a:rPr>
              <a:t>index </a:t>
            </a:r>
            <a:r>
              <a:rPr lang="en-GB" sz="2000" dirty="0">
                <a:solidFill>
                  <a:srgbClr val="FF0000"/>
                </a:solidFill>
                <a:latin typeface="Consolas" panose="020B0609020204030204" pitchFamily="49" charset="0"/>
                <a:sym typeface="Wingdings" panose="05000000000000000000" pitchFamily="2" charset="2"/>
              </a:rPr>
              <a:t></a:t>
            </a:r>
            <a:r>
              <a:rPr lang="en-GB" sz="2000" dirty="0">
                <a:solidFill>
                  <a:srgbClr val="FF0000"/>
                </a:solidFill>
                <a:latin typeface="Consolas" panose="020B0609020204030204" pitchFamily="49" charset="0"/>
              </a:rPr>
              <a:t> i</a:t>
            </a:r>
          </a:p>
          <a:p>
            <a:pPr marL="0" indent="0">
              <a:spcAft>
                <a:spcPts val="0"/>
              </a:spcAft>
              <a:buNone/>
              <a:tabLst>
                <a:tab pos="725488" algn="l"/>
                <a:tab pos="1071563" algn="l"/>
                <a:tab pos="1435100" algn="l"/>
                <a:tab pos="1797050" algn="l"/>
                <a:tab pos="2160588" algn="l"/>
              </a:tabLst>
            </a:pPr>
            <a:r>
              <a:rPr lang="en-GB" sz="2000" dirty="0">
                <a:solidFill>
                  <a:srgbClr val="FF0000"/>
                </a:solidFill>
                <a:latin typeface="Consolas" panose="020B0609020204030204" pitchFamily="49" charset="0"/>
              </a:rPr>
              <a:t>				found </a:t>
            </a:r>
            <a:r>
              <a:rPr lang="en-GB" sz="2000" dirty="0">
                <a:solidFill>
                  <a:srgbClr val="FF0000"/>
                </a:solidFill>
                <a:latin typeface="Consolas" panose="020B0609020204030204" pitchFamily="49" charset="0"/>
                <a:sym typeface="Wingdings" panose="05000000000000000000" pitchFamily="2" charset="2"/>
              </a:rPr>
              <a:t></a:t>
            </a:r>
            <a:r>
              <a:rPr lang="en-GB" sz="2000" dirty="0">
                <a:solidFill>
                  <a:srgbClr val="FF0000"/>
                </a:solidFill>
                <a:latin typeface="Consolas" panose="020B0609020204030204" pitchFamily="49" charset="0"/>
              </a:rPr>
              <a:t> True</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ENDIF</a:t>
            </a:r>
          </a:p>
          <a:p>
            <a:pPr marL="0"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a:t>
            </a:r>
            <a:r>
              <a:rPr lang="en-GB" sz="2000" dirty="0">
                <a:solidFill>
                  <a:srgbClr val="FF0000"/>
                </a:solidFill>
                <a:latin typeface="Consolas" panose="020B0609020204030204" pitchFamily="49" charset="0"/>
              </a:rPr>
              <a:t>i </a:t>
            </a:r>
            <a:r>
              <a:rPr lang="en-GB" sz="2000" dirty="0">
                <a:solidFill>
                  <a:srgbClr val="FF0000"/>
                </a:solidFill>
                <a:latin typeface="Consolas" panose="020B0609020204030204" pitchFamily="49" charset="0"/>
                <a:sym typeface="Wingdings" panose="05000000000000000000" pitchFamily="2" charset="2"/>
              </a:rPr>
              <a:t></a:t>
            </a:r>
            <a:r>
              <a:rPr lang="en-GB" sz="2000" dirty="0">
                <a:solidFill>
                  <a:srgbClr val="FF0000"/>
                </a:solidFill>
                <a:latin typeface="Consolas" panose="020B0609020204030204" pitchFamily="49" charset="0"/>
              </a:rPr>
              <a:t> i + 1</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ENDWHILE		</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	RETURN index		</a:t>
            </a:r>
          </a:p>
          <a:p>
            <a:pPr marL="725488" indent="0">
              <a:spcAft>
                <a:spcPts val="0"/>
              </a:spcAft>
              <a:buNone/>
              <a:tabLst>
                <a:tab pos="725488" algn="l"/>
                <a:tab pos="1071563" algn="l"/>
                <a:tab pos="1435100" algn="l"/>
                <a:tab pos="1797050" algn="l"/>
                <a:tab pos="2160588" algn="l"/>
              </a:tabLst>
            </a:pPr>
            <a:r>
              <a:rPr lang="en-GB" sz="2000" dirty="0">
                <a:solidFill>
                  <a:srgbClr val="956320"/>
                </a:solidFill>
                <a:latin typeface="Consolas" panose="020B0609020204030204" pitchFamily="49" charset="0"/>
              </a:rPr>
              <a:t>ENDSUB</a:t>
            </a:r>
          </a:p>
          <a:p>
            <a:pPr marL="0" indent="0">
              <a:buNone/>
            </a:pPr>
            <a:endParaRPr lang="en-GB" dirty="0"/>
          </a:p>
        </p:txBody>
      </p:sp>
    </p:spTree>
    <p:extLst>
      <p:ext uri="{BB962C8B-B14F-4D97-AF65-F5344CB8AC3E}">
        <p14:creationId xmlns:p14="http://schemas.microsoft.com/office/powerpoint/2010/main" val="32821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Big-O for linear search</a:t>
            </a:r>
          </a:p>
        </p:txBody>
      </p:sp>
      <p:sp>
        <p:nvSpPr>
          <p:cNvPr id="3" name="Text Placeholder 2"/>
          <p:cNvSpPr>
            <a:spLocks noGrp="1"/>
          </p:cNvSpPr>
          <p:nvPr>
            <p:ph type="body" sz="quarter" idx="14"/>
          </p:nvPr>
        </p:nvSpPr>
        <p:spPr/>
        <p:txBody>
          <a:bodyPr/>
          <a:lstStyle/>
          <a:p>
            <a:r>
              <a:rPr lang="en-GB" dirty="0"/>
              <a:t>There are 2 statements in the loop (an IF statement and an assignment statement) and 3 at the start</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SUB </a:t>
            </a:r>
            <a:r>
              <a:rPr lang="en-GB" sz="1400" dirty="0" err="1">
                <a:solidFill>
                  <a:srgbClr val="956320"/>
                </a:solidFill>
                <a:latin typeface="Consolas" panose="020B0609020204030204" pitchFamily="49" charset="0"/>
              </a:rPr>
              <a:t>linearSearch</a:t>
            </a:r>
            <a:r>
              <a:rPr lang="en-GB" sz="1400" dirty="0">
                <a:solidFill>
                  <a:srgbClr val="956320"/>
                </a:solidFill>
                <a:latin typeface="Consolas" panose="020B0609020204030204" pitchFamily="49" charset="0"/>
              </a:rPr>
              <a:t>(</a:t>
            </a:r>
            <a:r>
              <a:rPr lang="en-GB" sz="1400" dirty="0" err="1">
                <a:solidFill>
                  <a:srgbClr val="956320"/>
                </a:solidFill>
                <a:latin typeface="Consolas" panose="020B0609020204030204" pitchFamily="49" charset="0"/>
              </a:rPr>
              <a:t>namelist,nameSought</a:t>
            </a:r>
            <a:r>
              <a:rPr lang="en-GB" sz="1400" dirty="0">
                <a:solidFill>
                  <a:srgbClr val="956320"/>
                </a:solidFill>
                <a:latin typeface="Consolas" panose="020B0609020204030204" pitchFamily="49" charset="0"/>
              </a:rPr>
              <a:t>)</a:t>
            </a:r>
          </a:p>
          <a:p>
            <a:pPr marL="1177925" lvl="1" indent="0">
              <a:spcAft>
                <a:spcPts val="0"/>
              </a:spcAft>
              <a:buNone/>
              <a:tabLst>
                <a:tab pos="725488" algn="l"/>
                <a:tab pos="1071563" algn="l"/>
                <a:tab pos="1435100" algn="l"/>
                <a:tab pos="1797050" algn="l"/>
                <a:tab pos="2160588" algn="l"/>
              </a:tabLst>
            </a:pPr>
            <a:r>
              <a:rPr lang="en-GB" sz="1400" dirty="0">
                <a:solidFill>
                  <a:srgbClr val="FF0000"/>
                </a:solidFill>
                <a:latin typeface="Consolas" panose="020B0609020204030204" pitchFamily="49" charset="0"/>
              </a:rPr>
              <a:t>	index </a:t>
            </a:r>
            <a:r>
              <a:rPr lang="en-GB" sz="1400" dirty="0">
                <a:solidFill>
                  <a:srgbClr val="FF0000"/>
                </a:solidFill>
                <a:latin typeface="Consolas" panose="020B0609020204030204" pitchFamily="49" charset="0"/>
                <a:sym typeface="Wingdings" panose="05000000000000000000" pitchFamily="2" charset="2"/>
              </a:rPr>
              <a:t></a:t>
            </a:r>
            <a:r>
              <a:rPr lang="en-GB" sz="1400" dirty="0">
                <a:solidFill>
                  <a:srgbClr val="FF0000"/>
                </a:solidFill>
                <a:latin typeface="Consolas" panose="020B0609020204030204" pitchFamily="49" charset="0"/>
              </a:rPr>
              <a:t> -1</a:t>
            </a:r>
          </a:p>
          <a:p>
            <a:pPr marL="1177925" lvl="1" indent="0">
              <a:spcAft>
                <a:spcPts val="0"/>
              </a:spcAft>
              <a:buNone/>
              <a:tabLst>
                <a:tab pos="725488" algn="l"/>
                <a:tab pos="1071563" algn="l"/>
                <a:tab pos="1435100" algn="l"/>
                <a:tab pos="1797050" algn="l"/>
                <a:tab pos="2160588" algn="l"/>
              </a:tabLst>
            </a:pPr>
            <a:r>
              <a:rPr lang="en-GB" sz="1400" dirty="0">
                <a:solidFill>
                  <a:srgbClr val="FF0000"/>
                </a:solidFill>
                <a:latin typeface="Consolas" panose="020B0609020204030204" pitchFamily="49" charset="0"/>
              </a:rPr>
              <a:t>	i </a:t>
            </a:r>
            <a:r>
              <a:rPr lang="en-GB" sz="1400" dirty="0">
                <a:solidFill>
                  <a:srgbClr val="FF0000"/>
                </a:solidFill>
                <a:latin typeface="Consolas" panose="020B0609020204030204" pitchFamily="49" charset="0"/>
                <a:sym typeface="Wingdings" panose="05000000000000000000" pitchFamily="2" charset="2"/>
              </a:rPr>
              <a:t></a:t>
            </a:r>
            <a:r>
              <a:rPr lang="en-GB" sz="1400" dirty="0">
                <a:solidFill>
                  <a:srgbClr val="FF0000"/>
                </a:solidFill>
                <a:latin typeface="Consolas" panose="020B0609020204030204" pitchFamily="49" charset="0"/>
              </a:rPr>
              <a:t> 0</a:t>
            </a:r>
          </a:p>
          <a:p>
            <a:pPr marL="1177925" lvl="1" indent="0">
              <a:spcAft>
                <a:spcPts val="0"/>
              </a:spcAft>
              <a:buNone/>
              <a:tabLst>
                <a:tab pos="725488" algn="l"/>
                <a:tab pos="1071563" algn="l"/>
                <a:tab pos="1435100" algn="l"/>
                <a:tab pos="1797050" algn="l"/>
                <a:tab pos="2160588" algn="l"/>
              </a:tabLst>
            </a:pPr>
            <a:r>
              <a:rPr lang="en-GB" sz="1400" dirty="0">
                <a:solidFill>
                  <a:srgbClr val="FF0000"/>
                </a:solidFill>
                <a:latin typeface="Consolas" panose="020B0609020204030204" pitchFamily="49" charset="0"/>
              </a:rPr>
              <a:t>	found </a:t>
            </a:r>
            <a:r>
              <a:rPr lang="en-GB" sz="1400" dirty="0">
                <a:solidFill>
                  <a:srgbClr val="FF0000"/>
                </a:solidFill>
                <a:latin typeface="Consolas" panose="020B0609020204030204" pitchFamily="49" charset="0"/>
                <a:sym typeface="Wingdings" panose="05000000000000000000" pitchFamily="2" charset="2"/>
              </a:rPr>
              <a:t></a:t>
            </a:r>
            <a:r>
              <a:rPr lang="en-GB" sz="1400" dirty="0">
                <a:solidFill>
                  <a:srgbClr val="FF0000"/>
                </a:solidFill>
                <a:latin typeface="Consolas" panose="020B0609020204030204" pitchFamily="49" charset="0"/>
              </a:rPr>
              <a:t> False</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WHILE i &lt; </a:t>
            </a:r>
            <a:r>
              <a:rPr lang="en-GB" sz="1400" dirty="0">
                <a:solidFill>
                  <a:schemeClr val="accent5">
                    <a:lumMod val="75000"/>
                  </a:schemeClr>
                </a:solidFill>
                <a:latin typeface="Consolas" panose="020B0609020204030204" pitchFamily="49" charset="0"/>
              </a:rPr>
              <a:t>length(</a:t>
            </a:r>
            <a:r>
              <a:rPr lang="en-GB" sz="1400" dirty="0" err="1">
                <a:solidFill>
                  <a:schemeClr val="accent5">
                    <a:lumMod val="75000"/>
                  </a:schemeClr>
                </a:solidFill>
                <a:latin typeface="Consolas" panose="020B0609020204030204" pitchFamily="49" charset="0"/>
              </a:rPr>
              <a:t>namelist</a:t>
            </a:r>
            <a:r>
              <a:rPr lang="en-GB" sz="1400" dirty="0">
                <a:solidFill>
                  <a:schemeClr val="accent5">
                    <a:lumMod val="75000"/>
                  </a:schemeClr>
                </a:solidFill>
                <a:latin typeface="Consolas" panose="020B0609020204030204" pitchFamily="49" charset="0"/>
              </a:rPr>
              <a:t>)</a:t>
            </a:r>
            <a:r>
              <a:rPr lang="en-GB" sz="1400" dirty="0">
                <a:solidFill>
                  <a:srgbClr val="956320"/>
                </a:solidFill>
                <a:latin typeface="Consolas" panose="020B0609020204030204" pitchFamily="49" charset="0"/>
              </a:rPr>
              <a:t> AND NOT found</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IF </a:t>
            </a:r>
            <a:r>
              <a:rPr lang="en-GB" sz="1400" dirty="0" err="1">
                <a:solidFill>
                  <a:srgbClr val="956320"/>
                </a:solidFill>
                <a:latin typeface="Consolas" panose="020B0609020204030204" pitchFamily="49" charset="0"/>
              </a:rPr>
              <a:t>namelist</a:t>
            </a:r>
            <a:r>
              <a:rPr lang="en-GB" sz="1400" dirty="0">
                <a:solidFill>
                  <a:srgbClr val="956320"/>
                </a:solidFill>
                <a:latin typeface="Consolas" panose="020B0609020204030204" pitchFamily="49" charset="0"/>
              </a:rPr>
              <a:t>[i] = </a:t>
            </a:r>
            <a:r>
              <a:rPr lang="en-GB" sz="1400" dirty="0" err="1">
                <a:solidFill>
                  <a:srgbClr val="956320"/>
                </a:solidFill>
                <a:latin typeface="Consolas" panose="020B0609020204030204" pitchFamily="49" charset="0"/>
              </a:rPr>
              <a:t>nameSought</a:t>
            </a:r>
            <a:r>
              <a:rPr lang="en-GB" sz="1400" dirty="0">
                <a:solidFill>
                  <a:srgbClr val="956320"/>
                </a:solidFill>
                <a:latin typeface="Consolas" panose="020B0609020204030204" pitchFamily="49" charset="0"/>
              </a:rPr>
              <a:t> THEN</a:t>
            </a:r>
          </a:p>
          <a:p>
            <a:pPr marL="452437"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a:t>
            </a:r>
            <a:r>
              <a:rPr lang="en-GB" sz="1400" dirty="0">
                <a:solidFill>
                  <a:srgbClr val="7030A0"/>
                </a:solidFill>
                <a:latin typeface="Consolas" panose="020B0609020204030204" pitchFamily="49" charset="0"/>
              </a:rPr>
              <a:t>index </a:t>
            </a:r>
            <a:r>
              <a:rPr lang="en-GB" sz="1400" dirty="0">
                <a:solidFill>
                  <a:srgbClr val="7030A0"/>
                </a:solidFill>
                <a:latin typeface="Consolas" panose="020B0609020204030204" pitchFamily="49" charset="0"/>
                <a:sym typeface="Wingdings" panose="05000000000000000000" pitchFamily="2" charset="2"/>
              </a:rPr>
              <a:t></a:t>
            </a:r>
            <a:r>
              <a:rPr lang="en-GB" sz="1400" dirty="0">
                <a:solidFill>
                  <a:srgbClr val="7030A0"/>
                </a:solidFill>
                <a:latin typeface="Consolas" panose="020B0609020204030204" pitchFamily="49" charset="0"/>
              </a:rPr>
              <a:t> i</a:t>
            </a:r>
          </a:p>
          <a:p>
            <a:pPr marL="452437" lvl="1" indent="0">
              <a:spcAft>
                <a:spcPts val="0"/>
              </a:spcAft>
              <a:buNone/>
              <a:tabLst>
                <a:tab pos="725488" algn="l"/>
                <a:tab pos="1071563" algn="l"/>
                <a:tab pos="1435100" algn="l"/>
                <a:tab pos="1797050" algn="l"/>
                <a:tab pos="2160588" algn="l"/>
              </a:tabLst>
            </a:pPr>
            <a:r>
              <a:rPr lang="en-GB" sz="1400" dirty="0">
                <a:solidFill>
                  <a:srgbClr val="7030A0"/>
                </a:solidFill>
                <a:latin typeface="Consolas" panose="020B0609020204030204" pitchFamily="49" charset="0"/>
              </a:rPr>
              <a:t>					found </a:t>
            </a:r>
            <a:r>
              <a:rPr lang="en-GB" sz="1400" dirty="0">
                <a:solidFill>
                  <a:srgbClr val="7030A0"/>
                </a:solidFill>
                <a:latin typeface="Consolas" panose="020B0609020204030204" pitchFamily="49" charset="0"/>
                <a:sym typeface="Wingdings" panose="05000000000000000000" pitchFamily="2" charset="2"/>
              </a:rPr>
              <a:t></a:t>
            </a:r>
            <a:r>
              <a:rPr lang="en-GB" sz="1400" dirty="0">
                <a:solidFill>
                  <a:srgbClr val="7030A0"/>
                </a:solidFill>
                <a:latin typeface="Consolas" panose="020B0609020204030204" pitchFamily="49" charset="0"/>
              </a:rPr>
              <a:t> True</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ENDIF</a:t>
            </a:r>
          </a:p>
          <a:p>
            <a:pPr marL="452437"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i </a:t>
            </a:r>
            <a:r>
              <a:rPr lang="en-GB" sz="1400" dirty="0">
                <a:solidFill>
                  <a:srgbClr val="956320"/>
                </a:solidFill>
                <a:latin typeface="Consolas" panose="020B0609020204030204" pitchFamily="49" charset="0"/>
                <a:sym typeface="Wingdings" panose="05000000000000000000" pitchFamily="2" charset="2"/>
              </a:rPr>
              <a:t></a:t>
            </a:r>
            <a:r>
              <a:rPr lang="en-GB" sz="1400" dirty="0">
                <a:solidFill>
                  <a:srgbClr val="956320"/>
                </a:solidFill>
                <a:latin typeface="Consolas" panose="020B0609020204030204" pitchFamily="49" charset="0"/>
              </a:rPr>
              <a:t> i + 1</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ENDWHILE		</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	RETURN index		</a:t>
            </a:r>
          </a:p>
          <a:p>
            <a:pPr marL="1177925" lvl="1" indent="0">
              <a:spcAft>
                <a:spcPts val="0"/>
              </a:spcAft>
              <a:buNone/>
              <a:tabLst>
                <a:tab pos="725488" algn="l"/>
                <a:tab pos="1071563" algn="l"/>
                <a:tab pos="1435100" algn="l"/>
                <a:tab pos="1797050" algn="l"/>
                <a:tab pos="2160588" algn="l"/>
              </a:tabLst>
            </a:pPr>
            <a:r>
              <a:rPr lang="en-GB" sz="1400" dirty="0">
                <a:solidFill>
                  <a:srgbClr val="956320"/>
                </a:solidFill>
                <a:latin typeface="Consolas" panose="020B0609020204030204" pitchFamily="49" charset="0"/>
              </a:rPr>
              <a:t>ENDSUB</a:t>
            </a:r>
          </a:p>
          <a:p>
            <a:pPr marL="268288" indent="-268288">
              <a:spcAft>
                <a:spcPts val="0"/>
              </a:spcAft>
              <a:tabLst>
                <a:tab pos="268288" algn="l"/>
                <a:tab pos="725488" algn="l"/>
                <a:tab pos="1435100" algn="l"/>
                <a:tab pos="1797050" algn="l"/>
                <a:tab pos="2160588" algn="l"/>
              </a:tabLst>
            </a:pPr>
            <a:r>
              <a:rPr lang="en-GB" dirty="0"/>
              <a:t>Total number of steps = </a:t>
            </a:r>
            <a:r>
              <a:rPr lang="en-GB" dirty="0">
                <a:solidFill>
                  <a:srgbClr val="7030A0"/>
                </a:solidFill>
              </a:rPr>
              <a:t>2</a:t>
            </a:r>
            <a:r>
              <a:rPr lang="en-GB" dirty="0">
                <a:solidFill>
                  <a:schemeClr val="accent5">
                    <a:lumMod val="75000"/>
                  </a:schemeClr>
                </a:solidFill>
              </a:rPr>
              <a:t>n</a:t>
            </a:r>
            <a:r>
              <a:rPr lang="en-GB" dirty="0"/>
              <a:t> </a:t>
            </a:r>
            <a:r>
              <a:rPr lang="en-GB" dirty="0">
                <a:solidFill>
                  <a:srgbClr val="FF0000"/>
                </a:solidFill>
              </a:rPr>
              <a:t>+ 3</a:t>
            </a:r>
            <a:r>
              <a:rPr lang="en-GB" dirty="0">
                <a:solidFill>
                  <a:srgbClr val="00B050"/>
                </a:solidFill>
              </a:rPr>
              <a:t> </a:t>
            </a:r>
            <a:r>
              <a:rPr lang="en-GB" dirty="0"/>
              <a:t>in worst case</a:t>
            </a:r>
          </a:p>
          <a:p>
            <a:pPr marL="268288" indent="-268288">
              <a:spcAft>
                <a:spcPts val="0"/>
              </a:spcAft>
              <a:tabLst>
                <a:tab pos="268288" algn="l"/>
                <a:tab pos="725488" algn="l"/>
                <a:tab pos="1435100" algn="l"/>
                <a:tab pos="1797050" algn="l"/>
                <a:tab pos="2160588" algn="l"/>
              </a:tabLst>
            </a:pPr>
            <a:r>
              <a:rPr lang="en-GB" dirty="0"/>
              <a:t>Time complexity = O(n)</a:t>
            </a:r>
          </a:p>
          <a:p>
            <a:pPr marL="0" indent="0">
              <a:buNone/>
            </a:pPr>
            <a:endParaRPr lang="en-GB" dirty="0"/>
          </a:p>
        </p:txBody>
      </p:sp>
    </p:spTree>
    <p:extLst>
      <p:ext uri="{BB962C8B-B14F-4D97-AF65-F5344CB8AC3E}">
        <p14:creationId xmlns:p14="http://schemas.microsoft.com/office/powerpoint/2010/main" val="53139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Bubble sort</a:t>
            </a:r>
          </a:p>
        </p:txBody>
      </p:sp>
      <p:sp>
        <p:nvSpPr>
          <p:cNvPr id="3" name="Text Placeholder 2"/>
          <p:cNvSpPr>
            <a:spLocks noGrp="1"/>
          </p:cNvSpPr>
          <p:nvPr>
            <p:ph type="body" sz="quarter" idx="14"/>
          </p:nvPr>
        </p:nvSpPr>
        <p:spPr/>
        <p:txBody>
          <a:bodyPr/>
          <a:lstStyle/>
          <a:p>
            <a:r>
              <a:rPr lang="en-GB" dirty="0"/>
              <a:t>You can sort the name cards manually using a </a:t>
            </a:r>
            <a:r>
              <a:rPr lang="en-GB" dirty="0">
                <a:solidFill>
                  <a:srgbClr val="956320"/>
                </a:solidFill>
              </a:rPr>
              <a:t>bubble sort</a:t>
            </a:r>
            <a:r>
              <a:rPr lang="en-GB" dirty="0">
                <a:solidFill>
                  <a:srgbClr val="2F586A"/>
                </a:solidFill>
              </a:rPr>
              <a:t>, </a:t>
            </a:r>
            <a:r>
              <a:rPr lang="en-GB" dirty="0"/>
              <a:t>which you have probably already met </a:t>
            </a:r>
          </a:p>
          <a:p>
            <a:pPr marL="725488" indent="0">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n = len(names)</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FOR i = 0 to n - 2</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FOR j = 0 to(n – i - 2)</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IF names[j] &gt; names[j + 1] </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Swap the names 						</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a:t>
            </a:r>
            <a:r>
              <a:rPr lang="en-GB" sz="2000" dirty="0" err="1">
                <a:solidFill>
                  <a:srgbClr val="956320"/>
                </a:solidFill>
                <a:latin typeface="Consolas" panose="020B0609020204030204" pitchFamily="49" charset="0"/>
              </a:rPr>
              <a:t>ENDIF</a:t>
            </a:r>
            <a:endParaRPr lang="en-GB" sz="2000" dirty="0">
              <a:solidFill>
                <a:srgbClr val="956320"/>
              </a:solidFill>
              <a:latin typeface="Consolas" panose="020B0609020204030204" pitchFamily="49" charset="0"/>
            </a:endParaRP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a:t>
            </a:r>
            <a:r>
              <a:rPr lang="en-GB" sz="2000" dirty="0" err="1">
                <a:solidFill>
                  <a:srgbClr val="956320"/>
                </a:solidFill>
                <a:latin typeface="Consolas" panose="020B0609020204030204" pitchFamily="49" charset="0"/>
              </a:rPr>
              <a:t>ENDFOR</a:t>
            </a:r>
            <a:endParaRPr lang="en-GB" sz="2000" dirty="0">
              <a:solidFill>
                <a:srgbClr val="956320"/>
              </a:solidFill>
              <a:latin typeface="Consolas" panose="020B0609020204030204" pitchFamily="49" charset="0"/>
            </a:endParaRPr>
          </a:p>
          <a:p>
            <a:pPr marL="725488" indent="0">
              <a:spcBef>
                <a:spcPts val="600"/>
              </a:spcBef>
              <a:spcAft>
                <a:spcPts val="60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ENDFOR</a:t>
            </a:r>
          </a:p>
          <a:p>
            <a:r>
              <a:rPr lang="en-GB" dirty="0"/>
              <a:t>A binary search is much more efficient, but the items in the list must be sorted</a:t>
            </a:r>
          </a:p>
        </p:txBody>
      </p:sp>
    </p:spTree>
    <p:extLst>
      <p:ext uri="{BB962C8B-B14F-4D97-AF65-F5344CB8AC3E}">
        <p14:creationId xmlns:p14="http://schemas.microsoft.com/office/powerpoint/2010/main" val="972459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Analysing the bubble sort</a:t>
            </a:r>
          </a:p>
        </p:txBody>
      </p:sp>
      <p:sp>
        <p:nvSpPr>
          <p:cNvPr id="3" name="Text Placeholder 2"/>
          <p:cNvSpPr>
            <a:spLocks noGrp="1"/>
          </p:cNvSpPr>
          <p:nvPr>
            <p:ph type="body" sz="quarter" idx="14"/>
          </p:nvPr>
        </p:nvSpPr>
        <p:spPr/>
        <p:txBody>
          <a:bodyPr/>
          <a:lstStyle/>
          <a:p>
            <a:r>
              <a:rPr lang="en-GB" dirty="0"/>
              <a:t>How many statements are there in the worst case scenario, in which a swap is made every time?</a:t>
            </a:r>
          </a:p>
          <a:p>
            <a:r>
              <a:rPr lang="en-GB" dirty="0"/>
              <a:t>Assume that “swap the items” counts as three statements</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FOR i = 0 to n - 2</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FOR j = 0 to(n – i - 2)</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IF names[j] &gt; names[j + 1] </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Swap the names 						</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ENDIF</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ENDFOR</a:t>
            </a:r>
          </a:p>
          <a:p>
            <a:pPr marL="725488" indent="0">
              <a:spcBef>
                <a:spcPts val="6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ENDFOR</a:t>
            </a:r>
          </a:p>
        </p:txBody>
      </p:sp>
    </p:spTree>
    <p:extLst>
      <p:ext uri="{BB962C8B-B14F-4D97-AF65-F5344CB8AC3E}">
        <p14:creationId xmlns:p14="http://schemas.microsoft.com/office/powerpoint/2010/main" val="279024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Big-O for bubble sort</a:t>
            </a:r>
          </a:p>
        </p:txBody>
      </p:sp>
      <p:sp>
        <p:nvSpPr>
          <p:cNvPr id="3" name="Text Placeholder 2"/>
          <p:cNvSpPr>
            <a:spLocks noGrp="1"/>
          </p:cNvSpPr>
          <p:nvPr>
            <p:ph type="body" sz="quarter" idx="14"/>
          </p:nvPr>
        </p:nvSpPr>
        <p:spPr/>
        <p:txBody>
          <a:bodyPr/>
          <a:lstStyle/>
          <a:p>
            <a:r>
              <a:rPr lang="en-GB" dirty="0"/>
              <a:t>The statements in the inner nested loop are performed n(n-1 + n-2 + n-3 +….. 1)</a:t>
            </a:r>
          </a:p>
          <a:p>
            <a:r>
              <a:rPr lang="en-GB" dirty="0"/>
              <a:t>This is approximately </a:t>
            </a:r>
            <a:r>
              <a:rPr lang="en-GB" i="1" dirty="0">
                <a:solidFill>
                  <a:srgbClr val="956320"/>
                </a:solidFill>
              </a:rPr>
              <a:t>a</a:t>
            </a:r>
            <a:r>
              <a:rPr lang="en-GB" dirty="0">
                <a:solidFill>
                  <a:srgbClr val="956320"/>
                </a:solidFill>
              </a:rPr>
              <a:t>n</a:t>
            </a:r>
            <a:r>
              <a:rPr lang="en-GB" baseline="30000" dirty="0">
                <a:solidFill>
                  <a:srgbClr val="956320"/>
                </a:solidFill>
              </a:rPr>
              <a:t>2 </a:t>
            </a:r>
            <a:r>
              <a:rPr lang="en-GB" dirty="0">
                <a:solidFill>
                  <a:srgbClr val="956320"/>
                </a:solidFill>
              </a:rPr>
              <a:t>+</a:t>
            </a:r>
            <a:r>
              <a:rPr lang="en-GB" i="1" dirty="0" err="1">
                <a:solidFill>
                  <a:srgbClr val="956320"/>
                </a:solidFill>
              </a:rPr>
              <a:t>b</a:t>
            </a:r>
            <a:r>
              <a:rPr lang="en-GB" dirty="0" err="1">
                <a:solidFill>
                  <a:srgbClr val="956320"/>
                </a:solidFill>
              </a:rPr>
              <a:t>n</a:t>
            </a:r>
            <a:r>
              <a:rPr lang="en-GB" baseline="30000" dirty="0">
                <a:solidFill>
                  <a:srgbClr val="956320"/>
                </a:solidFill>
              </a:rPr>
              <a:t> </a:t>
            </a:r>
            <a:r>
              <a:rPr lang="en-GB" dirty="0"/>
              <a:t>statements</a:t>
            </a:r>
          </a:p>
          <a:p>
            <a:r>
              <a:rPr lang="en-GB" dirty="0"/>
              <a:t>Ignoring the coefficient of n</a:t>
            </a:r>
            <a:r>
              <a:rPr lang="en-GB" baseline="30000" dirty="0"/>
              <a:t>2</a:t>
            </a:r>
            <a:r>
              <a:rPr lang="en-GB" dirty="0"/>
              <a:t> and the term in n, the time complexity = </a:t>
            </a:r>
            <a:r>
              <a:rPr lang="en-GB" dirty="0">
                <a:solidFill>
                  <a:srgbClr val="956320"/>
                </a:solidFill>
              </a:rPr>
              <a:t>O(n</a:t>
            </a:r>
            <a:r>
              <a:rPr lang="en-GB" baseline="30000" dirty="0">
                <a:solidFill>
                  <a:srgbClr val="956320"/>
                </a:solidFill>
              </a:rPr>
              <a:t>2</a:t>
            </a:r>
            <a:r>
              <a:rPr lang="en-GB" dirty="0">
                <a:solidFill>
                  <a:srgbClr val="956320"/>
                </a:solidFill>
              </a:rPr>
              <a:t>)</a:t>
            </a:r>
            <a:r>
              <a:rPr lang="en-GB" dirty="0">
                <a:solidFill>
                  <a:srgbClr val="2F586A"/>
                </a:solidFill>
              </a:rPr>
              <a:t>  </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FOR i = 0 to n - 2</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FOR j = 0 to(n – i - 2)</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IF names[j] &gt; names[j + 1] </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Swap the names 						</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ENDIF</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	ENDFOR</a:t>
            </a:r>
          </a:p>
          <a:p>
            <a:pPr marL="725488" indent="0">
              <a:spcBef>
                <a:spcPts val="300"/>
              </a:spcBef>
              <a:spcAft>
                <a:spcPts val="0"/>
              </a:spcAft>
              <a:buNone/>
              <a:tabLst>
                <a:tab pos="1071563" algn="l"/>
                <a:tab pos="1435100" algn="l"/>
                <a:tab pos="1797050" algn="l"/>
                <a:tab pos="2160588" algn="l"/>
                <a:tab pos="2506663" algn="l"/>
              </a:tabLst>
            </a:pPr>
            <a:r>
              <a:rPr lang="en-GB" sz="2000" dirty="0">
                <a:solidFill>
                  <a:srgbClr val="956320"/>
                </a:solidFill>
                <a:latin typeface="Consolas" panose="020B0609020204030204" pitchFamily="49" charset="0"/>
              </a:rPr>
              <a:t>ENDFOR</a:t>
            </a:r>
          </a:p>
        </p:txBody>
      </p:sp>
    </p:spTree>
    <p:extLst>
      <p:ext uri="{BB962C8B-B14F-4D97-AF65-F5344CB8AC3E}">
        <p14:creationId xmlns:p14="http://schemas.microsoft.com/office/powerpoint/2010/main" val="192101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Binary search</a:t>
            </a:r>
          </a:p>
        </p:txBody>
      </p:sp>
      <p:sp>
        <p:nvSpPr>
          <p:cNvPr id="3" name="Text Placeholder 2"/>
          <p:cNvSpPr>
            <a:spLocks noGrp="1"/>
          </p:cNvSpPr>
          <p:nvPr>
            <p:ph type="body" sz="quarter" idx="14"/>
          </p:nvPr>
        </p:nvSpPr>
        <p:spPr/>
        <p:txBody>
          <a:bodyPr/>
          <a:lstStyle/>
          <a:p>
            <a:r>
              <a:rPr lang="en-GB" dirty="0"/>
              <a:t>The binary search is a very efficient way of searching a sorted list</a:t>
            </a:r>
          </a:p>
          <a:p>
            <a:pPr lvl="1"/>
            <a:r>
              <a:rPr lang="en-GB" dirty="0"/>
              <a:t>Examine the middle item in the list</a:t>
            </a:r>
          </a:p>
          <a:p>
            <a:pPr lvl="1"/>
            <a:r>
              <a:rPr lang="en-GB" dirty="0"/>
              <a:t>If this is the one you are searching for, return the index</a:t>
            </a:r>
          </a:p>
          <a:p>
            <a:pPr lvl="1"/>
            <a:r>
              <a:rPr lang="en-GB" dirty="0"/>
              <a:t>Eliminate half the list, depending on whether the item being sought is greater than or less than the middle item</a:t>
            </a:r>
          </a:p>
          <a:p>
            <a:pPr lvl="1"/>
            <a:r>
              <a:rPr lang="en-GB" dirty="0"/>
              <a:t>Repeat until the item is found or is proved to be not in the list</a:t>
            </a:r>
          </a:p>
        </p:txBody>
      </p:sp>
    </p:spTree>
    <p:extLst>
      <p:ext uri="{BB962C8B-B14F-4D97-AF65-F5344CB8AC3E}">
        <p14:creationId xmlns:p14="http://schemas.microsoft.com/office/powerpoint/2010/main" val="199597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Worksheet 3</a:t>
            </a:r>
          </a:p>
        </p:txBody>
      </p:sp>
      <p:sp>
        <p:nvSpPr>
          <p:cNvPr id="3" name="Text Placeholder 2"/>
          <p:cNvSpPr>
            <a:spLocks noGrp="1"/>
          </p:cNvSpPr>
          <p:nvPr>
            <p:ph type="body" sz="quarter" idx="14"/>
          </p:nvPr>
        </p:nvSpPr>
        <p:spPr/>
        <p:txBody>
          <a:bodyPr/>
          <a:lstStyle/>
          <a:p>
            <a:r>
              <a:rPr lang="en-GB" dirty="0"/>
              <a:t>Try the activities and questions in </a:t>
            </a:r>
            <a:r>
              <a:rPr lang="en-GB" b="1" dirty="0"/>
              <a:t>Task 1</a:t>
            </a:r>
          </a:p>
        </p:txBody>
      </p:sp>
    </p:spTree>
    <p:extLst>
      <p:ext uri="{BB962C8B-B14F-4D97-AF65-F5344CB8AC3E}">
        <p14:creationId xmlns:p14="http://schemas.microsoft.com/office/powerpoint/2010/main" val="1586618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ob\AppData\Roaming\PixelMetrics\CaptureWiz\Temp\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031" y="2190405"/>
            <a:ext cx="7403490" cy="319430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p:cNvSpPr>
            <a:spLocks noGrp="1"/>
          </p:cNvSpPr>
          <p:nvPr>
            <p:ph type="body" sz="quarter" idx="13"/>
          </p:nvPr>
        </p:nvSpPr>
        <p:spPr/>
        <p:txBody>
          <a:bodyPr/>
          <a:lstStyle/>
          <a:p>
            <a:r>
              <a:rPr lang="en-GB" dirty="0"/>
              <a:t>Binary tree search</a:t>
            </a:r>
          </a:p>
        </p:txBody>
      </p:sp>
      <p:sp>
        <p:nvSpPr>
          <p:cNvPr id="5" name="Text Placeholder 4"/>
          <p:cNvSpPr>
            <a:spLocks noGrp="1"/>
          </p:cNvSpPr>
          <p:nvPr>
            <p:ph type="body" sz="quarter" idx="14"/>
          </p:nvPr>
        </p:nvSpPr>
        <p:spPr/>
        <p:txBody>
          <a:bodyPr/>
          <a:lstStyle/>
          <a:p>
            <a:r>
              <a:rPr lang="en-GB" dirty="0"/>
              <a:t>The names have been put into a binary search tree</a:t>
            </a:r>
          </a:p>
          <a:p>
            <a:endParaRPr lang="en-GB" dirty="0"/>
          </a:p>
          <a:p>
            <a:endParaRPr lang="en-GB" dirty="0"/>
          </a:p>
          <a:p>
            <a:endParaRPr lang="en-GB" dirty="0"/>
          </a:p>
          <a:p>
            <a:endParaRPr lang="en-GB" dirty="0"/>
          </a:p>
          <a:p>
            <a:endParaRPr lang="en-GB" dirty="0"/>
          </a:p>
          <a:p>
            <a:endParaRPr lang="en-GB" dirty="0"/>
          </a:p>
          <a:p>
            <a:pPr lvl="1"/>
            <a:r>
              <a:rPr lang="en-GB" dirty="0"/>
              <a:t>What is the maximum number of searches to find any name?</a:t>
            </a:r>
          </a:p>
          <a:p>
            <a:pPr lvl="1"/>
            <a:r>
              <a:rPr lang="en-GB" dirty="0"/>
              <a:t>What is the order </a:t>
            </a:r>
            <a:r>
              <a:rPr lang="en-GB"/>
              <a:t>of complexity?</a:t>
            </a:r>
            <a:endParaRPr lang="en-GB" dirty="0"/>
          </a:p>
          <a:p>
            <a:endParaRPr lang="en-GB" dirty="0"/>
          </a:p>
        </p:txBody>
      </p:sp>
    </p:spTree>
    <p:extLst>
      <p:ext uri="{BB962C8B-B14F-4D97-AF65-F5344CB8AC3E}">
        <p14:creationId xmlns:p14="http://schemas.microsoft.com/office/powerpoint/2010/main" val="3230760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Rob\AppData\Roaming\PixelMetrics\CaptureWiz\Temp\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5785" y="1801170"/>
            <a:ext cx="3068995" cy="4242066"/>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A balanced binary tree</a:t>
            </a:r>
          </a:p>
        </p:txBody>
      </p:sp>
      <p:sp>
        <p:nvSpPr>
          <p:cNvPr id="3" name="Text Placeholder 2"/>
          <p:cNvSpPr>
            <a:spLocks noGrp="1"/>
          </p:cNvSpPr>
          <p:nvPr>
            <p:ph type="body" sz="quarter" idx="14"/>
          </p:nvPr>
        </p:nvSpPr>
        <p:spPr>
          <a:xfrm>
            <a:off x="724280" y="1704179"/>
            <a:ext cx="5760603" cy="3453607"/>
          </a:xfrm>
        </p:spPr>
        <p:txBody>
          <a:bodyPr/>
          <a:lstStyle/>
          <a:p>
            <a:r>
              <a:rPr lang="en-GB" dirty="0"/>
              <a:t>Note that the tree on the </a:t>
            </a:r>
            <a:br>
              <a:rPr lang="en-GB" dirty="0"/>
            </a:br>
            <a:r>
              <a:rPr lang="en-GB" dirty="0"/>
              <a:t>previous slide is balanced, as </a:t>
            </a:r>
            <a:br>
              <a:rPr lang="en-GB" dirty="0"/>
            </a:br>
            <a:r>
              <a:rPr lang="en-GB" dirty="0"/>
              <a:t>each side has three levels below </a:t>
            </a:r>
            <a:br>
              <a:rPr lang="en-GB" dirty="0"/>
            </a:br>
            <a:r>
              <a:rPr lang="en-GB" dirty="0"/>
              <a:t>the root</a:t>
            </a:r>
          </a:p>
          <a:p>
            <a:r>
              <a:rPr lang="en-GB" dirty="0"/>
              <a:t>An unbalanced tree would look like the one on the right</a:t>
            </a:r>
          </a:p>
          <a:p>
            <a:pPr lvl="1"/>
            <a:r>
              <a:rPr lang="en-GB" dirty="0"/>
              <a:t>What effect would this have on the search time?</a:t>
            </a:r>
          </a:p>
          <a:p>
            <a:pPr lvl="1"/>
            <a:r>
              <a:rPr lang="en-GB" dirty="0"/>
              <a:t>What would be the Big-O time complexity? </a:t>
            </a:r>
          </a:p>
        </p:txBody>
      </p:sp>
    </p:spTree>
    <p:extLst>
      <p:ext uri="{BB962C8B-B14F-4D97-AF65-F5344CB8AC3E}">
        <p14:creationId xmlns:p14="http://schemas.microsoft.com/office/powerpoint/2010/main" val="69128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The merge sort</a:t>
            </a:r>
          </a:p>
        </p:txBody>
      </p:sp>
      <p:sp>
        <p:nvSpPr>
          <p:cNvPr id="3" name="Text Placeholder 2"/>
          <p:cNvSpPr>
            <a:spLocks noGrp="1"/>
          </p:cNvSpPr>
          <p:nvPr>
            <p:ph type="body" sz="quarter" idx="14"/>
          </p:nvPr>
        </p:nvSpPr>
        <p:spPr/>
        <p:txBody>
          <a:bodyPr/>
          <a:lstStyle/>
          <a:p>
            <a:r>
              <a:rPr lang="en-GB" dirty="0"/>
              <a:t>This is much more efficient than the bubble sort</a:t>
            </a:r>
          </a:p>
          <a:p>
            <a:r>
              <a:rPr lang="en-GB" dirty="0"/>
              <a:t>The basic steps are:</a:t>
            </a:r>
          </a:p>
          <a:p>
            <a:pPr lvl="1"/>
            <a:r>
              <a:rPr lang="en-GB" sz="2300" dirty="0"/>
              <a:t>Divide the unsorted list into </a:t>
            </a:r>
            <a:r>
              <a:rPr lang="en-GB" sz="2300" i="1" dirty="0"/>
              <a:t>n</a:t>
            </a:r>
            <a:r>
              <a:rPr lang="en-GB" sz="2300" dirty="0"/>
              <a:t> </a:t>
            </a:r>
            <a:r>
              <a:rPr lang="en-GB" sz="2300" dirty="0" err="1"/>
              <a:t>sublists</a:t>
            </a:r>
            <a:r>
              <a:rPr lang="en-GB" sz="2300" dirty="0"/>
              <a:t>, each containing one element</a:t>
            </a:r>
          </a:p>
          <a:p>
            <a:pPr lvl="1"/>
            <a:r>
              <a:rPr lang="en-GB" sz="2300" dirty="0"/>
              <a:t>Repeatedly merge two </a:t>
            </a:r>
            <a:r>
              <a:rPr lang="en-GB" sz="2300" dirty="0" err="1"/>
              <a:t>sublists</a:t>
            </a:r>
            <a:r>
              <a:rPr lang="en-GB" sz="2300" dirty="0"/>
              <a:t> at a time to produce new sorted </a:t>
            </a:r>
            <a:r>
              <a:rPr lang="en-GB" sz="2300" dirty="0" err="1"/>
              <a:t>sublists</a:t>
            </a:r>
            <a:r>
              <a:rPr lang="en-GB" sz="2300" dirty="0"/>
              <a:t> until there is only one sublist remaining. This is the sorted list.</a:t>
            </a:r>
          </a:p>
          <a:p>
            <a:pPr lvl="1"/>
            <a:r>
              <a:rPr lang="en-GB" sz="2300" dirty="0"/>
              <a:t>We will use a list of 8 integers to demonstrate the process</a:t>
            </a:r>
          </a:p>
          <a:p>
            <a:pPr lvl="2"/>
            <a:endParaRPr lang="en-GB" dirty="0"/>
          </a:p>
        </p:txBody>
      </p:sp>
    </p:spTree>
    <p:extLst>
      <p:ext uri="{BB962C8B-B14F-4D97-AF65-F5344CB8AC3E}">
        <p14:creationId xmlns:p14="http://schemas.microsoft.com/office/powerpoint/2010/main" val="157171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Merge sort part 1</a:t>
            </a:r>
          </a:p>
        </p:txBody>
      </p:sp>
      <p:sp>
        <p:nvSpPr>
          <p:cNvPr id="3" name="Text Placeholder 2"/>
          <p:cNvSpPr>
            <a:spLocks noGrp="1"/>
          </p:cNvSpPr>
          <p:nvPr>
            <p:ph type="body" sz="quarter" idx="14"/>
          </p:nvPr>
        </p:nvSpPr>
        <p:spPr/>
        <p:txBody>
          <a:bodyPr/>
          <a:lstStyle/>
          <a:p>
            <a:r>
              <a:rPr lang="en-GB" dirty="0"/>
              <a:t>Divide the unsorted list into </a:t>
            </a:r>
            <a:r>
              <a:rPr lang="en-GB" dirty="0">
                <a:solidFill>
                  <a:srgbClr val="956320"/>
                </a:solidFill>
              </a:rPr>
              <a:t>n</a:t>
            </a:r>
            <a:r>
              <a:rPr lang="en-GB" dirty="0"/>
              <a:t> </a:t>
            </a:r>
            <a:r>
              <a:rPr lang="en-GB" dirty="0" err="1"/>
              <a:t>sublists</a:t>
            </a:r>
            <a:endParaRPr lang="en-GB" dirty="0"/>
          </a:p>
          <a:p>
            <a:endParaRPr lang="en-GB" dirty="0"/>
          </a:p>
          <a:p>
            <a:endParaRPr lang="en-GB" dirty="0"/>
          </a:p>
          <a:p>
            <a:endParaRPr lang="en-GB" dirty="0"/>
          </a:p>
          <a:p>
            <a:pPr marL="0" indent="0">
              <a:buNone/>
            </a:pPr>
            <a:endParaRPr lang="en-GB" dirty="0"/>
          </a:p>
        </p:txBody>
      </p:sp>
      <p:pic>
        <p:nvPicPr>
          <p:cNvPr id="4102" name="Picture 6" descr="C:\Users\Rob\AppData\Roaming\PixelMetrics\CaptureWiz\Temp\2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515" y="2338367"/>
            <a:ext cx="8189740" cy="3637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994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Rob\AppData\Roaming\PixelMetrics\CaptureWiz\Temp\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744" y="2579119"/>
            <a:ext cx="8195272" cy="3732875"/>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sz="quarter" idx="13"/>
          </p:nvPr>
        </p:nvSpPr>
        <p:spPr/>
        <p:txBody>
          <a:bodyPr/>
          <a:lstStyle/>
          <a:p>
            <a:r>
              <a:rPr lang="en-GB" dirty="0"/>
              <a:t>Merge sort part 2</a:t>
            </a:r>
          </a:p>
        </p:txBody>
      </p:sp>
      <p:sp>
        <p:nvSpPr>
          <p:cNvPr id="3" name="Text Placeholder 2"/>
          <p:cNvSpPr>
            <a:spLocks noGrp="1"/>
          </p:cNvSpPr>
          <p:nvPr>
            <p:ph type="body" sz="quarter" idx="14"/>
          </p:nvPr>
        </p:nvSpPr>
        <p:spPr/>
        <p:txBody>
          <a:bodyPr/>
          <a:lstStyle/>
          <a:p>
            <a:r>
              <a:rPr lang="en-GB" dirty="0"/>
              <a:t>Now merge the pairs of </a:t>
            </a:r>
            <a:r>
              <a:rPr lang="en-GB" dirty="0" err="1"/>
              <a:t>sublists</a:t>
            </a:r>
            <a:r>
              <a:rPr lang="en-GB" dirty="0"/>
              <a:t> into a single sorted list</a:t>
            </a:r>
          </a:p>
          <a:p>
            <a:endParaRPr lang="en-GB" dirty="0"/>
          </a:p>
        </p:txBody>
      </p:sp>
    </p:spTree>
    <p:extLst>
      <p:ext uri="{BB962C8B-B14F-4D97-AF65-F5344CB8AC3E}">
        <p14:creationId xmlns:p14="http://schemas.microsoft.com/office/powerpoint/2010/main" val="1623703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Merging two lists</a:t>
            </a:r>
          </a:p>
        </p:txBody>
      </p:sp>
      <p:sp>
        <p:nvSpPr>
          <p:cNvPr id="3" name="Text Placeholder 2"/>
          <p:cNvSpPr>
            <a:spLocks noGrp="1"/>
          </p:cNvSpPr>
          <p:nvPr>
            <p:ph type="body" sz="quarter" idx="14"/>
          </p:nvPr>
        </p:nvSpPr>
        <p:spPr/>
        <p:txBody>
          <a:bodyPr/>
          <a:lstStyle/>
          <a:p>
            <a:pPr marL="0" indent="0">
              <a:buNone/>
              <a:tabLst>
                <a:tab pos="1608138" algn="l"/>
                <a:tab pos="4840288" algn="l"/>
              </a:tabLst>
            </a:pPr>
            <a:r>
              <a:rPr lang="en-GB" dirty="0"/>
              <a:t>	  </a:t>
            </a:r>
            <a:r>
              <a:rPr lang="en-GB" b="1" dirty="0">
                <a:solidFill>
                  <a:srgbClr val="956320"/>
                </a:solidFill>
              </a:rPr>
              <a:t>List A</a:t>
            </a:r>
            <a:r>
              <a:rPr lang="en-GB" b="1" dirty="0"/>
              <a:t>	  </a:t>
            </a:r>
            <a:r>
              <a:rPr lang="en-GB" b="1" dirty="0">
                <a:solidFill>
                  <a:srgbClr val="956320"/>
                </a:solidFill>
              </a:rPr>
              <a:t>List B</a:t>
            </a:r>
          </a:p>
          <a:p>
            <a:pPr marL="0" indent="0">
              <a:buNone/>
              <a:tabLst>
                <a:tab pos="1608138" algn="l"/>
                <a:tab pos="4840288" algn="l"/>
              </a:tabLst>
            </a:pPr>
            <a:br>
              <a:rPr lang="en-GB" dirty="0"/>
            </a:br>
            <a:endParaRPr lang="en-GB" dirty="0"/>
          </a:p>
          <a:p>
            <a:pPr>
              <a:tabLst>
                <a:tab pos="1608138" algn="l"/>
                <a:tab pos="4840288" algn="l"/>
              </a:tabLst>
            </a:pPr>
            <a:r>
              <a:rPr lang="en-GB" dirty="0"/>
              <a:t>Read item from list A; Read item from list B.</a:t>
            </a:r>
          </a:p>
          <a:p>
            <a:pPr>
              <a:tabLst>
                <a:tab pos="1608138" algn="l"/>
                <a:tab pos="4840288" algn="l"/>
              </a:tabLst>
            </a:pPr>
            <a:r>
              <a:rPr lang="en-GB" dirty="0"/>
              <a:t>Write smaller to output list.</a:t>
            </a:r>
          </a:p>
          <a:p>
            <a:pPr>
              <a:tabLst>
                <a:tab pos="1608138" algn="l"/>
                <a:tab pos="4840288" algn="l"/>
              </a:tabLst>
            </a:pPr>
            <a:r>
              <a:rPr lang="en-GB" dirty="0"/>
              <a:t>Read next item from the list that held the smaller value</a:t>
            </a:r>
          </a:p>
          <a:p>
            <a:pPr>
              <a:tabLst>
                <a:tab pos="1608138" algn="l"/>
                <a:tab pos="4840288" algn="l"/>
              </a:tabLst>
            </a:pPr>
            <a:r>
              <a:rPr lang="en-GB" dirty="0"/>
              <a:t>Repeat until all items written to output list</a:t>
            </a:r>
          </a:p>
          <a:p>
            <a:pPr marL="0" indent="0">
              <a:buNone/>
              <a:tabLst>
                <a:tab pos="1608138" algn="l"/>
                <a:tab pos="4840288" algn="l"/>
              </a:tabLst>
            </a:pPr>
            <a:endParaRPr lang="en-GB" dirty="0"/>
          </a:p>
        </p:txBody>
      </p:sp>
      <p:pic>
        <p:nvPicPr>
          <p:cNvPr id="6146" name="Picture 2" descr="C:\Users\Rob\AppData\Roaming\PixelMetrics\CaptureWiz\Temp\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1709" y="2188888"/>
            <a:ext cx="6457950" cy="77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396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3</a:t>
            </a:r>
          </a:p>
        </p:txBody>
      </p:sp>
      <p:sp>
        <p:nvSpPr>
          <p:cNvPr id="5" name="Text Placeholder 4"/>
          <p:cNvSpPr>
            <a:spLocks noGrp="1"/>
          </p:cNvSpPr>
          <p:nvPr>
            <p:ph type="body" sz="quarter" idx="14"/>
          </p:nvPr>
        </p:nvSpPr>
        <p:spPr/>
        <p:txBody>
          <a:bodyPr/>
          <a:lstStyle/>
          <a:p>
            <a:r>
              <a:rPr lang="en-GB" dirty="0"/>
              <a:t>Try manually merging the unsorted list of names</a:t>
            </a:r>
          </a:p>
          <a:p>
            <a:r>
              <a:rPr lang="en-GB" dirty="0"/>
              <a:t>Complete </a:t>
            </a:r>
            <a:r>
              <a:rPr lang="en-GB" b="1" dirty="0"/>
              <a:t>Task 2</a:t>
            </a:r>
          </a:p>
          <a:p>
            <a:endParaRPr lang="en-GB" b="1" dirty="0"/>
          </a:p>
        </p:txBody>
      </p:sp>
      <p:graphicFrame>
        <p:nvGraphicFramePr>
          <p:cNvPr id="6" name="Table 5"/>
          <p:cNvGraphicFramePr>
            <a:graphicFrameLocks noGrp="1"/>
          </p:cNvGraphicFramePr>
          <p:nvPr>
            <p:extLst>
              <p:ext uri="{D42A27DB-BD31-4B8C-83A1-F6EECF244321}">
                <p14:modId xmlns:p14="http://schemas.microsoft.com/office/powerpoint/2010/main" val="3960246396"/>
              </p:ext>
            </p:extLst>
          </p:nvPr>
        </p:nvGraphicFramePr>
        <p:xfrm>
          <a:off x="656620" y="3963057"/>
          <a:ext cx="7886700" cy="2088000"/>
        </p:xfrm>
        <a:graphic>
          <a:graphicData uri="http://schemas.openxmlformats.org/drawingml/2006/table">
            <a:tbl>
              <a:tblPr firstRow="1" firstCol="1" bandRow="1">
                <a:tableStyleId>{5C22544A-7EE6-4342-B048-85BDC9FD1C3A}</a:tableStyleId>
              </a:tblPr>
              <a:tblGrid>
                <a:gridCol w="15773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1577340">
                  <a:extLst>
                    <a:ext uri="{9D8B030D-6E8A-4147-A177-3AD203B41FA5}">
                      <a16:colId xmlns:a16="http://schemas.microsoft.com/office/drawing/2014/main" val="20002"/>
                    </a:ext>
                  </a:extLst>
                </a:gridCol>
                <a:gridCol w="1577340">
                  <a:extLst>
                    <a:ext uri="{9D8B030D-6E8A-4147-A177-3AD203B41FA5}">
                      <a16:colId xmlns:a16="http://schemas.microsoft.com/office/drawing/2014/main" val="20003"/>
                    </a:ext>
                  </a:extLst>
                </a:gridCol>
                <a:gridCol w="1577340">
                  <a:extLst>
                    <a:ext uri="{9D8B030D-6E8A-4147-A177-3AD203B41FA5}">
                      <a16:colId xmlns:a16="http://schemas.microsoft.com/office/drawing/2014/main" val="20004"/>
                    </a:ext>
                  </a:extLst>
                </a:gridCol>
              </a:tblGrid>
              <a:tr h="1044000">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Amelia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5,327</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Olivia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4,724</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Isla</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4,012</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Emily</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3,991</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a:solidFill>
                            <a:srgbClr val="956320"/>
                          </a:solidFill>
                          <a:effectLst/>
                          <a:latin typeface="Arial" panose="020B0604020202020204" pitchFamily="34" charset="0"/>
                          <a:cs typeface="Arial" panose="020B0604020202020204" pitchFamily="34" charset="0"/>
                        </a:rPr>
                        <a:t>Poppy</a:t>
                      </a:r>
                      <a:endParaRPr lang="en-GB" sz="1100" b="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a:solidFill>
                            <a:srgbClr val="956320"/>
                          </a:solidFill>
                          <a:effectLst/>
                          <a:latin typeface="Arial" panose="020B0604020202020204" pitchFamily="34" charset="0"/>
                          <a:cs typeface="Arial" panose="020B0604020202020204" pitchFamily="34" charset="0"/>
                        </a:rPr>
                        <a:t>3,273</a:t>
                      </a:r>
                      <a:endParaRPr lang="en-GB" sz="1100" b="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044000">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Ava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3,171</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Isabella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3,022</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Jessica</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2,995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Lily</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2,965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tc>
                  <a:txBody>
                    <a:bodyPr/>
                    <a:lstStyle/>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Sophie</a:t>
                      </a:r>
                      <a:endParaRPr lang="en-GB" sz="1100" b="0" dirty="0">
                        <a:solidFill>
                          <a:srgbClr val="956320"/>
                        </a:solidFill>
                        <a:effectLst/>
                        <a:latin typeface="Arial" panose="020B0604020202020204" pitchFamily="34" charset="0"/>
                        <a:cs typeface="Arial" panose="020B0604020202020204" pitchFamily="34" charset="0"/>
                      </a:endParaRPr>
                    </a:p>
                    <a:p>
                      <a:pPr algn="ctr">
                        <a:spcAft>
                          <a:spcPts val="0"/>
                        </a:spcAft>
                      </a:pPr>
                      <a:r>
                        <a:rPr lang="en-GB" sz="2400" b="0" dirty="0">
                          <a:solidFill>
                            <a:srgbClr val="956320"/>
                          </a:solidFill>
                          <a:effectLst/>
                          <a:latin typeface="Arial" panose="020B0604020202020204" pitchFamily="34" charset="0"/>
                          <a:cs typeface="Arial" panose="020B0604020202020204" pitchFamily="34" charset="0"/>
                        </a:rPr>
                        <a:t>2,905</a:t>
                      </a:r>
                      <a:endParaRPr lang="en-GB" sz="1100" b="0" dirty="0">
                        <a:solidFill>
                          <a:srgbClr val="956320"/>
                        </a:solidFill>
                        <a:effectLst/>
                        <a:latin typeface="Arial" panose="020B0604020202020204" pitchFamily="34" charset="0"/>
                        <a:ea typeface="Corbel" panose="020B0503020204020204" pitchFamily="34" charset="0"/>
                        <a:cs typeface="Arial" panose="020B0604020202020204" pitchFamily="34" charset="0"/>
                      </a:endParaRPr>
                    </a:p>
                  </a:txBody>
                  <a:tcPr marL="56690" marR="56690" marT="0" marB="0" anchor="ctr">
                    <a:lnL w="12700" cap="flat" cmpd="sng" algn="ctr">
                      <a:solidFill>
                        <a:srgbClr val="956320"/>
                      </a:solidFill>
                      <a:prstDash val="solid"/>
                      <a:round/>
                      <a:headEnd type="none" w="med" len="med"/>
                      <a:tailEnd type="none" w="med" len="med"/>
                    </a:lnL>
                    <a:lnR w="12700" cap="flat" cmpd="sng" algn="ctr">
                      <a:solidFill>
                        <a:srgbClr val="956320"/>
                      </a:solidFill>
                      <a:prstDash val="solid"/>
                      <a:round/>
                      <a:headEnd type="none" w="med" len="med"/>
                      <a:tailEnd type="none" w="med" len="med"/>
                    </a:lnR>
                    <a:lnT w="12700" cap="flat" cmpd="sng" algn="ctr">
                      <a:solidFill>
                        <a:srgbClr val="956320"/>
                      </a:solidFill>
                      <a:prstDash val="solid"/>
                      <a:round/>
                      <a:headEnd type="none" w="med" len="med"/>
                      <a:tailEnd type="none" w="med" len="med"/>
                    </a:lnT>
                    <a:lnB w="12700" cap="flat" cmpd="sng" algn="ctr">
                      <a:solidFill>
                        <a:srgbClr val="95632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77571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Big-O for the merge sort</a:t>
            </a:r>
          </a:p>
        </p:txBody>
      </p:sp>
      <p:sp>
        <p:nvSpPr>
          <p:cNvPr id="5" name="Text Placeholder 4"/>
          <p:cNvSpPr>
            <a:spLocks noGrp="1"/>
          </p:cNvSpPr>
          <p:nvPr>
            <p:ph type="body" sz="quarter" idx="14"/>
          </p:nvPr>
        </p:nvSpPr>
        <p:spPr/>
        <p:txBody>
          <a:bodyPr/>
          <a:lstStyle/>
          <a:p>
            <a:r>
              <a:rPr lang="en-GB" dirty="0"/>
              <a:t>This is another example of a ‘divide and conquer’ algorithm which halves the size of each list to be merged</a:t>
            </a:r>
          </a:p>
          <a:p>
            <a:r>
              <a:rPr lang="en-GB" dirty="0"/>
              <a:t>First the list is split into halves, </a:t>
            </a:r>
            <a:r>
              <a:rPr lang="en-GB" dirty="0">
                <a:solidFill>
                  <a:srgbClr val="956320"/>
                </a:solidFill>
              </a:rPr>
              <a:t>log</a:t>
            </a:r>
            <a:r>
              <a:rPr lang="en-GB" baseline="-25000" dirty="0">
                <a:solidFill>
                  <a:srgbClr val="956320"/>
                </a:solidFill>
              </a:rPr>
              <a:t>2</a:t>
            </a:r>
            <a:r>
              <a:rPr lang="en-GB" dirty="0">
                <a:solidFill>
                  <a:srgbClr val="956320"/>
                </a:solidFill>
              </a:rPr>
              <a:t>n</a:t>
            </a:r>
            <a:r>
              <a:rPr lang="en-GB" dirty="0"/>
              <a:t> times</a:t>
            </a:r>
          </a:p>
          <a:p>
            <a:r>
              <a:rPr lang="en-GB" dirty="0"/>
              <a:t>Each of these </a:t>
            </a:r>
            <a:r>
              <a:rPr lang="en-GB" dirty="0">
                <a:solidFill>
                  <a:srgbClr val="956320"/>
                </a:solidFill>
              </a:rPr>
              <a:t>log</a:t>
            </a:r>
            <a:r>
              <a:rPr lang="en-GB" baseline="-25000" dirty="0">
                <a:solidFill>
                  <a:srgbClr val="956320"/>
                </a:solidFill>
              </a:rPr>
              <a:t>2</a:t>
            </a:r>
            <a:r>
              <a:rPr lang="en-GB" dirty="0">
                <a:solidFill>
                  <a:srgbClr val="956320"/>
                </a:solidFill>
              </a:rPr>
              <a:t>n</a:t>
            </a:r>
            <a:r>
              <a:rPr lang="en-GB" dirty="0"/>
              <a:t> splits requires n operations to merge the data into a single list </a:t>
            </a:r>
          </a:p>
          <a:p>
            <a:r>
              <a:rPr lang="en-GB" dirty="0"/>
              <a:t>So, the time complexity is </a:t>
            </a:r>
            <a:r>
              <a:rPr lang="en-GB" dirty="0">
                <a:solidFill>
                  <a:srgbClr val="956320"/>
                </a:solidFill>
              </a:rPr>
              <a:t>O(n log</a:t>
            </a:r>
            <a:r>
              <a:rPr lang="en-GB" baseline="-25000" dirty="0">
                <a:solidFill>
                  <a:srgbClr val="956320"/>
                </a:solidFill>
              </a:rPr>
              <a:t>2</a:t>
            </a:r>
            <a:r>
              <a:rPr lang="en-GB" dirty="0">
                <a:solidFill>
                  <a:srgbClr val="956320"/>
                </a:solidFill>
              </a:rPr>
              <a:t>n)</a:t>
            </a:r>
          </a:p>
        </p:txBody>
      </p:sp>
    </p:spTree>
    <p:extLst>
      <p:ext uri="{BB962C8B-B14F-4D97-AF65-F5344CB8AC3E}">
        <p14:creationId xmlns:p14="http://schemas.microsoft.com/office/powerpoint/2010/main" val="2745163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Plenary</a:t>
            </a:r>
          </a:p>
        </p:txBody>
      </p:sp>
      <p:sp>
        <p:nvSpPr>
          <p:cNvPr id="3" name="Text Placeholder 2"/>
          <p:cNvSpPr>
            <a:spLocks noGrp="1"/>
          </p:cNvSpPr>
          <p:nvPr>
            <p:ph type="body" sz="quarter" idx="14"/>
          </p:nvPr>
        </p:nvSpPr>
        <p:spPr/>
        <p:txBody>
          <a:bodyPr/>
          <a:lstStyle/>
          <a:p>
            <a:r>
              <a:rPr lang="en-GB" dirty="0"/>
              <a:t>The binary search is a very efficient algorithm for searching a sorted list</a:t>
            </a:r>
          </a:p>
          <a:p>
            <a:r>
              <a:rPr lang="en-GB" dirty="0"/>
              <a:t>You should be able to trace its execution</a:t>
            </a:r>
          </a:p>
          <a:p>
            <a:r>
              <a:rPr lang="en-GB" dirty="0"/>
              <a:t>There are many different sorting algorithms, with different time complexities</a:t>
            </a:r>
          </a:p>
          <a:p>
            <a:r>
              <a:rPr lang="en-GB" dirty="0"/>
              <a:t>You need to be able to trace the algorithms for a simple sort </a:t>
            </a:r>
          </a:p>
          <a:p>
            <a:r>
              <a:rPr lang="en-GB" dirty="0"/>
              <a:t>You should be able to describe the general principle of the merge sort</a:t>
            </a:r>
          </a:p>
          <a:p>
            <a:endParaRPr lang="en-GB" dirty="0"/>
          </a:p>
        </p:txBody>
      </p:sp>
    </p:spTree>
    <p:extLst>
      <p:ext uri="{BB962C8B-B14F-4D97-AF65-F5344CB8AC3E}">
        <p14:creationId xmlns:p14="http://schemas.microsoft.com/office/powerpoint/2010/main" val="3954394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338289"/>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738AE6DF-F973-4CB3-9863-413381C13437}" vid="{8A57B9FA-CF29-4BAE-96E5-0FA2E85487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Unit 8</Template>
  <TotalTime>6638</TotalTime>
  <Words>805</Words>
  <Application>Microsoft Office PowerPoint</Application>
  <PresentationFormat>On-screen Show (4:3)</PresentationFormat>
  <Paragraphs>201</Paragraphs>
  <Slides>23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Corbel</vt:lpstr>
      <vt:lpstr>Consolas</vt:lpstr>
      <vt:lpstr>Calibri</vt:lpstr>
      <vt:lpstr>Wingdings</vt:lpstr>
      <vt:lpstr>Museo900-Regular</vt:lpstr>
      <vt:lpstr>Museo 900</vt:lpstr>
      <vt:lpstr>Arial</vt:lpstr>
      <vt:lpstr>Museo 700</vt:lpstr>
      <vt:lpstr>Museo 100</vt:lpstr>
      <vt:lpstr>Museo 500</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Leonora Sheppard</dc:creator>
  <cp:lastModifiedBy>Robert Heathcote</cp:lastModifiedBy>
  <cp:revision>135</cp:revision>
  <dcterms:created xsi:type="dcterms:W3CDTF">2015-10-07T15:45:11Z</dcterms:created>
  <dcterms:modified xsi:type="dcterms:W3CDTF">2016-10-15T18:11:00Z</dcterms:modified>
</cp:coreProperties>
</file>