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5"/>
  </p:notesMasterIdLst>
  <p:sldIdLst>
    <p:sldId id="260" r:id="rId2"/>
    <p:sldId id="261" r:id="rId3"/>
    <p:sldId id="262" r:id="rId4"/>
    <p:sldId id="263" r:id="rId5"/>
    <p:sldId id="264" r:id="rId6"/>
    <p:sldId id="265" r:id="rId7"/>
    <p:sldId id="266" r:id="rId8"/>
    <p:sldId id="267" r:id="rId9"/>
    <p:sldId id="269" r:id="rId10"/>
    <p:sldId id="270" r:id="rId11"/>
    <p:sldId id="271" r:id="rId12"/>
    <p:sldId id="272" r:id="rId13"/>
    <p:sldId id="273" r:id="rId14"/>
    <p:sldId id="274" r:id="rId15"/>
    <p:sldId id="275" r:id="rId16"/>
    <p:sldId id="276" r:id="rId17"/>
    <p:sldId id="277" r:id="rId18"/>
    <p:sldId id="278" r:id="rId19"/>
    <p:sldId id="279" r:id="rId20"/>
    <p:sldId id="280" r:id="rId21"/>
    <p:sldId id="281" r:id="rId22"/>
    <p:sldId id="282" r:id="rId23"/>
    <p:sldId id="283" r:id="rId24"/>
  </p:sldIdLst>
  <p:sldSz cx="9144000" cy="6858000" type="screen4x3"/>
  <p:notesSz cx="6858000" cy="9144000"/>
  <p:embeddedFontLst>
    <p:embeddedFont>
      <p:font typeface="Museo 900" panose="02000000000000000000" pitchFamily="2" charset="0"/>
      <p:bold r:id="rId26"/>
    </p:embeddedFont>
    <p:embeddedFont>
      <p:font typeface="Museo 100" panose="02000000000000000000" pitchFamily="2" charset="0"/>
      <p:regular r:id="rId27"/>
    </p:embeddedFont>
    <p:embeddedFont>
      <p:font typeface="Calibri" panose="020F0502020204030204" pitchFamily="34" charset="0"/>
      <p:regular r:id="rId28"/>
      <p:bold r:id="rId29"/>
      <p:italic r:id="rId30"/>
      <p:boldItalic r:id="rId31"/>
    </p:embeddedFont>
    <p:embeddedFont>
      <p:font typeface="Consolas" panose="020B0609020204030204" pitchFamily="49" charset="0"/>
      <p:regular r:id="rId32"/>
      <p:bold r:id="rId33"/>
      <p:italic r:id="rId34"/>
      <p:boldItalic r:id="rId35"/>
    </p:embeddedFont>
    <p:embeddedFont>
      <p:font typeface="Museo 700" panose="02000000000000000000" pitchFamily="2" charset="0"/>
      <p:bold r:id="rId36"/>
    </p:embeddedFont>
    <p:embeddedFont>
      <p:font typeface="Museo 500" panose="02000000000000000000" pitchFamily="2" charset="0"/>
      <p:regular r:id="rId37"/>
    </p:embeddedFont>
    <p:embeddedFont>
      <p:font typeface="Museo900-Regular" panose="02000000000000000000" pitchFamily="2" charset="0"/>
      <p:bold r:id="rId3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45">
          <p15:clr>
            <a:srgbClr val="A4A3A4"/>
          </p15:clr>
        </p15:guide>
        <p15:guide id="2" orient="horz" pos="3232">
          <p15:clr>
            <a:srgbClr val="A4A3A4"/>
          </p15:clr>
        </p15:guide>
        <p15:guide id="3" orient="horz" pos="1912">
          <p15:clr>
            <a:srgbClr val="A4A3A4"/>
          </p15:clr>
        </p15:guide>
        <p15:guide id="4" pos="5380">
          <p15:clr>
            <a:srgbClr val="A4A3A4"/>
          </p15:clr>
        </p15:guide>
        <p15:guide id="5" pos="295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46AB4"/>
    <a:srgbClr val="36A7D4"/>
    <a:srgbClr val="843754"/>
    <a:srgbClr val="E35999"/>
    <a:srgbClr val="EE3127"/>
    <a:srgbClr val="A41E21"/>
    <a:srgbClr val="238296"/>
    <a:srgbClr val="5C89A4"/>
    <a:srgbClr val="D1919B"/>
    <a:srgbClr val="C396A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60"/>
  </p:normalViewPr>
  <p:slideViewPr>
    <p:cSldViewPr snapToGrid="0" snapToObjects="1" showGuides="1">
      <p:cViewPr varScale="1">
        <p:scale>
          <a:sx n="66" d="100"/>
          <a:sy n="66" d="100"/>
        </p:scale>
        <p:origin x="60" y="378"/>
      </p:cViewPr>
      <p:guideLst>
        <p:guide orient="horz" pos="1245"/>
        <p:guide orient="horz" pos="3232"/>
        <p:guide orient="horz" pos="1912"/>
        <p:guide pos="5380"/>
        <p:guide pos="2959"/>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56C703-0827-4D98-8015-40DEE3C186A7}" type="datetimeFigureOut">
              <a:rPr lang="en-GB" smtClean="0"/>
              <a:t>16/04/2016</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798D5B-57F4-4A7F-8DDC-A432FF1B0DAA}" type="slidenum">
              <a:rPr lang="en-GB" smtClean="0"/>
              <a:t>‹#›</a:t>
            </a:fld>
            <a:endParaRPr lang="en-GB"/>
          </a:p>
        </p:txBody>
      </p:sp>
    </p:spTree>
    <p:extLst>
      <p:ext uri="{BB962C8B-B14F-4D97-AF65-F5344CB8AC3E}">
        <p14:creationId xmlns:p14="http://schemas.microsoft.com/office/powerpoint/2010/main" val="804381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9" name="Picture 18" descr="Unit 1.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cxnSp>
        <p:nvCxnSpPr>
          <p:cNvPr id="14" name="Straight Connector 13"/>
          <p:cNvCxnSpPr/>
          <p:nvPr userDrawn="1"/>
        </p:nvCxnSpPr>
        <p:spPr>
          <a:xfrm>
            <a:off x="4559300" y="1905000"/>
            <a:ext cx="0" cy="2551766"/>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0" name="Text Placeholder 19"/>
          <p:cNvSpPr>
            <a:spLocks noGrp="1"/>
          </p:cNvSpPr>
          <p:nvPr>
            <p:ph type="body" sz="quarter" idx="10"/>
          </p:nvPr>
        </p:nvSpPr>
        <p:spPr>
          <a:xfrm>
            <a:off x="1803400" y="1841231"/>
            <a:ext cx="2527300" cy="2201863"/>
          </a:xfrm>
          <a:prstGeom prst="rect">
            <a:avLst/>
          </a:prstGeom>
        </p:spPr>
        <p:txBody>
          <a:bodyPr vert="horz" lIns="0"/>
          <a:lstStyle>
            <a:lvl1pPr marL="0" indent="0">
              <a:lnSpc>
                <a:spcPts val="4800"/>
              </a:lnSpc>
              <a:spcBef>
                <a:spcPts val="0"/>
              </a:spcBef>
              <a:buNone/>
              <a:defRPr sz="4500" b="1" kern="0" spc="-140">
                <a:solidFill>
                  <a:schemeClr val="bg1"/>
                </a:solidFill>
                <a:latin typeface="Arial"/>
                <a:cs typeface="Arial"/>
              </a:defRPr>
            </a:lvl1pPr>
            <a:lvl2pPr marL="0" indent="0">
              <a:lnSpc>
                <a:spcPts val="2500"/>
              </a:lnSpc>
              <a:spcBef>
                <a:spcPts val="0"/>
              </a:spcBef>
              <a:buNone/>
              <a:defRPr sz="2500" kern="0" spc="-140">
                <a:solidFill>
                  <a:schemeClr val="bg1"/>
                </a:solidFill>
                <a:latin typeface="Arial"/>
                <a:cs typeface="Arial"/>
              </a:defRPr>
            </a:lvl2pPr>
            <a:lvl3pPr marL="0" indent="0">
              <a:lnSpc>
                <a:spcPts val="4800"/>
              </a:lnSpc>
              <a:spcBef>
                <a:spcPts val="0"/>
              </a:spcBef>
              <a:buNone/>
              <a:defRPr sz="4500">
                <a:solidFill>
                  <a:schemeClr val="bg1"/>
                </a:solidFill>
                <a:latin typeface="Arial"/>
                <a:cs typeface="Arial"/>
              </a:defRPr>
            </a:lvl3pPr>
            <a:lvl4pPr marL="0" indent="0">
              <a:lnSpc>
                <a:spcPts val="2600"/>
              </a:lnSpc>
              <a:spcBef>
                <a:spcPts val="0"/>
              </a:spcBef>
              <a:buNone/>
              <a:defRPr sz="3000">
                <a:solidFill>
                  <a:srgbClr val="36A7D4"/>
                </a:solidFill>
                <a:latin typeface="Arial"/>
                <a:cs typeface="Arial"/>
              </a:defRPr>
            </a:lvl4pPr>
            <a:lvl5pPr marL="1828800" indent="0">
              <a:buNone/>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21" name="Text Placeholder 19"/>
          <p:cNvSpPr>
            <a:spLocks noGrp="1"/>
          </p:cNvSpPr>
          <p:nvPr>
            <p:ph type="body" sz="quarter" idx="11"/>
          </p:nvPr>
        </p:nvSpPr>
        <p:spPr>
          <a:xfrm>
            <a:off x="4800600" y="1841231"/>
            <a:ext cx="2768600" cy="2201863"/>
          </a:xfrm>
          <a:prstGeom prst="rect">
            <a:avLst/>
          </a:prstGeom>
        </p:spPr>
        <p:txBody>
          <a:bodyPr vert="horz" lIns="0"/>
          <a:lstStyle>
            <a:lvl1pPr marL="0" indent="0">
              <a:lnSpc>
                <a:spcPts val="2600"/>
              </a:lnSpc>
              <a:spcBef>
                <a:spcPts val="0"/>
              </a:spcBef>
              <a:buNone/>
              <a:defRPr sz="2600" b="1" kern="0" spc="-60">
                <a:solidFill>
                  <a:schemeClr val="bg1"/>
                </a:solidFill>
                <a:latin typeface="Arial"/>
                <a:cs typeface="Arial"/>
              </a:defRPr>
            </a:lvl1pPr>
            <a:lvl2pPr marL="0" indent="0">
              <a:lnSpc>
                <a:spcPts val="2000"/>
              </a:lnSpc>
              <a:spcBef>
                <a:spcPts val="500"/>
              </a:spcBef>
              <a:buNone/>
              <a:defRPr sz="1800">
                <a:solidFill>
                  <a:schemeClr val="bg1"/>
                </a:solidFill>
                <a:latin typeface="Arial"/>
                <a:cs typeface="Arial"/>
              </a:defRPr>
            </a:lvl2pPr>
            <a:lvl3pPr marL="0" indent="0">
              <a:buNone/>
              <a:defRPr sz="3000">
                <a:solidFill>
                  <a:srgbClr val="ECCC7B"/>
                </a:solidFill>
                <a:latin typeface="Arial"/>
                <a:cs typeface="Arial"/>
              </a:defRPr>
            </a:lvl3pPr>
            <a:lvl4pPr marL="1371600" indent="0">
              <a:buNone/>
              <a:defRPr/>
            </a:lvl4pPr>
            <a:lvl5pPr marL="1828800" indent="0">
              <a:buNone/>
              <a:defRPr/>
            </a:lvl5pPr>
          </a:lstStyle>
          <a:p>
            <a:pPr lvl="0"/>
            <a:r>
              <a:rPr lang="en-US" smtClean="0"/>
              <a:t>Click to edit Master text styles</a:t>
            </a:r>
          </a:p>
          <a:p>
            <a:pPr lvl="1"/>
            <a:r>
              <a:rPr lang="en-US" smtClean="0"/>
              <a:t>Second level</a:t>
            </a:r>
          </a:p>
        </p:txBody>
      </p:sp>
      <p:pic>
        <p:nvPicPr>
          <p:cNvPr id="8" name="Picture 7" descr="Logo.ai"/>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150685" y="4018819"/>
            <a:ext cx="2291515" cy="456997"/>
          </a:xfrm>
          <a:prstGeom prst="rect">
            <a:avLst/>
          </a:prstGeom>
        </p:spPr>
      </p:pic>
      <p:sp>
        <p:nvSpPr>
          <p:cNvPr id="10" name="Hexagon 9"/>
          <p:cNvSpPr/>
          <p:nvPr userDrawn="1"/>
        </p:nvSpPr>
        <p:spPr>
          <a:xfrm>
            <a:off x="1072794" y="4100382"/>
            <a:ext cx="1080000" cy="972000"/>
          </a:xfrm>
          <a:prstGeom prst="hexagon">
            <a:avLst/>
          </a:prstGeom>
          <a:noFill/>
          <a:ln w="114300">
            <a:solidFill>
              <a:srgbClr val="36A7D4"/>
            </a:solidFill>
            <a:miter lim="800000"/>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4500" b="1" dirty="0" smtClean="0">
                <a:solidFill>
                  <a:srgbClr val="36A7D4"/>
                </a:solidFill>
                <a:latin typeface="Arial"/>
                <a:cs typeface="Arial"/>
              </a:rPr>
              <a:t>3</a:t>
            </a:r>
            <a:endParaRPr lang="en-US" sz="4500" b="1" dirty="0">
              <a:solidFill>
                <a:srgbClr val="36A7D4"/>
              </a:solidFill>
              <a:latin typeface="Arial"/>
              <a:cs typeface="Arial"/>
            </a:endParaRPr>
          </a:p>
        </p:txBody>
      </p:sp>
    </p:spTree>
    <p:extLst>
      <p:ext uri="{BB962C8B-B14F-4D97-AF65-F5344CB8AC3E}">
        <p14:creationId xmlns:p14="http://schemas.microsoft.com/office/powerpoint/2010/main" val="38863859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Custom Layout">
    <p:bg>
      <p:bgPr>
        <a:solidFill>
          <a:srgbClr val="246AB4"/>
        </a:solidFill>
        <a:effectLst/>
      </p:bgPr>
    </p:bg>
    <p:spTree>
      <p:nvGrpSpPr>
        <p:cNvPr id="1" name=""/>
        <p:cNvGrpSpPr/>
        <p:nvPr/>
      </p:nvGrpSpPr>
      <p:grpSpPr>
        <a:xfrm>
          <a:off x="0" y="0"/>
          <a:ext cx="0" cy="0"/>
          <a:chOff x="0" y="0"/>
          <a:chExt cx="0" cy="0"/>
        </a:xfrm>
      </p:grpSpPr>
      <p:cxnSp>
        <p:nvCxnSpPr>
          <p:cNvPr id="8" name="Straight Connector 7"/>
          <p:cNvCxnSpPr/>
          <p:nvPr userDrawn="1"/>
        </p:nvCxnSpPr>
        <p:spPr>
          <a:xfrm>
            <a:off x="584200" y="1702800"/>
            <a:ext cx="0" cy="2561290"/>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0" name="Text Placeholder 11"/>
          <p:cNvSpPr>
            <a:spLocks noGrp="1"/>
          </p:cNvSpPr>
          <p:nvPr>
            <p:ph type="body" sz="quarter" idx="14"/>
          </p:nvPr>
        </p:nvSpPr>
        <p:spPr>
          <a:xfrm>
            <a:off x="723600" y="1702799"/>
            <a:ext cx="7861300" cy="4918133"/>
          </a:xfrm>
          <a:prstGeom prst="rect">
            <a:avLst/>
          </a:prstGeom>
        </p:spPr>
        <p:txBody>
          <a:bodyPr vert="horz" lIns="0" tIns="0" rIns="0" b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0" indent="0">
              <a:lnSpc>
                <a:spcPts val="2000"/>
              </a:lnSpc>
              <a:buNone/>
              <a:defRPr sz="2000">
                <a:solidFill>
                  <a:srgbClr val="9D9FA2"/>
                </a:solidFill>
                <a:latin typeface="Arial"/>
                <a:cs typeface="Arial"/>
              </a:defRPr>
            </a:lvl2pPr>
          </a:lstStyle>
          <a:p>
            <a:pPr lvl="0"/>
            <a:r>
              <a:rPr lang="en-US" smtClean="0"/>
              <a:t>Click to edit Master text styles</a:t>
            </a:r>
          </a:p>
        </p:txBody>
      </p:sp>
      <p:sp>
        <p:nvSpPr>
          <p:cNvPr id="5"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bg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smtClean="0"/>
              <a:t>Click to edit Master text styles</a:t>
            </a:r>
          </a:p>
        </p:txBody>
      </p:sp>
    </p:spTree>
    <p:extLst>
      <p:ext uri="{BB962C8B-B14F-4D97-AF65-F5344CB8AC3E}">
        <p14:creationId xmlns:p14="http://schemas.microsoft.com/office/powerpoint/2010/main" val="2265425468"/>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Custom Layout">
    <p:bg>
      <p:bgPr>
        <a:solidFill>
          <a:srgbClr val="36A7D4"/>
        </a:solidFill>
        <a:effectLst/>
      </p:bgPr>
    </p:bg>
    <p:spTree>
      <p:nvGrpSpPr>
        <p:cNvPr id="1" name=""/>
        <p:cNvGrpSpPr/>
        <p:nvPr/>
      </p:nvGrpSpPr>
      <p:grpSpPr>
        <a:xfrm>
          <a:off x="0" y="0"/>
          <a:ext cx="0" cy="0"/>
          <a:chOff x="0" y="0"/>
          <a:chExt cx="0" cy="0"/>
        </a:xfrm>
      </p:grpSpPr>
      <p:cxnSp>
        <p:nvCxnSpPr>
          <p:cNvPr id="9" name="Straight Connector 8"/>
          <p:cNvCxnSpPr/>
          <p:nvPr userDrawn="1"/>
        </p:nvCxnSpPr>
        <p:spPr>
          <a:xfrm>
            <a:off x="584200" y="1702800"/>
            <a:ext cx="0" cy="1714500"/>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6"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bg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smtClean="0"/>
              <a:t>Click to edit Master text styles</a:t>
            </a:r>
          </a:p>
        </p:txBody>
      </p:sp>
      <p:sp>
        <p:nvSpPr>
          <p:cNvPr id="10" name="Text Placeholder 11"/>
          <p:cNvSpPr>
            <a:spLocks noGrp="1"/>
          </p:cNvSpPr>
          <p:nvPr>
            <p:ph type="body" sz="quarter" idx="14"/>
          </p:nvPr>
        </p:nvSpPr>
        <p:spPr>
          <a:xfrm>
            <a:off x="723600" y="1702799"/>
            <a:ext cx="7861300" cy="4918133"/>
          </a:xfrm>
          <a:prstGeom prst="rect">
            <a:avLst/>
          </a:prstGeom>
        </p:spPr>
        <p:txBody>
          <a:bodyPr vert="horz" lIns="0" tIns="0" rIns="0" b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0" indent="0">
              <a:lnSpc>
                <a:spcPts val="2000"/>
              </a:lnSpc>
              <a:buNone/>
              <a:defRPr sz="2000">
                <a:solidFill>
                  <a:srgbClr val="9D9FA2"/>
                </a:solidFill>
                <a:latin typeface="Arial"/>
                <a:cs typeface="Arial"/>
              </a:defRPr>
            </a:lvl2pPr>
          </a:lstStyle>
          <a:p>
            <a:pPr lvl="0"/>
            <a:r>
              <a:rPr lang="en-US" smtClean="0"/>
              <a:t>Click to edit Master text styles</a:t>
            </a:r>
          </a:p>
        </p:txBody>
      </p:sp>
    </p:spTree>
    <p:extLst>
      <p:ext uri="{BB962C8B-B14F-4D97-AF65-F5344CB8AC3E}">
        <p14:creationId xmlns:p14="http://schemas.microsoft.com/office/powerpoint/2010/main" val="39392718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42" name="Picture 41" descr="Unit 1.jpg"/>
          <p:cNvPicPr>
            <a:picLocks noChangeAspect="1"/>
          </p:cNvPicPr>
          <p:nvPr userDrawn="1"/>
        </p:nvPicPr>
        <p:blipFill rotWithShape="1">
          <a:blip r:embed="rId2">
            <a:extLst>
              <a:ext uri="{28A0092B-C50C-407E-A947-70E740481C1C}">
                <a14:useLocalDpi xmlns:a14="http://schemas.microsoft.com/office/drawing/2010/main" val="0"/>
              </a:ext>
            </a:extLst>
          </a:blip>
          <a:srcRect b="90370"/>
          <a:stretch/>
        </p:blipFill>
        <p:spPr>
          <a:xfrm>
            <a:off x="0" y="0"/>
            <a:ext cx="9144000" cy="660400"/>
          </a:xfrm>
          <a:prstGeom prst="rect">
            <a:avLst/>
          </a:prstGeom>
        </p:spPr>
      </p:pic>
      <p:pic>
        <p:nvPicPr>
          <p:cNvPr id="6" name="Picture 5" descr="Untitled-1.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016500" y="901700"/>
            <a:ext cx="2979807" cy="3251200"/>
          </a:xfrm>
          <a:prstGeom prst="rect">
            <a:avLst/>
          </a:prstGeom>
        </p:spPr>
      </p:pic>
      <p:sp>
        <p:nvSpPr>
          <p:cNvPr id="15"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smtClean="0"/>
              <a:t>Click to edit Master text styles</a:t>
            </a:r>
          </a:p>
        </p:txBody>
      </p:sp>
      <p:sp>
        <p:nvSpPr>
          <p:cNvPr id="8"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246AB4"/>
                </a:solidFill>
                <a:latin typeface="Arial"/>
                <a:cs typeface="Arial"/>
              </a:defRPr>
            </a:lvl2pPr>
            <a:lvl3pPr marL="723900" indent="-279400">
              <a:lnSpc>
                <a:spcPct val="100000"/>
              </a:lnSpc>
              <a:buFont typeface="Arial"/>
              <a:buChar char="•"/>
              <a:defRPr lang="en-US" sz="2000" kern="1200" baseline="0" dirty="0" smtClean="0">
                <a:solidFill>
                  <a:srgbClr val="36A7D4"/>
                </a:solidFill>
                <a:latin typeface="Arial"/>
                <a:ea typeface="+mn-ea"/>
                <a:cs typeface="Arial"/>
              </a:defRPr>
            </a:lvl3pPr>
          </a:lstStyle>
          <a:p>
            <a:pPr lvl="0"/>
            <a:r>
              <a:rPr lang="en-US" smtClean="0"/>
              <a:t>Click to edit Master text styles</a:t>
            </a:r>
          </a:p>
          <a:p>
            <a:pPr lvl="1"/>
            <a:r>
              <a:rPr lang="en-US" smtClean="0"/>
              <a:t>Second level</a:t>
            </a:r>
          </a:p>
          <a:p>
            <a:pPr lvl="2"/>
            <a:r>
              <a:rPr lang="en-US" smtClean="0"/>
              <a:t>Third level</a:t>
            </a:r>
          </a:p>
        </p:txBody>
      </p:sp>
      <p:sp>
        <p:nvSpPr>
          <p:cNvPr id="3" name="TextBox 2"/>
          <p:cNvSpPr txBox="1"/>
          <p:nvPr userDrawn="1"/>
        </p:nvSpPr>
        <p:spPr>
          <a:xfrm>
            <a:off x="701965" y="156700"/>
            <a:ext cx="8067635" cy="452432"/>
          </a:xfrm>
          <a:prstGeom prst="rect">
            <a:avLst/>
          </a:prstGeom>
          <a:noFill/>
        </p:spPr>
        <p:txBody>
          <a:bodyPr wrap="square" lIns="0" tIns="0" rIns="0" rtlCol="0">
            <a:noAutofit/>
          </a:bodyPr>
          <a:lstStyle/>
          <a:p>
            <a:pPr marL="0" marR="0" indent="0" algn="l" defTabSz="457200" rtl="0" eaLnBrk="1" fontAlgn="auto" latinLnBrk="0" hangingPunct="1">
              <a:lnSpc>
                <a:spcPct val="100000"/>
              </a:lnSpc>
              <a:spcBef>
                <a:spcPts val="288"/>
              </a:spcBef>
              <a:spcAft>
                <a:spcPts val="0"/>
              </a:spcAft>
              <a:buClrTx/>
              <a:buSzTx/>
              <a:buFontTx/>
              <a:buNone/>
              <a:tabLst/>
              <a:defRPr/>
            </a:pPr>
            <a:r>
              <a:rPr lang="en-US" sz="1200" b="1" dirty="0" smtClean="0">
                <a:solidFill>
                  <a:srgbClr val="FFFFFF"/>
                </a:solidFill>
                <a:latin typeface="Arial"/>
                <a:cs typeface="Arial"/>
              </a:rPr>
              <a:t>Iteration</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dirty="0" smtClean="0">
                <a:solidFill>
                  <a:srgbClr val="FFFFFF"/>
                </a:solidFill>
                <a:latin typeface="Arial"/>
                <a:cs typeface="Arial"/>
              </a:rPr>
              <a:t>Unit 1 Fundamentals of programming</a:t>
            </a:r>
          </a:p>
          <a:p>
            <a:pPr>
              <a:spcBef>
                <a:spcPts val="288"/>
              </a:spcBef>
            </a:pPr>
            <a:endParaRPr lang="en-US" sz="1200" b="0" dirty="0" smtClean="0">
              <a:solidFill>
                <a:srgbClr val="FFFFFF"/>
              </a:solidFill>
              <a:latin typeface="Arial"/>
              <a:cs typeface="Arial"/>
            </a:endParaRPr>
          </a:p>
        </p:txBody>
      </p:sp>
      <p:pic>
        <p:nvPicPr>
          <p:cNvPr id="44" name="Picture 43" descr="Logo Unit 1.ai"/>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93600" y="6339600"/>
            <a:ext cx="1476000" cy="294359"/>
          </a:xfrm>
          <a:prstGeom prst="rect">
            <a:avLst/>
          </a:prstGeom>
        </p:spPr>
      </p:pic>
    </p:spTree>
    <p:extLst>
      <p:ext uri="{BB962C8B-B14F-4D97-AF65-F5344CB8AC3E}">
        <p14:creationId xmlns:p14="http://schemas.microsoft.com/office/powerpoint/2010/main" val="2849720375"/>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66" name="Picture 65" descr="Unit 1.jpg"/>
          <p:cNvPicPr>
            <a:picLocks noChangeAspect="1"/>
          </p:cNvPicPr>
          <p:nvPr userDrawn="1"/>
        </p:nvPicPr>
        <p:blipFill rotWithShape="1">
          <a:blip r:embed="rId2">
            <a:extLst>
              <a:ext uri="{28A0092B-C50C-407E-A947-70E740481C1C}">
                <a14:useLocalDpi xmlns:a14="http://schemas.microsoft.com/office/drawing/2010/main" val="0"/>
              </a:ext>
            </a:extLst>
          </a:blip>
          <a:srcRect b="90370"/>
          <a:stretch/>
        </p:blipFill>
        <p:spPr>
          <a:xfrm>
            <a:off x="0" y="0"/>
            <a:ext cx="9144000" cy="660400"/>
          </a:xfrm>
          <a:prstGeom prst="rect">
            <a:avLst/>
          </a:prstGeom>
        </p:spPr>
      </p:pic>
      <p:sp>
        <p:nvSpPr>
          <p:cNvPr id="67"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smtClean="0"/>
              <a:t>Click to edit Master text styles</a:t>
            </a:r>
          </a:p>
        </p:txBody>
      </p:sp>
      <p:sp>
        <p:nvSpPr>
          <p:cNvPr id="68"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246AB4"/>
                </a:solidFill>
                <a:latin typeface="Arial"/>
                <a:cs typeface="Arial"/>
              </a:defRPr>
            </a:lvl2pPr>
            <a:lvl3pPr marL="723900" indent="-279400">
              <a:lnSpc>
                <a:spcPct val="100000"/>
              </a:lnSpc>
              <a:buFont typeface="Arial"/>
              <a:buChar char="•"/>
              <a:defRPr lang="en-US" sz="2000" kern="1200" baseline="0" dirty="0" smtClean="0">
                <a:solidFill>
                  <a:srgbClr val="36A7D4"/>
                </a:solidFill>
                <a:latin typeface="Arial"/>
                <a:ea typeface="+mn-ea"/>
                <a:cs typeface="Arial"/>
              </a:defRPr>
            </a:lvl3pPr>
          </a:lstStyle>
          <a:p>
            <a:pPr lvl="0"/>
            <a:r>
              <a:rPr lang="en-US" smtClean="0"/>
              <a:t>Click to edit Master text styles</a:t>
            </a:r>
          </a:p>
          <a:p>
            <a:pPr lvl="1"/>
            <a:r>
              <a:rPr lang="en-US" smtClean="0"/>
              <a:t>Second level</a:t>
            </a:r>
          </a:p>
          <a:p>
            <a:pPr lvl="2"/>
            <a:r>
              <a:rPr lang="en-US" smtClean="0"/>
              <a:t>Third level</a:t>
            </a:r>
          </a:p>
        </p:txBody>
      </p:sp>
      <p:sp>
        <p:nvSpPr>
          <p:cNvPr id="69" name="TextBox 68"/>
          <p:cNvSpPr txBox="1"/>
          <p:nvPr userDrawn="1"/>
        </p:nvSpPr>
        <p:spPr>
          <a:xfrm>
            <a:off x="752495" y="156700"/>
            <a:ext cx="8067635" cy="452432"/>
          </a:xfrm>
          <a:prstGeom prst="rect">
            <a:avLst/>
          </a:prstGeom>
          <a:noFill/>
        </p:spPr>
        <p:txBody>
          <a:bodyPr wrap="square" lIns="0" tIns="0" rIns="0" rtlCol="0">
            <a:noAutofit/>
          </a:bodyPr>
          <a:lstStyle/>
          <a:p>
            <a:pPr marL="0" marR="0" indent="0" algn="l" defTabSz="457200" rtl="0" eaLnBrk="1" fontAlgn="auto" latinLnBrk="0" hangingPunct="1">
              <a:lnSpc>
                <a:spcPct val="100000"/>
              </a:lnSpc>
              <a:spcBef>
                <a:spcPts val="288"/>
              </a:spcBef>
              <a:spcAft>
                <a:spcPts val="0"/>
              </a:spcAft>
              <a:buClrTx/>
              <a:buSzTx/>
              <a:buFontTx/>
              <a:buNone/>
              <a:tabLst/>
              <a:defRPr/>
            </a:pPr>
            <a:r>
              <a:rPr lang="en-US" sz="1200" b="1" dirty="0" smtClean="0">
                <a:solidFill>
                  <a:srgbClr val="FFFFFF"/>
                </a:solidFill>
                <a:latin typeface="Arial"/>
                <a:cs typeface="Arial"/>
              </a:rPr>
              <a:t>Iteration</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dirty="0" smtClean="0">
                <a:solidFill>
                  <a:srgbClr val="FFFFFF"/>
                </a:solidFill>
                <a:latin typeface="Arial"/>
                <a:cs typeface="Arial"/>
              </a:rPr>
              <a:t>Unit 1 Fundamentals of programming</a:t>
            </a:r>
          </a:p>
        </p:txBody>
      </p:sp>
      <p:pic>
        <p:nvPicPr>
          <p:cNvPr id="70" name="Picture 69" descr="Logo Unit 1.ai"/>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293600" y="6339600"/>
            <a:ext cx="1476000" cy="294359"/>
          </a:xfrm>
          <a:prstGeom prst="rect">
            <a:avLst/>
          </a:prstGeom>
        </p:spPr>
      </p:pic>
    </p:spTree>
    <p:extLst>
      <p:ext uri="{BB962C8B-B14F-4D97-AF65-F5344CB8AC3E}">
        <p14:creationId xmlns:p14="http://schemas.microsoft.com/office/powerpoint/2010/main" val="4180777422"/>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pic>
        <p:nvPicPr>
          <p:cNvPr id="10" name="Picture 9" descr="Untitled-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16500" y="901700"/>
            <a:ext cx="2979807" cy="3251200"/>
          </a:xfrm>
          <a:prstGeom prst="rect">
            <a:avLst/>
          </a:prstGeom>
        </p:spPr>
      </p:pic>
      <p:pic>
        <p:nvPicPr>
          <p:cNvPr id="55" name="Picture 54" descr="Unit 1.jpg"/>
          <p:cNvPicPr>
            <a:picLocks noChangeAspect="1"/>
          </p:cNvPicPr>
          <p:nvPr userDrawn="1"/>
        </p:nvPicPr>
        <p:blipFill rotWithShape="1">
          <a:blip r:embed="rId3">
            <a:extLst>
              <a:ext uri="{28A0092B-C50C-407E-A947-70E740481C1C}">
                <a14:useLocalDpi xmlns:a14="http://schemas.microsoft.com/office/drawing/2010/main" val="0"/>
              </a:ext>
            </a:extLst>
          </a:blip>
          <a:srcRect b="90370"/>
          <a:stretch/>
        </p:blipFill>
        <p:spPr>
          <a:xfrm>
            <a:off x="0" y="0"/>
            <a:ext cx="9144000" cy="660400"/>
          </a:xfrm>
          <a:prstGeom prst="rect">
            <a:avLst/>
          </a:prstGeom>
        </p:spPr>
      </p:pic>
      <p:sp>
        <p:nvSpPr>
          <p:cNvPr id="56"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smtClean="0"/>
              <a:t>Click to edit Master text styles</a:t>
            </a:r>
          </a:p>
        </p:txBody>
      </p:sp>
      <p:sp>
        <p:nvSpPr>
          <p:cNvPr id="57"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246AB4"/>
                </a:solidFill>
                <a:latin typeface="Arial"/>
                <a:cs typeface="Arial"/>
              </a:defRPr>
            </a:lvl2pPr>
            <a:lvl3pPr marL="723900" indent="-279400">
              <a:lnSpc>
                <a:spcPct val="100000"/>
              </a:lnSpc>
              <a:buFont typeface="Arial"/>
              <a:buChar char="•"/>
              <a:defRPr lang="en-US" sz="2000" kern="1200" baseline="0" dirty="0" smtClean="0">
                <a:solidFill>
                  <a:srgbClr val="36A7D4"/>
                </a:solidFill>
                <a:latin typeface="Arial"/>
                <a:ea typeface="+mn-ea"/>
                <a:cs typeface="Arial"/>
              </a:defRPr>
            </a:lvl3pPr>
          </a:lstStyle>
          <a:p>
            <a:pPr lvl="0"/>
            <a:r>
              <a:rPr lang="en-US" smtClean="0"/>
              <a:t>Click to edit Master text styles</a:t>
            </a:r>
          </a:p>
          <a:p>
            <a:pPr lvl="1"/>
            <a:r>
              <a:rPr lang="en-US" smtClean="0"/>
              <a:t>Second level</a:t>
            </a:r>
          </a:p>
          <a:p>
            <a:pPr lvl="2"/>
            <a:r>
              <a:rPr lang="en-US" smtClean="0"/>
              <a:t>Third level</a:t>
            </a:r>
          </a:p>
        </p:txBody>
      </p:sp>
      <p:sp>
        <p:nvSpPr>
          <p:cNvPr id="58" name="TextBox 57"/>
          <p:cNvSpPr txBox="1"/>
          <p:nvPr userDrawn="1"/>
        </p:nvSpPr>
        <p:spPr>
          <a:xfrm>
            <a:off x="752495" y="156700"/>
            <a:ext cx="8067635" cy="452432"/>
          </a:xfrm>
          <a:prstGeom prst="rect">
            <a:avLst/>
          </a:prstGeom>
          <a:noFill/>
        </p:spPr>
        <p:txBody>
          <a:bodyPr wrap="square" lIns="0" tIns="0" rIns="0" rtlCol="0">
            <a:noAutofit/>
          </a:bodyPr>
          <a:lstStyle/>
          <a:p>
            <a:pPr marL="0" marR="0" indent="0" algn="l" defTabSz="457200" rtl="0" eaLnBrk="1" fontAlgn="auto" latinLnBrk="0" hangingPunct="1">
              <a:lnSpc>
                <a:spcPct val="100000"/>
              </a:lnSpc>
              <a:spcBef>
                <a:spcPts val="288"/>
              </a:spcBef>
              <a:spcAft>
                <a:spcPts val="0"/>
              </a:spcAft>
              <a:buClrTx/>
              <a:buSzTx/>
              <a:buFontTx/>
              <a:buNone/>
              <a:tabLst/>
              <a:defRPr/>
            </a:pPr>
            <a:r>
              <a:rPr lang="en-US" sz="1200" b="1" dirty="0" smtClean="0">
                <a:solidFill>
                  <a:srgbClr val="FFFFFF"/>
                </a:solidFill>
                <a:latin typeface="Arial"/>
                <a:cs typeface="Arial"/>
              </a:rPr>
              <a:t>Iteration</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dirty="0" smtClean="0">
                <a:solidFill>
                  <a:srgbClr val="FFFFFF"/>
                </a:solidFill>
                <a:latin typeface="Arial"/>
                <a:cs typeface="Arial"/>
              </a:rPr>
              <a:t>Unit 1 Fundamentals of programming</a:t>
            </a:r>
          </a:p>
        </p:txBody>
      </p:sp>
    </p:spTree>
    <p:extLst>
      <p:ext uri="{BB962C8B-B14F-4D97-AF65-F5344CB8AC3E}">
        <p14:creationId xmlns:p14="http://schemas.microsoft.com/office/powerpoint/2010/main" val="2400860605"/>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pic>
        <p:nvPicPr>
          <p:cNvPr id="48" name="Picture 47" descr="Unit 1.jpg"/>
          <p:cNvPicPr>
            <a:picLocks noChangeAspect="1"/>
          </p:cNvPicPr>
          <p:nvPr userDrawn="1"/>
        </p:nvPicPr>
        <p:blipFill rotWithShape="1">
          <a:blip r:embed="rId2">
            <a:extLst>
              <a:ext uri="{28A0092B-C50C-407E-A947-70E740481C1C}">
                <a14:useLocalDpi xmlns:a14="http://schemas.microsoft.com/office/drawing/2010/main" val="0"/>
              </a:ext>
            </a:extLst>
          </a:blip>
          <a:srcRect b="90370"/>
          <a:stretch/>
        </p:blipFill>
        <p:spPr>
          <a:xfrm>
            <a:off x="0" y="0"/>
            <a:ext cx="9144000" cy="660400"/>
          </a:xfrm>
          <a:prstGeom prst="rect">
            <a:avLst/>
          </a:prstGeom>
        </p:spPr>
      </p:pic>
      <p:sp>
        <p:nvSpPr>
          <p:cNvPr id="49"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smtClean="0"/>
              <a:t>Click to edit Master text styles</a:t>
            </a:r>
          </a:p>
        </p:txBody>
      </p:sp>
      <p:sp>
        <p:nvSpPr>
          <p:cNvPr id="50"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246AB4"/>
                </a:solidFill>
                <a:latin typeface="Arial"/>
                <a:cs typeface="Arial"/>
              </a:defRPr>
            </a:lvl2pPr>
            <a:lvl3pPr marL="723900" indent="-279400">
              <a:lnSpc>
                <a:spcPct val="100000"/>
              </a:lnSpc>
              <a:buFont typeface="Arial"/>
              <a:buChar char="•"/>
              <a:defRPr lang="en-US" sz="2000" kern="1200" baseline="0" dirty="0" smtClean="0">
                <a:solidFill>
                  <a:srgbClr val="36A7D4"/>
                </a:solidFill>
                <a:latin typeface="Arial"/>
                <a:ea typeface="+mn-ea"/>
                <a:cs typeface="Arial"/>
              </a:defRPr>
            </a:lvl3pPr>
          </a:lstStyle>
          <a:p>
            <a:pPr lvl="0"/>
            <a:r>
              <a:rPr lang="en-US" smtClean="0"/>
              <a:t>Click to edit Master text styles</a:t>
            </a:r>
          </a:p>
          <a:p>
            <a:pPr lvl="1"/>
            <a:r>
              <a:rPr lang="en-US" smtClean="0"/>
              <a:t>Second level</a:t>
            </a:r>
          </a:p>
          <a:p>
            <a:pPr lvl="2"/>
            <a:r>
              <a:rPr lang="en-US" smtClean="0"/>
              <a:t>Third level</a:t>
            </a:r>
          </a:p>
        </p:txBody>
      </p:sp>
      <p:sp>
        <p:nvSpPr>
          <p:cNvPr id="51" name="TextBox 50"/>
          <p:cNvSpPr txBox="1"/>
          <p:nvPr userDrawn="1"/>
        </p:nvSpPr>
        <p:spPr>
          <a:xfrm>
            <a:off x="752495" y="156700"/>
            <a:ext cx="8067635" cy="452432"/>
          </a:xfrm>
          <a:prstGeom prst="rect">
            <a:avLst/>
          </a:prstGeom>
          <a:noFill/>
        </p:spPr>
        <p:txBody>
          <a:bodyPr wrap="square" lIns="0" tIns="0" rIns="0" rtlCol="0">
            <a:noAutofit/>
          </a:bodyPr>
          <a:lstStyle/>
          <a:p>
            <a:pPr marL="0" marR="0" indent="0" algn="l" defTabSz="457200" rtl="0" eaLnBrk="1" fontAlgn="auto" latinLnBrk="0" hangingPunct="1">
              <a:lnSpc>
                <a:spcPct val="100000"/>
              </a:lnSpc>
              <a:spcBef>
                <a:spcPts val="288"/>
              </a:spcBef>
              <a:spcAft>
                <a:spcPts val="0"/>
              </a:spcAft>
              <a:buClrTx/>
              <a:buSzTx/>
              <a:buFontTx/>
              <a:buNone/>
              <a:tabLst/>
              <a:defRPr/>
            </a:pPr>
            <a:r>
              <a:rPr lang="en-US" sz="1200" b="1" dirty="0" smtClean="0">
                <a:solidFill>
                  <a:srgbClr val="FFFFFF"/>
                </a:solidFill>
                <a:latin typeface="Arial"/>
                <a:cs typeface="Arial"/>
              </a:rPr>
              <a:t>Iteration</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dirty="0" smtClean="0">
                <a:solidFill>
                  <a:srgbClr val="FFFFFF"/>
                </a:solidFill>
                <a:latin typeface="Arial"/>
                <a:cs typeface="Arial"/>
              </a:rPr>
              <a:t>Unit 1 Fundamentals of programming</a:t>
            </a:r>
          </a:p>
        </p:txBody>
      </p:sp>
    </p:spTree>
    <p:extLst>
      <p:ext uri="{BB962C8B-B14F-4D97-AF65-F5344CB8AC3E}">
        <p14:creationId xmlns:p14="http://schemas.microsoft.com/office/powerpoint/2010/main" val="3315833090"/>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Custom Layout">
    <p:bg>
      <p:bgPr>
        <a:solidFill>
          <a:schemeClr val="tx1"/>
        </a:solidFill>
        <a:effectLst/>
      </p:bgPr>
    </p:bg>
    <p:spTree>
      <p:nvGrpSpPr>
        <p:cNvPr id="1" name=""/>
        <p:cNvGrpSpPr/>
        <p:nvPr/>
      </p:nvGrpSpPr>
      <p:grpSpPr>
        <a:xfrm>
          <a:off x="0" y="0"/>
          <a:ext cx="0" cy="0"/>
          <a:chOff x="0" y="0"/>
          <a:chExt cx="0" cy="0"/>
        </a:xfrm>
      </p:grpSpPr>
      <p:pic>
        <p:nvPicPr>
          <p:cNvPr id="66" name="Picture 65" descr="Unit 1.jpg"/>
          <p:cNvPicPr>
            <a:picLocks noChangeAspect="1"/>
          </p:cNvPicPr>
          <p:nvPr userDrawn="1"/>
        </p:nvPicPr>
        <p:blipFill rotWithShape="1">
          <a:blip r:embed="rId2">
            <a:extLst>
              <a:ext uri="{28A0092B-C50C-407E-A947-70E740481C1C}">
                <a14:useLocalDpi xmlns:a14="http://schemas.microsoft.com/office/drawing/2010/main" val="0"/>
              </a:ext>
            </a:extLst>
          </a:blip>
          <a:srcRect b="90370"/>
          <a:stretch/>
        </p:blipFill>
        <p:spPr>
          <a:xfrm>
            <a:off x="0" y="0"/>
            <a:ext cx="9144000" cy="660400"/>
          </a:xfrm>
          <a:prstGeom prst="rect">
            <a:avLst/>
          </a:prstGeom>
        </p:spPr>
      </p:pic>
      <p:sp>
        <p:nvSpPr>
          <p:cNvPr id="69" name="TextBox 68"/>
          <p:cNvSpPr txBox="1"/>
          <p:nvPr userDrawn="1"/>
        </p:nvSpPr>
        <p:spPr>
          <a:xfrm>
            <a:off x="752495" y="156700"/>
            <a:ext cx="8067635" cy="452432"/>
          </a:xfrm>
          <a:prstGeom prst="rect">
            <a:avLst/>
          </a:prstGeom>
          <a:noFill/>
        </p:spPr>
        <p:txBody>
          <a:bodyPr wrap="square" lIns="0" tIns="0" rIns="0" rtlCol="0">
            <a:noAutofit/>
          </a:bodyPr>
          <a:lstStyle/>
          <a:p>
            <a:pPr marL="0" marR="0" indent="0" algn="l" defTabSz="457200" rtl="0" eaLnBrk="1" fontAlgn="auto" latinLnBrk="0" hangingPunct="1">
              <a:lnSpc>
                <a:spcPct val="100000"/>
              </a:lnSpc>
              <a:spcBef>
                <a:spcPts val="288"/>
              </a:spcBef>
              <a:spcAft>
                <a:spcPts val="0"/>
              </a:spcAft>
              <a:buClrTx/>
              <a:buSzTx/>
              <a:buFontTx/>
              <a:buNone/>
              <a:tabLst/>
              <a:defRPr/>
            </a:pPr>
            <a:r>
              <a:rPr lang="en-US" sz="1200" b="1" dirty="0" smtClean="0">
                <a:solidFill>
                  <a:srgbClr val="FFFFFF"/>
                </a:solidFill>
                <a:latin typeface="Arial"/>
                <a:cs typeface="Arial"/>
              </a:rPr>
              <a:t>Iteration</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dirty="0" smtClean="0">
                <a:solidFill>
                  <a:srgbClr val="FFFFFF"/>
                </a:solidFill>
                <a:latin typeface="Arial"/>
                <a:cs typeface="Arial"/>
              </a:rPr>
              <a:t>Unit 1 Fundamentals of programming</a:t>
            </a:r>
          </a:p>
        </p:txBody>
      </p:sp>
      <p:pic>
        <p:nvPicPr>
          <p:cNvPr id="70" name="Picture 69" descr="Logo Unit 1.ai"/>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293600" y="6339600"/>
            <a:ext cx="1476000" cy="294359"/>
          </a:xfrm>
          <a:prstGeom prst="rect">
            <a:avLst/>
          </a:prstGeom>
        </p:spPr>
      </p:pic>
      <p:sp>
        <p:nvSpPr>
          <p:cNvPr id="7" name="Rectangle 6"/>
          <p:cNvSpPr/>
          <p:nvPr userDrawn="1"/>
        </p:nvSpPr>
        <p:spPr>
          <a:xfrm>
            <a:off x="676274" y="1701461"/>
            <a:ext cx="7829551" cy="4555093"/>
          </a:xfrm>
          <a:prstGeom prst="rect">
            <a:avLst/>
          </a:prstGeom>
        </p:spPr>
        <p:txBody>
          <a:bodyPr wrap="square">
            <a:spAutoFit/>
          </a:bodyPr>
          <a:lstStyle/>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400" b="1" i="0" u="none" strike="noStrike" kern="1200" cap="none" spc="0" normalizeH="0" baseline="0" noProof="0" dirty="0" smtClean="0">
                <a:ln>
                  <a:noFill/>
                </a:ln>
                <a:solidFill>
                  <a:schemeClr val="bg1"/>
                </a:solidFill>
                <a:effectLst/>
                <a:uLnTx/>
                <a:uFillTx/>
                <a:latin typeface="Arial"/>
                <a:ea typeface="+mn-ea"/>
                <a:cs typeface="Arial"/>
              </a:rPr>
              <a:t>Copyright</a:t>
            </a:r>
            <a:endParaRPr kumimoji="0" lang="en-GB" sz="1200" b="1" i="0" u="none" strike="noStrike" kern="1200" cap="none" spc="0" normalizeH="0" baseline="0" noProof="0" dirty="0" smtClean="0">
              <a:ln>
                <a:noFill/>
              </a:ln>
              <a:solidFill>
                <a:schemeClr val="bg1"/>
              </a:solidFill>
              <a:effectLst/>
              <a:uLnTx/>
              <a:uFillTx/>
              <a:latin typeface="Arial"/>
              <a:ea typeface="+mn-ea"/>
              <a:cs typeface="Arial"/>
            </a:endParaRP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smtClean="0">
                <a:ln>
                  <a:noFill/>
                </a:ln>
                <a:solidFill>
                  <a:schemeClr val="bg1"/>
                </a:solidFill>
                <a:effectLst/>
                <a:uLnTx/>
                <a:uFillTx/>
                <a:latin typeface="Arial"/>
                <a:ea typeface="+mn-ea"/>
                <a:cs typeface="Arial"/>
              </a:rPr>
              <a:t>© 2016 PG Online Limited</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smtClean="0">
                <a:ln>
                  <a:noFill/>
                </a:ln>
                <a:solidFill>
                  <a:schemeClr val="bg1"/>
                </a:solidFill>
                <a:effectLst/>
                <a:uLnTx/>
                <a:uFillTx/>
                <a:latin typeface="Arial"/>
                <a:ea typeface="+mn-ea"/>
                <a:cs typeface="Arial"/>
              </a:rPr>
              <a:t>The contents of this unit are protected by copyright. </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smtClean="0">
                <a:ln>
                  <a:noFill/>
                </a:ln>
                <a:solidFill>
                  <a:schemeClr val="bg1"/>
                </a:solidFill>
                <a:effectLst/>
                <a:uLnTx/>
                <a:uFillTx/>
                <a:latin typeface="Arial"/>
                <a:ea typeface="+mn-ea"/>
                <a:cs typeface="Arial"/>
              </a:rPr>
              <a:t>This unit and all the worksheets, PowerPoint presentations, teaching guides and other associated files distributed with it are supplied to you by PG Online Limited under licence and may be used and copied by you only in accordance with the terms of the licence. Except as expressly permitted by the licence, no part of the materials distributed with this unit may be used, reproduced, stored in a retrieval system, or transmitted, in any form or by any means, electronic or otherwise, without the prior written permission of PG Online Limited.</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400" b="1" i="0" u="none" strike="noStrike" kern="1200" cap="none" spc="0" normalizeH="0" baseline="0" noProof="0" dirty="0" smtClean="0">
                <a:ln>
                  <a:noFill/>
                </a:ln>
                <a:solidFill>
                  <a:schemeClr val="bg1"/>
                </a:solidFill>
                <a:effectLst/>
                <a:uLnTx/>
                <a:uFillTx/>
                <a:latin typeface="Arial"/>
                <a:ea typeface="+mn-ea"/>
                <a:cs typeface="Arial"/>
              </a:rPr>
              <a:t>Licence agreement</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smtClean="0">
                <a:ln>
                  <a:noFill/>
                </a:ln>
                <a:solidFill>
                  <a:schemeClr val="bg1"/>
                </a:solidFill>
                <a:effectLst/>
                <a:uLnTx/>
                <a:uFillTx/>
                <a:latin typeface="Arial"/>
                <a:ea typeface="+mn-ea"/>
                <a:cs typeface="Arial"/>
              </a:rPr>
              <a:t>This is a legal agreement between you, the end user, and PG Online Limited. This unit and all the worksheets, PowerPoint presentations, teaching guides and other associated files distributed with it is licensed, not sold, to you by PG Online Limited for use under the terms of the licence.</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smtClean="0">
                <a:ln>
                  <a:noFill/>
                </a:ln>
                <a:solidFill>
                  <a:schemeClr val="bg1"/>
                </a:solidFill>
                <a:effectLst/>
                <a:uLnTx/>
                <a:uFillTx/>
                <a:latin typeface="Arial"/>
                <a:ea typeface="+mn-ea"/>
                <a:cs typeface="Arial"/>
              </a:rPr>
              <a:t>The materials distributed with this unit may be freely copied and used by members of a single institution on a single site only. You are not permitted to share in any way any of the materials or part of the materials with any third party, including users on another site or individuals who are members of a separate institution. You acknowledge that the materials must remain with you, the licencing institution, and no part of the materials may be transferred to another institution. You also agree not to procure, authorise, encourage, facilitate or enable any third party to reproduce these materials in whole or in part without the prior permission of PG Online Limited.</a:t>
            </a:r>
            <a:endParaRPr lang="en-GB" sz="1200" dirty="0">
              <a:solidFill>
                <a:schemeClr val="bg1"/>
              </a:solidFill>
            </a:endParaRPr>
          </a:p>
        </p:txBody>
      </p:sp>
    </p:spTree>
    <p:extLst>
      <p:ext uri="{BB962C8B-B14F-4D97-AF65-F5344CB8AC3E}">
        <p14:creationId xmlns:p14="http://schemas.microsoft.com/office/powerpoint/2010/main" val="1564091221"/>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6734550"/>
      </p:ext>
    </p:extLst>
  </p:cSld>
  <p:clrMap bg1="lt1" tx1="dk1" bg2="lt2" tx2="dk2" accent1="accent1" accent2="accent2" accent3="accent3" accent4="accent4" accent5="accent5" accent6="accent6" hlink="hlink" folHlink="folHlink"/>
  <p:sldLayoutIdLst>
    <p:sldLayoutId id="2147483649" r:id="rId1"/>
    <p:sldLayoutId id="2147483654" r:id="rId2"/>
    <p:sldLayoutId id="2147483664" r:id="rId3"/>
    <p:sldLayoutId id="2147483652" r:id="rId4"/>
    <p:sldLayoutId id="2147483653" r:id="rId5"/>
    <p:sldLayoutId id="2147483655" r:id="rId6"/>
    <p:sldLayoutId id="2147483656" r:id="rId7"/>
    <p:sldLayoutId id="2147483665" r:id="rId8"/>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1803399" y="1841231"/>
            <a:ext cx="2750617" cy="2201863"/>
          </a:xfrm>
        </p:spPr>
        <p:txBody>
          <a:bodyPr/>
          <a:lstStyle/>
          <a:p>
            <a:r>
              <a:rPr lang="en-US" dirty="0" smtClean="0">
                <a:latin typeface="Museo 700" panose="02000000000000000000" pitchFamily="50" charset="0"/>
              </a:rPr>
              <a:t>AQA</a:t>
            </a:r>
            <a:endParaRPr lang="en-US" b="0" dirty="0" smtClean="0">
              <a:latin typeface="Museo900-Regular"/>
              <a:cs typeface="Museo900-Regular"/>
            </a:endParaRPr>
          </a:p>
          <a:p>
            <a:pPr lvl="2"/>
            <a:r>
              <a:rPr lang="en-US" dirty="0" smtClean="0">
                <a:latin typeface="Museo 500" panose="02000000000000000000" pitchFamily="50" charset="0"/>
              </a:rPr>
              <a:t>AS Level</a:t>
            </a:r>
          </a:p>
          <a:p>
            <a:pPr lvl="3"/>
            <a:r>
              <a:rPr lang="en-US" sz="2500" dirty="0" smtClean="0">
                <a:solidFill>
                  <a:schemeClr val="bg1"/>
                </a:solidFill>
                <a:latin typeface="Museo 100" panose="02000000000000000000" pitchFamily="50" charset="0"/>
              </a:rPr>
              <a:t>Computer Science</a:t>
            </a:r>
          </a:p>
          <a:p>
            <a:pPr lvl="3">
              <a:lnSpc>
                <a:spcPts val="3000"/>
              </a:lnSpc>
            </a:pPr>
            <a:r>
              <a:rPr lang="en-US" sz="2500" dirty="0" smtClean="0">
                <a:latin typeface="Museo 100" panose="02000000000000000000" pitchFamily="50" charset="0"/>
              </a:rPr>
              <a:t>Paper 1</a:t>
            </a:r>
          </a:p>
          <a:p>
            <a:pPr lvl="3">
              <a:lnSpc>
                <a:spcPts val="4000"/>
              </a:lnSpc>
            </a:pPr>
            <a:endParaRPr lang="en-US" sz="3200" dirty="0">
              <a:latin typeface="Museo 100" panose="02000000000000000000" pitchFamily="50" charset="0"/>
            </a:endParaRPr>
          </a:p>
        </p:txBody>
      </p:sp>
      <p:sp>
        <p:nvSpPr>
          <p:cNvPr id="6" name="Text Placeholder 5"/>
          <p:cNvSpPr>
            <a:spLocks noGrp="1"/>
          </p:cNvSpPr>
          <p:nvPr>
            <p:ph type="body" sz="quarter" idx="11"/>
          </p:nvPr>
        </p:nvSpPr>
        <p:spPr>
          <a:xfrm>
            <a:off x="4800600" y="1860085"/>
            <a:ext cx="2768600" cy="2201863"/>
          </a:xfrm>
        </p:spPr>
        <p:txBody>
          <a:bodyPr/>
          <a:lstStyle/>
          <a:p>
            <a:r>
              <a:rPr lang="en-US" dirty="0" smtClean="0">
                <a:latin typeface="Museo 900" panose="02000000000000000000" pitchFamily="50" charset="0"/>
              </a:rPr>
              <a:t>Iteration</a:t>
            </a:r>
            <a:endParaRPr lang="en-US" dirty="0" smtClean="0">
              <a:latin typeface="Museo 100" panose="02000000000000000000" pitchFamily="50" charset="0"/>
            </a:endParaRPr>
          </a:p>
          <a:p>
            <a:pPr lvl="1"/>
            <a:endParaRPr lang="en-US" sz="2000" dirty="0" smtClean="0">
              <a:latin typeface="Museo 100" panose="02000000000000000000" pitchFamily="50" charset="0"/>
            </a:endParaRPr>
          </a:p>
          <a:p>
            <a:pPr lvl="1"/>
            <a:r>
              <a:rPr lang="en-US" sz="2000" dirty="0" smtClean="0">
                <a:latin typeface="Museo 100" panose="02000000000000000000" pitchFamily="50" charset="0"/>
              </a:rPr>
              <a:t>Unit </a:t>
            </a:r>
            <a:r>
              <a:rPr lang="en-US" sz="2000" dirty="0">
                <a:latin typeface="Museo 100" panose="02000000000000000000" pitchFamily="50" charset="0"/>
              </a:rPr>
              <a:t>1</a:t>
            </a:r>
            <a:endParaRPr lang="en-US" sz="2000" dirty="0" smtClean="0">
              <a:latin typeface="Museo 100" panose="02000000000000000000" pitchFamily="50" charset="0"/>
            </a:endParaRPr>
          </a:p>
          <a:p>
            <a:pPr lvl="1"/>
            <a:r>
              <a:rPr lang="en-US" sz="2000" dirty="0">
                <a:latin typeface="Museo 100" panose="02000000000000000000" pitchFamily="50" charset="0"/>
              </a:rPr>
              <a:t>Fundamentals </a:t>
            </a:r>
            <a:r>
              <a:rPr lang="en-US" sz="2000" dirty="0" smtClean="0">
                <a:latin typeface="Museo 100" panose="02000000000000000000" pitchFamily="50" charset="0"/>
              </a:rPr>
              <a:t/>
            </a:r>
            <a:br>
              <a:rPr lang="en-US" sz="2000" dirty="0" smtClean="0">
                <a:latin typeface="Museo 100" panose="02000000000000000000" pitchFamily="50" charset="0"/>
              </a:rPr>
            </a:br>
            <a:r>
              <a:rPr lang="en-US" sz="2000" dirty="0" smtClean="0">
                <a:latin typeface="Museo 100" panose="02000000000000000000" pitchFamily="50" charset="0"/>
              </a:rPr>
              <a:t>of </a:t>
            </a:r>
            <a:r>
              <a:rPr lang="en-US" sz="2000" dirty="0">
                <a:latin typeface="Museo 100" panose="02000000000000000000" pitchFamily="50" charset="0"/>
              </a:rPr>
              <a:t>programming</a:t>
            </a:r>
          </a:p>
        </p:txBody>
      </p:sp>
    </p:spTree>
    <p:extLst>
      <p:ext uri="{BB962C8B-B14F-4D97-AF65-F5344CB8AC3E}">
        <p14:creationId xmlns:p14="http://schemas.microsoft.com/office/powerpoint/2010/main" val="309735854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p:txBody>
          <a:bodyPr/>
          <a:lstStyle/>
          <a:p>
            <a:r>
              <a:rPr lang="en-GB" dirty="0"/>
              <a:t>Objectives</a:t>
            </a:r>
          </a:p>
        </p:txBody>
      </p:sp>
      <p:sp>
        <p:nvSpPr>
          <p:cNvPr id="2" name="Text Placeholder 1"/>
          <p:cNvSpPr>
            <a:spLocks noGrp="1"/>
          </p:cNvSpPr>
          <p:nvPr>
            <p:ph type="body" sz="quarter" idx="14"/>
          </p:nvPr>
        </p:nvSpPr>
        <p:spPr/>
        <p:txBody>
          <a:bodyPr/>
          <a:lstStyle/>
          <a:p>
            <a:r>
              <a:rPr lang="en-GB" dirty="0" smtClean="0">
                <a:solidFill>
                  <a:schemeClr val="bg1"/>
                </a:solidFill>
              </a:rPr>
              <a:t>Understand </a:t>
            </a:r>
            <a:r>
              <a:rPr lang="en-GB" dirty="0">
                <a:solidFill>
                  <a:schemeClr val="bg1"/>
                </a:solidFill>
              </a:rPr>
              <a:t>and use three different types of iterative statement WHILE, REPEAT and FOR </a:t>
            </a:r>
          </a:p>
          <a:p>
            <a:r>
              <a:rPr lang="en-GB" dirty="0" smtClean="0">
                <a:solidFill>
                  <a:schemeClr val="bg1"/>
                </a:solidFill>
              </a:rPr>
              <a:t>Be </a:t>
            </a:r>
            <a:r>
              <a:rPr lang="en-GB" dirty="0">
                <a:solidFill>
                  <a:schemeClr val="bg1"/>
                </a:solidFill>
              </a:rPr>
              <a:t>familiar with, and be able to use, random number generation </a:t>
            </a:r>
          </a:p>
        </p:txBody>
      </p:sp>
    </p:spTree>
    <p:extLst>
      <p:ext uri="{BB962C8B-B14F-4D97-AF65-F5344CB8AC3E}">
        <p14:creationId xmlns:p14="http://schemas.microsoft.com/office/powerpoint/2010/main" val="25300647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Iteration</a:t>
            </a:r>
            <a:endParaRPr lang="en-GB" dirty="0"/>
          </a:p>
        </p:txBody>
      </p:sp>
      <p:sp>
        <p:nvSpPr>
          <p:cNvPr id="3" name="Text Placeholder 2"/>
          <p:cNvSpPr>
            <a:spLocks noGrp="1"/>
          </p:cNvSpPr>
          <p:nvPr>
            <p:ph type="body" sz="quarter" idx="14"/>
          </p:nvPr>
        </p:nvSpPr>
        <p:spPr>
          <a:xfrm>
            <a:off x="724280" y="1704179"/>
            <a:ext cx="7797230" cy="4000882"/>
          </a:xfrm>
        </p:spPr>
        <p:txBody>
          <a:bodyPr/>
          <a:lstStyle/>
          <a:p>
            <a:r>
              <a:rPr lang="en-GB" dirty="0" smtClean="0"/>
              <a:t>Iteration means repetition</a:t>
            </a:r>
          </a:p>
          <a:p>
            <a:r>
              <a:rPr lang="en-GB" dirty="0" smtClean="0"/>
              <a:t>A sequence of instructions is repeated multiple times</a:t>
            </a:r>
          </a:p>
          <a:p>
            <a:r>
              <a:rPr lang="en-GB" dirty="0" smtClean="0"/>
              <a:t>This is much more efficient than writing the instructions multiple times</a:t>
            </a:r>
          </a:p>
          <a:p>
            <a:r>
              <a:rPr lang="en-GB" dirty="0" smtClean="0"/>
              <a:t>The number of repetitions needed may vary, and may not be known when writing the code</a:t>
            </a:r>
          </a:p>
          <a:p>
            <a:r>
              <a:rPr lang="en-GB" dirty="0" smtClean="0"/>
              <a:t>There are three types of loop: WHILE, REPEAT and FOR .. NEXT</a:t>
            </a:r>
          </a:p>
        </p:txBody>
      </p:sp>
    </p:spTree>
    <p:extLst>
      <p:ext uri="{BB962C8B-B14F-4D97-AF65-F5344CB8AC3E}">
        <p14:creationId xmlns:p14="http://schemas.microsoft.com/office/powerpoint/2010/main" val="389359908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WHILE … ENDWHILE loop</a:t>
            </a:r>
            <a:endParaRPr lang="en-GB" dirty="0"/>
          </a:p>
        </p:txBody>
      </p:sp>
      <p:sp>
        <p:nvSpPr>
          <p:cNvPr id="3" name="Text Placeholder 2"/>
          <p:cNvSpPr>
            <a:spLocks noGrp="1"/>
          </p:cNvSpPr>
          <p:nvPr>
            <p:ph type="body" sz="quarter" idx="14"/>
          </p:nvPr>
        </p:nvSpPr>
        <p:spPr>
          <a:xfrm>
            <a:off x="724280" y="1704180"/>
            <a:ext cx="7460164" cy="2251594"/>
          </a:xfrm>
        </p:spPr>
        <p:txBody>
          <a:bodyPr/>
          <a:lstStyle/>
          <a:p>
            <a:r>
              <a:rPr lang="en-GB" dirty="0" smtClean="0"/>
              <a:t>Using a </a:t>
            </a:r>
            <a:r>
              <a:rPr lang="en-GB" dirty="0" smtClean="0">
                <a:solidFill>
                  <a:srgbClr val="246AB4"/>
                </a:solidFill>
              </a:rPr>
              <a:t>WHILE .. ENDWHILE </a:t>
            </a:r>
            <a:r>
              <a:rPr lang="en-GB" dirty="0" smtClean="0"/>
              <a:t>loop, the condition is tested upon </a:t>
            </a:r>
            <a:r>
              <a:rPr lang="en-GB" dirty="0" smtClean="0">
                <a:solidFill>
                  <a:srgbClr val="246AB4"/>
                </a:solidFill>
              </a:rPr>
              <a:t>entry</a:t>
            </a:r>
            <a:r>
              <a:rPr lang="en-GB" dirty="0" smtClean="0"/>
              <a:t> to the loop</a:t>
            </a:r>
          </a:p>
          <a:p>
            <a:r>
              <a:rPr lang="en-GB" dirty="0" smtClean="0"/>
              <a:t>It is possible that the instructions inside the loop might not be executed at all if the entry condition is not met</a:t>
            </a:r>
            <a:endParaRPr lang="en-GB" dirty="0"/>
          </a:p>
          <a:p>
            <a:endParaRPr lang="en-GB" dirty="0"/>
          </a:p>
        </p:txBody>
      </p:sp>
      <p:sp>
        <p:nvSpPr>
          <p:cNvPr id="6" name="TextBox 5"/>
          <p:cNvSpPr txBox="1"/>
          <p:nvPr/>
        </p:nvSpPr>
        <p:spPr>
          <a:xfrm>
            <a:off x="2520912" y="4173090"/>
            <a:ext cx="3707241" cy="1631216"/>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2000" dirty="0" smtClean="0">
                <a:solidFill>
                  <a:srgbClr val="36A7D4"/>
                </a:solidFill>
                <a:latin typeface="Consolas" panose="020B0609020204030204" pitchFamily="49" charset="0"/>
                <a:cs typeface="Consolas" panose="020B0609020204030204" pitchFamily="49" charset="0"/>
              </a:rPr>
              <a:t>WHILE Condition x  = True</a:t>
            </a:r>
          </a:p>
          <a:p>
            <a:r>
              <a:rPr lang="en-GB" sz="2000" dirty="0">
                <a:solidFill>
                  <a:srgbClr val="36A7D4"/>
                </a:solidFill>
                <a:latin typeface="Consolas" panose="020B0609020204030204" pitchFamily="49" charset="0"/>
                <a:cs typeface="Consolas" panose="020B0609020204030204" pitchFamily="49" charset="0"/>
              </a:rPr>
              <a:t>	</a:t>
            </a:r>
            <a:r>
              <a:rPr lang="en-GB" sz="2000" dirty="0" smtClean="0">
                <a:solidFill>
                  <a:srgbClr val="36A7D4"/>
                </a:solidFill>
                <a:latin typeface="Consolas" panose="020B0609020204030204" pitchFamily="49" charset="0"/>
                <a:cs typeface="Consolas" panose="020B0609020204030204" pitchFamily="49" charset="0"/>
              </a:rPr>
              <a:t>Execute statement a</a:t>
            </a:r>
          </a:p>
          <a:p>
            <a:r>
              <a:rPr lang="en-GB" sz="2000" dirty="0">
                <a:solidFill>
                  <a:srgbClr val="36A7D4"/>
                </a:solidFill>
                <a:latin typeface="Consolas" panose="020B0609020204030204" pitchFamily="49" charset="0"/>
                <a:cs typeface="Consolas" panose="020B0609020204030204" pitchFamily="49" charset="0"/>
              </a:rPr>
              <a:t>	</a:t>
            </a:r>
            <a:r>
              <a:rPr lang="en-GB" sz="2000" dirty="0" smtClean="0">
                <a:solidFill>
                  <a:srgbClr val="36A7D4"/>
                </a:solidFill>
                <a:latin typeface="Consolas" panose="020B0609020204030204" pitchFamily="49" charset="0"/>
                <a:cs typeface="Consolas" panose="020B0609020204030204" pitchFamily="49" charset="0"/>
              </a:rPr>
              <a:t>Execute statement b</a:t>
            </a:r>
          </a:p>
          <a:p>
            <a:r>
              <a:rPr lang="en-GB" sz="2000" dirty="0">
                <a:solidFill>
                  <a:srgbClr val="36A7D4"/>
                </a:solidFill>
                <a:latin typeface="Consolas" panose="020B0609020204030204" pitchFamily="49" charset="0"/>
                <a:cs typeface="Consolas" panose="020B0609020204030204" pitchFamily="49" charset="0"/>
              </a:rPr>
              <a:t>	</a:t>
            </a:r>
            <a:r>
              <a:rPr lang="en-GB" sz="2000" dirty="0" smtClean="0">
                <a:solidFill>
                  <a:srgbClr val="36A7D4"/>
                </a:solidFill>
                <a:latin typeface="Consolas" panose="020B0609020204030204" pitchFamily="49" charset="0"/>
                <a:cs typeface="Consolas" panose="020B0609020204030204" pitchFamily="49" charset="0"/>
              </a:rPr>
              <a:t>etc....</a:t>
            </a:r>
          </a:p>
          <a:p>
            <a:r>
              <a:rPr lang="en-GB" sz="2000" dirty="0" smtClean="0">
                <a:solidFill>
                  <a:srgbClr val="36A7D4"/>
                </a:solidFill>
                <a:latin typeface="Consolas" panose="020B0609020204030204" pitchFamily="49" charset="0"/>
                <a:cs typeface="Consolas" panose="020B0609020204030204" pitchFamily="49" charset="0"/>
              </a:rPr>
              <a:t>END WHILE</a:t>
            </a:r>
            <a:endParaRPr lang="en-GB" sz="2000" dirty="0">
              <a:solidFill>
                <a:srgbClr val="36A7D4"/>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0237619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Iteration entry condition</a:t>
            </a:r>
            <a:endParaRPr lang="en-GB" dirty="0"/>
          </a:p>
        </p:txBody>
      </p:sp>
      <p:sp>
        <p:nvSpPr>
          <p:cNvPr id="3" name="Text Placeholder 2"/>
          <p:cNvSpPr>
            <a:spLocks noGrp="1"/>
          </p:cNvSpPr>
          <p:nvPr>
            <p:ph type="body" sz="quarter" idx="14"/>
          </p:nvPr>
        </p:nvSpPr>
        <p:spPr>
          <a:xfrm>
            <a:off x="724280" y="1577004"/>
            <a:ext cx="7550475" cy="4678022"/>
          </a:xfrm>
        </p:spPr>
        <p:txBody>
          <a:bodyPr/>
          <a:lstStyle/>
          <a:p>
            <a:r>
              <a:rPr lang="en-GB" dirty="0" smtClean="0"/>
              <a:t>Trace through the pseudocode loop </a:t>
            </a:r>
          </a:p>
          <a:p>
            <a:pPr lvl="1"/>
            <a:r>
              <a:rPr lang="en-GB" dirty="0" smtClean="0"/>
              <a:t>What values will x take?</a:t>
            </a:r>
          </a:p>
          <a:p>
            <a:pPr lvl="1"/>
            <a:r>
              <a:rPr lang="en-GB" dirty="0" smtClean="0"/>
              <a:t>What will be the output?</a:t>
            </a:r>
          </a:p>
          <a:p>
            <a:endParaRPr lang="en-GB" dirty="0"/>
          </a:p>
          <a:p>
            <a:endParaRPr lang="en-GB" dirty="0" smtClean="0"/>
          </a:p>
          <a:p>
            <a:endParaRPr lang="en-GB" dirty="0"/>
          </a:p>
          <a:p>
            <a:endParaRPr lang="en-GB" dirty="0" smtClean="0"/>
          </a:p>
          <a:p>
            <a:r>
              <a:rPr lang="en-GB" dirty="0" smtClean="0"/>
              <a:t>What would happen if the first statement was changed to  </a:t>
            </a:r>
            <a:r>
              <a:rPr lang="en-GB" dirty="0" smtClean="0">
                <a:solidFill>
                  <a:srgbClr val="246AB4"/>
                </a:solidFill>
              </a:rPr>
              <a:t>x </a:t>
            </a:r>
            <a:r>
              <a:rPr lang="en-GB" dirty="0" smtClean="0">
                <a:solidFill>
                  <a:srgbClr val="246AB4"/>
                </a:solidFill>
                <a:sym typeface="Wingdings" panose="05000000000000000000" pitchFamily="2" charset="2"/>
              </a:rPr>
              <a:t> 2 </a:t>
            </a:r>
            <a:r>
              <a:rPr lang="en-GB" dirty="0" smtClean="0">
                <a:sym typeface="Wingdings" panose="05000000000000000000" pitchFamily="2" charset="2"/>
              </a:rPr>
              <a:t>?</a:t>
            </a:r>
            <a:endParaRPr lang="en-GB" dirty="0"/>
          </a:p>
        </p:txBody>
      </p:sp>
      <p:sp>
        <p:nvSpPr>
          <p:cNvPr id="8" name="TextBox 7"/>
          <p:cNvSpPr txBox="1"/>
          <p:nvPr/>
        </p:nvSpPr>
        <p:spPr>
          <a:xfrm>
            <a:off x="1567726" y="3163511"/>
            <a:ext cx="2569708" cy="1938992"/>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defPPr>
              <a:defRPr lang="en-US"/>
            </a:defPPr>
            <a:lvl1pPr>
              <a:defRPr sz="2000">
                <a:solidFill>
                  <a:srgbClr val="36A7D4"/>
                </a:solidFill>
                <a:latin typeface="Consolas" panose="020B0609020204030204" pitchFamily="49" charset="0"/>
                <a:cs typeface="Consolas" panose="020B0609020204030204" pitchFamily="49" charset="0"/>
              </a:defRPr>
            </a:lvl1pPr>
          </a:lstStyle>
          <a:p>
            <a:r>
              <a:rPr lang="en-GB" dirty="0"/>
              <a:t>x </a:t>
            </a:r>
            <a:r>
              <a:rPr lang="en-GB" dirty="0">
                <a:sym typeface="Wingdings" panose="05000000000000000000" pitchFamily="2" charset="2"/>
              </a:rPr>
              <a:t> 0</a:t>
            </a:r>
            <a:endParaRPr lang="en-GB" dirty="0"/>
          </a:p>
          <a:p>
            <a:r>
              <a:rPr lang="en-GB" dirty="0"/>
              <a:t>WHILE x &lt; 2</a:t>
            </a:r>
          </a:p>
          <a:p>
            <a:r>
              <a:rPr lang="en-GB" dirty="0"/>
              <a:t>	x </a:t>
            </a:r>
            <a:r>
              <a:rPr lang="en-GB" dirty="0">
                <a:sym typeface="Wingdings" panose="05000000000000000000" pitchFamily="2" charset="2"/>
              </a:rPr>
              <a:t> x+1</a:t>
            </a:r>
          </a:p>
          <a:p>
            <a:r>
              <a:rPr lang="en-GB" dirty="0">
                <a:sym typeface="Wingdings" panose="05000000000000000000" pitchFamily="2" charset="2"/>
              </a:rPr>
              <a:t>	OUTPUT x</a:t>
            </a:r>
            <a:endParaRPr lang="en-GB" dirty="0"/>
          </a:p>
          <a:p>
            <a:r>
              <a:rPr lang="en-GB" dirty="0"/>
              <a:t>ENDWHILE</a:t>
            </a:r>
          </a:p>
          <a:p>
            <a:r>
              <a:rPr lang="en-GB" dirty="0"/>
              <a:t>OUTPUT “The end”</a:t>
            </a:r>
          </a:p>
        </p:txBody>
      </p:sp>
      <p:graphicFrame>
        <p:nvGraphicFramePr>
          <p:cNvPr id="4" name="Table 3"/>
          <p:cNvGraphicFramePr>
            <a:graphicFrameLocks noGrp="1"/>
          </p:cNvGraphicFramePr>
          <p:nvPr>
            <p:extLst>
              <p:ext uri="{D42A27DB-BD31-4B8C-83A1-F6EECF244321}">
                <p14:modId xmlns:p14="http://schemas.microsoft.com/office/powerpoint/2010/main" val="3602611605"/>
              </p:ext>
            </p:extLst>
          </p:nvPr>
        </p:nvGraphicFramePr>
        <p:xfrm>
          <a:off x="4854510" y="3163511"/>
          <a:ext cx="2703168" cy="1886160"/>
        </p:xfrm>
        <a:graphic>
          <a:graphicData uri="http://schemas.openxmlformats.org/drawingml/2006/table">
            <a:tbl>
              <a:tblPr>
                <a:tableStyleId>{5C22544A-7EE6-4342-B048-85BDC9FD1C3A}</a:tableStyleId>
              </a:tblPr>
              <a:tblGrid>
                <a:gridCol w="1351584"/>
                <a:gridCol w="1351584"/>
              </a:tblGrid>
              <a:tr h="377232">
                <a:tc>
                  <a:txBody>
                    <a:bodyPr/>
                    <a:lstStyle/>
                    <a:p>
                      <a:pPr algn="ctr" fontAlgn="ctr"/>
                      <a:r>
                        <a:rPr lang="en-GB" sz="1800" b="1" i="0" u="none" strike="noStrike" dirty="0" smtClean="0">
                          <a:solidFill>
                            <a:schemeClr val="bg1"/>
                          </a:solidFill>
                          <a:effectLst/>
                          <a:latin typeface="Arial" panose="020B0604020202020204" pitchFamily="34" charset="0"/>
                          <a:cs typeface="Arial" panose="020B0604020202020204" pitchFamily="34" charset="0"/>
                        </a:rPr>
                        <a:t>x</a:t>
                      </a:r>
                      <a:endParaRPr lang="en-GB" sz="1800" b="1" i="0" u="none" strike="noStrike" dirty="0">
                        <a:solidFill>
                          <a:schemeClr val="bg1"/>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36A7D4"/>
                    </a:solidFill>
                  </a:tcPr>
                </a:tc>
                <a:tc>
                  <a:txBody>
                    <a:bodyPr/>
                    <a:lstStyle/>
                    <a:p>
                      <a:pPr algn="ctr" fontAlgn="ctr"/>
                      <a:r>
                        <a:rPr lang="en-GB" sz="1800" b="1" u="none" strike="noStrike" dirty="0" smtClean="0">
                          <a:solidFill>
                            <a:schemeClr val="bg1"/>
                          </a:solidFill>
                          <a:effectLst/>
                          <a:latin typeface="Arial" panose="020B0604020202020204" pitchFamily="34" charset="0"/>
                          <a:cs typeface="Arial" panose="020B0604020202020204" pitchFamily="34" charset="0"/>
                        </a:rPr>
                        <a:t>Output</a:t>
                      </a:r>
                      <a:endParaRPr lang="en-GB" sz="1800" b="1" i="0" u="none" strike="noStrike" dirty="0">
                        <a:solidFill>
                          <a:schemeClr val="bg1"/>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36A7D4"/>
                    </a:solidFill>
                  </a:tcPr>
                </a:tc>
              </a:tr>
              <a:tr h="377232">
                <a:tc>
                  <a:txBody>
                    <a:bodyPr/>
                    <a:lstStyle/>
                    <a:p>
                      <a:pPr algn="ctr" fontAlgn="ctr"/>
                      <a:r>
                        <a:rPr lang="en-GB" sz="1800" u="none" strike="noStrike" dirty="0">
                          <a:effectLst/>
                          <a:latin typeface="Arial" panose="020B0604020202020204" pitchFamily="34" charset="0"/>
                          <a:cs typeface="Arial" panose="020B0604020202020204" pitchFamily="34" charset="0"/>
                        </a:rPr>
                        <a:t>0</a:t>
                      </a: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r>
              <a:tr h="377232">
                <a:tc>
                  <a:txBody>
                    <a:bodyPr/>
                    <a:lstStyle/>
                    <a:p>
                      <a:pPr algn="ctr" fontAlgn="ct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r>
              <a:tr h="377232">
                <a:tc>
                  <a:txBody>
                    <a:bodyPr/>
                    <a:lstStyle/>
                    <a:p>
                      <a:pPr algn="ctr" fontAlgn="ct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r>
              <a:tr h="377232">
                <a:tc>
                  <a:txBody>
                    <a:bodyPr/>
                    <a:lstStyle/>
                    <a:p>
                      <a:pPr algn="ctr" fontAlgn="ct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Tree>
    <p:extLst>
      <p:ext uri="{BB962C8B-B14F-4D97-AF65-F5344CB8AC3E}">
        <p14:creationId xmlns:p14="http://schemas.microsoft.com/office/powerpoint/2010/main" val="39208960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p:txBody>
          <a:bodyPr/>
          <a:lstStyle/>
          <a:p>
            <a:r>
              <a:rPr lang="en-GB" dirty="0" smtClean="0"/>
              <a:t>Worksheet 3</a:t>
            </a:r>
            <a:endParaRPr lang="en-GB" dirty="0"/>
          </a:p>
        </p:txBody>
      </p:sp>
      <p:sp>
        <p:nvSpPr>
          <p:cNvPr id="7" name="Text Placeholder 6"/>
          <p:cNvSpPr>
            <a:spLocks noGrp="1"/>
          </p:cNvSpPr>
          <p:nvPr>
            <p:ph type="body" sz="quarter" idx="14"/>
          </p:nvPr>
        </p:nvSpPr>
        <p:spPr/>
        <p:txBody>
          <a:bodyPr/>
          <a:lstStyle/>
          <a:p>
            <a:r>
              <a:rPr lang="en-GB" dirty="0"/>
              <a:t>Complete </a:t>
            </a:r>
            <a:r>
              <a:rPr lang="en-GB" b="1" dirty="0" smtClean="0"/>
              <a:t>Questions 1</a:t>
            </a:r>
            <a:r>
              <a:rPr lang="en-GB" dirty="0" smtClean="0"/>
              <a:t> and </a:t>
            </a:r>
            <a:r>
              <a:rPr lang="en-GB" b="1" dirty="0" smtClean="0"/>
              <a:t>2</a:t>
            </a:r>
            <a:r>
              <a:rPr lang="en-GB" dirty="0" smtClean="0"/>
              <a:t> in </a:t>
            </a:r>
            <a:r>
              <a:rPr lang="en-GB" b="1" dirty="0" smtClean="0"/>
              <a:t>Task 1</a:t>
            </a:r>
            <a:endParaRPr lang="en-GB" b="1" dirty="0"/>
          </a:p>
        </p:txBody>
      </p:sp>
      <p:pic>
        <p:nvPicPr>
          <p:cNvPr id="2" name="Picture 1"/>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335794" y="2316927"/>
            <a:ext cx="6808206" cy="4541073"/>
          </a:xfrm>
          <a:prstGeom prst="rect">
            <a:avLst/>
          </a:prstGeom>
        </p:spPr>
      </p:pic>
    </p:spTree>
    <p:extLst>
      <p:ext uri="{BB962C8B-B14F-4D97-AF65-F5344CB8AC3E}">
        <p14:creationId xmlns:p14="http://schemas.microsoft.com/office/powerpoint/2010/main" val="53842218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REPEAT .. UNTIL loop</a:t>
            </a:r>
            <a:endParaRPr lang="en-GB" dirty="0"/>
          </a:p>
        </p:txBody>
      </p:sp>
      <p:sp>
        <p:nvSpPr>
          <p:cNvPr id="3" name="Text Placeholder 2"/>
          <p:cNvSpPr>
            <a:spLocks noGrp="1"/>
          </p:cNvSpPr>
          <p:nvPr>
            <p:ph type="body" sz="quarter" idx="14"/>
          </p:nvPr>
        </p:nvSpPr>
        <p:spPr>
          <a:xfrm>
            <a:off x="724279" y="1704180"/>
            <a:ext cx="7816471" cy="1577863"/>
          </a:xfrm>
        </p:spPr>
        <p:txBody>
          <a:bodyPr/>
          <a:lstStyle/>
          <a:p>
            <a:r>
              <a:rPr lang="en-GB" dirty="0" smtClean="0"/>
              <a:t>In a </a:t>
            </a:r>
            <a:r>
              <a:rPr lang="en-GB" dirty="0" smtClean="0">
                <a:solidFill>
                  <a:srgbClr val="246AB4"/>
                </a:solidFill>
              </a:rPr>
              <a:t>REPEAT . .UNTIL </a:t>
            </a:r>
            <a:r>
              <a:rPr lang="en-GB" dirty="0" smtClean="0"/>
              <a:t>loop the statements in the loop are executed </a:t>
            </a:r>
            <a:r>
              <a:rPr lang="en-GB" dirty="0" smtClean="0">
                <a:solidFill>
                  <a:srgbClr val="246AB4"/>
                </a:solidFill>
              </a:rPr>
              <a:t>before</a:t>
            </a:r>
            <a:r>
              <a:rPr lang="en-GB" dirty="0" smtClean="0"/>
              <a:t> the condition is evaluated</a:t>
            </a:r>
          </a:p>
          <a:p>
            <a:pPr lvl="1"/>
            <a:r>
              <a:rPr lang="en-GB" dirty="0" smtClean="0"/>
              <a:t>The statement will always be executed at least once</a:t>
            </a:r>
          </a:p>
          <a:p>
            <a:pPr lvl="1"/>
            <a:r>
              <a:rPr lang="en-GB" dirty="0" smtClean="0"/>
              <a:t>Complete the values for x and Output</a:t>
            </a:r>
            <a:endParaRPr lang="en-GB" dirty="0"/>
          </a:p>
          <a:p>
            <a:pPr>
              <a:spcAft>
                <a:spcPts val="600"/>
              </a:spcAft>
            </a:pPr>
            <a:endParaRPr lang="en-GB" dirty="0" smtClean="0"/>
          </a:p>
          <a:p>
            <a:pPr>
              <a:spcAft>
                <a:spcPts val="0"/>
              </a:spcAft>
            </a:pPr>
            <a:endParaRPr lang="en-GB" dirty="0"/>
          </a:p>
          <a:p>
            <a:endParaRPr lang="en-GB" dirty="0" smtClean="0"/>
          </a:p>
          <a:p>
            <a:endParaRPr lang="en-GB" dirty="0"/>
          </a:p>
          <a:p>
            <a:pPr>
              <a:spcAft>
                <a:spcPts val="0"/>
              </a:spcAft>
            </a:pPr>
            <a:r>
              <a:rPr lang="en-GB" dirty="0"/>
              <a:t>What would happen if the first statement was changed to  </a:t>
            </a:r>
            <a:r>
              <a:rPr lang="en-GB" dirty="0">
                <a:solidFill>
                  <a:srgbClr val="246AB4"/>
                </a:solidFill>
              </a:rPr>
              <a:t>x </a:t>
            </a:r>
            <a:r>
              <a:rPr lang="en-GB" dirty="0">
                <a:solidFill>
                  <a:srgbClr val="246AB4"/>
                </a:solidFill>
                <a:sym typeface="Wingdings" panose="05000000000000000000" pitchFamily="2" charset="2"/>
              </a:rPr>
              <a:t> 2 </a:t>
            </a:r>
            <a:r>
              <a:rPr lang="en-GB" dirty="0">
                <a:sym typeface="Wingdings" panose="05000000000000000000" pitchFamily="2" charset="2"/>
              </a:rPr>
              <a:t>?</a:t>
            </a:r>
            <a:endParaRPr lang="en-GB" dirty="0"/>
          </a:p>
          <a:p>
            <a:endParaRPr lang="en-GB" dirty="0" smtClean="0"/>
          </a:p>
        </p:txBody>
      </p:sp>
      <p:sp>
        <p:nvSpPr>
          <p:cNvPr id="6" name="TextBox 5"/>
          <p:cNvSpPr txBox="1"/>
          <p:nvPr/>
        </p:nvSpPr>
        <p:spPr>
          <a:xfrm>
            <a:off x="1683940" y="3503889"/>
            <a:ext cx="2512533" cy="1938992"/>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defPPr>
              <a:defRPr lang="en-US"/>
            </a:defPPr>
            <a:lvl1pPr>
              <a:defRPr sz="2000">
                <a:solidFill>
                  <a:srgbClr val="36A7D4"/>
                </a:solidFill>
                <a:latin typeface="Consolas" panose="020B0609020204030204" pitchFamily="49" charset="0"/>
                <a:cs typeface="Consolas" panose="020B0609020204030204" pitchFamily="49" charset="0"/>
              </a:defRPr>
            </a:lvl1pPr>
          </a:lstStyle>
          <a:p>
            <a:r>
              <a:rPr lang="en-GB" dirty="0"/>
              <a:t>x </a:t>
            </a:r>
            <a:r>
              <a:rPr lang="en-GB" dirty="0" smtClean="0">
                <a:sym typeface="Wingdings" panose="05000000000000000000" pitchFamily="2" charset="2"/>
              </a:rPr>
              <a:t> 0</a:t>
            </a:r>
            <a:endParaRPr lang="en-GB" dirty="0"/>
          </a:p>
          <a:p>
            <a:r>
              <a:rPr lang="en-GB" dirty="0" smtClean="0"/>
              <a:t>REPEAT</a:t>
            </a:r>
            <a:endParaRPr lang="en-GB" dirty="0"/>
          </a:p>
          <a:p>
            <a:r>
              <a:rPr lang="en-GB" dirty="0"/>
              <a:t>	x </a:t>
            </a:r>
            <a:r>
              <a:rPr lang="en-GB" dirty="0" smtClean="0">
                <a:sym typeface="Wingdings" panose="05000000000000000000" pitchFamily="2" charset="2"/>
              </a:rPr>
              <a:t> x+1</a:t>
            </a:r>
            <a:endParaRPr lang="en-GB" dirty="0">
              <a:sym typeface="Wingdings" panose="05000000000000000000" pitchFamily="2" charset="2"/>
            </a:endParaRPr>
          </a:p>
          <a:p>
            <a:r>
              <a:rPr lang="en-GB" dirty="0">
                <a:sym typeface="Wingdings" panose="05000000000000000000" pitchFamily="2" charset="2"/>
              </a:rPr>
              <a:t>	OUTPUT x</a:t>
            </a:r>
            <a:endParaRPr lang="en-GB" dirty="0"/>
          </a:p>
          <a:p>
            <a:r>
              <a:rPr lang="en-GB" dirty="0"/>
              <a:t>UNTIL x &gt;= 2</a:t>
            </a:r>
          </a:p>
          <a:p>
            <a:r>
              <a:rPr lang="en-GB" dirty="0"/>
              <a:t>OUTPUT “The end”</a:t>
            </a:r>
          </a:p>
        </p:txBody>
      </p:sp>
      <p:graphicFrame>
        <p:nvGraphicFramePr>
          <p:cNvPr id="7" name="Table 6"/>
          <p:cNvGraphicFramePr>
            <a:graphicFrameLocks noGrp="1"/>
          </p:cNvGraphicFramePr>
          <p:nvPr>
            <p:extLst>
              <p:ext uri="{D42A27DB-BD31-4B8C-83A1-F6EECF244321}">
                <p14:modId xmlns:p14="http://schemas.microsoft.com/office/powerpoint/2010/main" val="1532054466"/>
              </p:ext>
            </p:extLst>
          </p:nvPr>
        </p:nvGraphicFramePr>
        <p:xfrm>
          <a:off x="4695888" y="3511660"/>
          <a:ext cx="2694216" cy="1800000"/>
        </p:xfrm>
        <a:graphic>
          <a:graphicData uri="http://schemas.openxmlformats.org/drawingml/2006/table">
            <a:tbl>
              <a:tblPr>
                <a:tableStyleId>{5C22544A-7EE6-4342-B048-85BDC9FD1C3A}</a:tableStyleId>
              </a:tblPr>
              <a:tblGrid>
                <a:gridCol w="1347108"/>
                <a:gridCol w="1347108"/>
              </a:tblGrid>
              <a:tr h="360000">
                <a:tc>
                  <a:txBody>
                    <a:bodyPr/>
                    <a:lstStyle/>
                    <a:p>
                      <a:pPr marL="0" algn="ctr" defTabSz="457200" rtl="0" eaLnBrk="1" fontAlgn="ctr" latinLnBrk="0" hangingPunct="1"/>
                      <a:r>
                        <a:rPr lang="en-GB" sz="1800" b="1" i="0" u="none" strike="noStrike" kern="1200" dirty="0" smtClean="0">
                          <a:solidFill>
                            <a:schemeClr val="bg1"/>
                          </a:solidFill>
                          <a:effectLst/>
                          <a:latin typeface="Arial" panose="020B0604020202020204" pitchFamily="34" charset="0"/>
                          <a:ea typeface="+mn-ea"/>
                          <a:cs typeface="Arial" panose="020B0604020202020204" pitchFamily="34" charset="0"/>
                        </a:rPr>
                        <a:t>x</a:t>
                      </a:r>
                      <a:endParaRPr lang="en-GB" sz="1800" b="1" i="0" u="none" strike="noStrike" kern="1200" dirty="0">
                        <a:solidFill>
                          <a:schemeClr val="bg1"/>
                        </a:solidFill>
                        <a:effectLst/>
                        <a:latin typeface="Arial" panose="020B0604020202020204" pitchFamily="34" charset="0"/>
                        <a:ea typeface="+mn-ea"/>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36A7D4"/>
                    </a:solidFill>
                  </a:tcPr>
                </a:tc>
                <a:tc>
                  <a:txBody>
                    <a:bodyPr/>
                    <a:lstStyle/>
                    <a:p>
                      <a:pPr marL="0" algn="ctr" defTabSz="457200" rtl="0" eaLnBrk="1" fontAlgn="ctr" latinLnBrk="0" hangingPunct="1"/>
                      <a:r>
                        <a:rPr lang="en-GB" sz="1800" b="1" i="0" u="none" strike="noStrike" kern="1200" dirty="0" smtClean="0">
                          <a:solidFill>
                            <a:schemeClr val="bg1"/>
                          </a:solidFill>
                          <a:effectLst/>
                          <a:latin typeface="Arial" panose="020B0604020202020204" pitchFamily="34" charset="0"/>
                          <a:ea typeface="+mn-ea"/>
                          <a:cs typeface="Arial" panose="020B0604020202020204" pitchFamily="34" charset="0"/>
                        </a:rPr>
                        <a:t>Output</a:t>
                      </a:r>
                      <a:endParaRPr lang="en-GB" sz="1800" b="1" i="0" u="none" strike="noStrike" kern="1200" dirty="0">
                        <a:solidFill>
                          <a:schemeClr val="bg1"/>
                        </a:solidFill>
                        <a:effectLst/>
                        <a:latin typeface="Arial" panose="020B0604020202020204" pitchFamily="34" charset="0"/>
                        <a:ea typeface="+mn-ea"/>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36A7D4"/>
                    </a:solidFill>
                  </a:tcPr>
                </a:tc>
              </a:tr>
              <a:tr h="360000">
                <a:tc>
                  <a:txBody>
                    <a:bodyPr/>
                    <a:lstStyle/>
                    <a:p>
                      <a:pPr marL="0" algn="ctr" defTabSz="457200" rtl="0" eaLnBrk="1" fontAlgn="ctr" latinLnBrk="0" hangingPunct="1"/>
                      <a:r>
                        <a:rPr lang="en-GB" sz="1800" b="0" i="0" u="none" strike="noStrike" kern="1200" dirty="0">
                          <a:solidFill>
                            <a:srgbClr val="000000"/>
                          </a:solidFill>
                          <a:effectLst/>
                          <a:latin typeface="Arial" panose="020B0604020202020204" pitchFamily="34" charset="0"/>
                          <a:ea typeface="+mn-ea"/>
                          <a:cs typeface="Arial" panose="020B0604020202020204" pitchFamily="34" charset="0"/>
                        </a:rPr>
                        <a:t>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457200" rtl="0" eaLnBrk="1" fontAlgn="ctr" latinLnBrk="0" hangingPunct="1"/>
                      <a:endParaRPr lang="en-GB" sz="18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r>
              <a:tr h="360000">
                <a:tc>
                  <a:txBody>
                    <a:bodyPr/>
                    <a:lstStyle/>
                    <a:p>
                      <a:pPr marL="0" algn="ctr" defTabSz="457200" rtl="0" eaLnBrk="1" fontAlgn="ctr" latinLnBrk="0" hangingPunct="1"/>
                      <a:endParaRPr lang="en-GB" sz="1800" b="0" i="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457200" rtl="0" eaLnBrk="1" fontAlgn="ctr" latinLnBrk="0" hangingPunct="1"/>
                      <a:endParaRPr lang="en-GB" sz="1800" b="0" i="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r>
              <a:tr h="360000">
                <a:tc>
                  <a:txBody>
                    <a:bodyPr/>
                    <a:lstStyle/>
                    <a:p>
                      <a:pPr marL="0" algn="ctr" defTabSz="457200" rtl="0" eaLnBrk="1" fontAlgn="ctr" latinLnBrk="0" hangingPunct="1"/>
                      <a:endParaRPr lang="en-GB" sz="1800" b="0" i="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457200" rtl="0" eaLnBrk="1" fontAlgn="ctr" latinLnBrk="0" hangingPunct="1"/>
                      <a:endParaRPr lang="en-GB" sz="1800" b="0" i="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r>
              <a:tr h="360000">
                <a:tc>
                  <a:txBody>
                    <a:bodyPr/>
                    <a:lstStyle/>
                    <a:p>
                      <a:pPr marL="0" algn="ctr" defTabSz="457200" rtl="0" eaLnBrk="1" fontAlgn="ctr" latinLnBrk="0" hangingPunct="1"/>
                      <a:endParaRPr lang="en-GB" sz="1800" b="0" i="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457200" rtl="0" eaLnBrk="1" fontAlgn="ctr" latinLnBrk="0" hangingPunct="1"/>
                      <a:endParaRPr lang="en-GB" sz="1800" b="0" i="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Tree>
    <p:extLst>
      <p:ext uri="{BB962C8B-B14F-4D97-AF65-F5344CB8AC3E}">
        <p14:creationId xmlns:p14="http://schemas.microsoft.com/office/powerpoint/2010/main" val="42871661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Performing a range check</a:t>
            </a:r>
            <a:endParaRPr lang="en-GB" dirty="0"/>
          </a:p>
        </p:txBody>
      </p:sp>
      <p:sp>
        <p:nvSpPr>
          <p:cNvPr id="3" name="Text Placeholder 2"/>
          <p:cNvSpPr>
            <a:spLocks noGrp="1"/>
          </p:cNvSpPr>
          <p:nvPr>
            <p:ph type="body" sz="quarter" idx="14"/>
          </p:nvPr>
        </p:nvSpPr>
        <p:spPr>
          <a:xfrm>
            <a:off x="724279" y="1704180"/>
            <a:ext cx="7816471" cy="4749629"/>
          </a:xfrm>
        </p:spPr>
        <p:txBody>
          <a:bodyPr/>
          <a:lstStyle/>
          <a:p>
            <a:r>
              <a:rPr lang="en-GB" dirty="0" smtClean="0"/>
              <a:t>A loop can be used to implement a range check</a:t>
            </a:r>
          </a:p>
          <a:p>
            <a:r>
              <a:rPr lang="en-GB" dirty="0" smtClean="0"/>
              <a:t>The loop will continually prompt for input until a valid age between 12 and 18 is entered</a:t>
            </a:r>
          </a:p>
          <a:p>
            <a:r>
              <a:rPr lang="en-GB" dirty="0"/>
              <a:t>Work through the algorithm below with the data 10, 11,18 and </a:t>
            </a:r>
            <a:r>
              <a:rPr lang="en-GB" dirty="0" smtClean="0"/>
              <a:t>19. What will be the output?</a:t>
            </a:r>
            <a:endParaRPr lang="en-GB" dirty="0"/>
          </a:p>
          <a:p>
            <a:endParaRPr lang="en-GB" dirty="0"/>
          </a:p>
          <a:p>
            <a:endParaRPr lang="en-GB" dirty="0" smtClean="0"/>
          </a:p>
        </p:txBody>
      </p:sp>
      <p:sp>
        <p:nvSpPr>
          <p:cNvPr id="4" name="TextBox 3"/>
          <p:cNvSpPr txBox="1"/>
          <p:nvPr/>
        </p:nvSpPr>
        <p:spPr>
          <a:xfrm>
            <a:off x="2332383" y="4223503"/>
            <a:ext cx="4373217" cy="1938992"/>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defPPr>
              <a:defRPr lang="en-US"/>
            </a:defPPr>
            <a:lvl1pPr>
              <a:defRPr sz="2000">
                <a:solidFill>
                  <a:srgbClr val="36A7D4"/>
                </a:solidFill>
                <a:latin typeface="Consolas" panose="020B0609020204030204" pitchFamily="49" charset="0"/>
                <a:cs typeface="Consolas" panose="020B0609020204030204" pitchFamily="49" charset="0"/>
              </a:defRPr>
            </a:lvl1pPr>
          </a:lstStyle>
          <a:p>
            <a:r>
              <a:rPr lang="en-GB" dirty="0"/>
              <a:t>REPEAT</a:t>
            </a:r>
          </a:p>
          <a:p>
            <a:r>
              <a:rPr lang="en-GB" dirty="0"/>
              <a:t>	OUTPUT “Enter age”</a:t>
            </a:r>
          </a:p>
          <a:p>
            <a:r>
              <a:rPr lang="en-GB" dirty="0"/>
              <a:t>	age </a:t>
            </a:r>
            <a:r>
              <a:rPr lang="en-GB" dirty="0" smtClean="0">
                <a:sym typeface="Wingdings" panose="05000000000000000000" pitchFamily="2" charset="2"/>
              </a:rPr>
              <a:t> USERINPUT</a:t>
            </a:r>
            <a:endParaRPr lang="en-GB" dirty="0"/>
          </a:p>
          <a:p>
            <a:r>
              <a:rPr lang="en-GB" dirty="0"/>
              <a:t>UNTIL age &gt; 11 AND age &lt;= 18</a:t>
            </a:r>
          </a:p>
          <a:p>
            <a:r>
              <a:rPr lang="en-GB" dirty="0"/>
              <a:t>OUTPUT “Age is”, age</a:t>
            </a:r>
          </a:p>
          <a:p>
            <a:endParaRPr lang="en-GB" dirty="0"/>
          </a:p>
        </p:txBody>
      </p:sp>
    </p:spTree>
    <p:extLst>
      <p:ext uri="{BB962C8B-B14F-4D97-AF65-F5344CB8AC3E}">
        <p14:creationId xmlns:p14="http://schemas.microsoft.com/office/powerpoint/2010/main" val="296082141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An equivalent WHILE loop</a:t>
            </a:r>
            <a:endParaRPr lang="en-GB" dirty="0"/>
          </a:p>
        </p:txBody>
      </p:sp>
      <p:sp>
        <p:nvSpPr>
          <p:cNvPr id="3" name="Text Placeholder 2"/>
          <p:cNvSpPr>
            <a:spLocks noGrp="1"/>
          </p:cNvSpPr>
          <p:nvPr>
            <p:ph type="body" sz="quarter" idx="14"/>
          </p:nvPr>
        </p:nvSpPr>
        <p:spPr>
          <a:xfrm>
            <a:off x="724279" y="1704180"/>
            <a:ext cx="7816471" cy="1577863"/>
          </a:xfrm>
        </p:spPr>
        <p:txBody>
          <a:bodyPr/>
          <a:lstStyle/>
          <a:p>
            <a:r>
              <a:rPr lang="en-GB" dirty="0" smtClean="0"/>
              <a:t>In Python the </a:t>
            </a:r>
            <a:r>
              <a:rPr lang="en-GB" dirty="0" smtClean="0">
                <a:solidFill>
                  <a:srgbClr val="246AB4"/>
                </a:solidFill>
              </a:rPr>
              <a:t>REPEAT..UNTIL </a:t>
            </a:r>
            <a:r>
              <a:rPr lang="en-GB" dirty="0" smtClean="0"/>
              <a:t>loop is not supported</a:t>
            </a:r>
          </a:p>
          <a:p>
            <a:r>
              <a:rPr lang="en-GB" dirty="0" smtClean="0"/>
              <a:t>An equivalent loop can be created using a </a:t>
            </a:r>
            <a:r>
              <a:rPr lang="en-GB" dirty="0" smtClean="0">
                <a:solidFill>
                  <a:srgbClr val="246AB4"/>
                </a:solidFill>
              </a:rPr>
              <a:t>WHILE</a:t>
            </a:r>
            <a:r>
              <a:rPr lang="en-GB" dirty="0" smtClean="0"/>
              <a:t> loop</a:t>
            </a:r>
          </a:p>
          <a:p>
            <a:r>
              <a:rPr lang="en-GB" dirty="0"/>
              <a:t>Work through the algorithm below with the data 10, 11,18 and 19. What will be </a:t>
            </a:r>
            <a:r>
              <a:rPr lang="en-GB" dirty="0" smtClean="0"/>
              <a:t>the output</a:t>
            </a:r>
            <a:r>
              <a:rPr lang="en-GB" dirty="0"/>
              <a:t>?</a:t>
            </a:r>
          </a:p>
          <a:p>
            <a:endParaRPr lang="en-GB" dirty="0" smtClean="0"/>
          </a:p>
        </p:txBody>
      </p:sp>
      <p:sp>
        <p:nvSpPr>
          <p:cNvPr id="6" name="TextBox 5"/>
          <p:cNvSpPr txBox="1"/>
          <p:nvPr/>
        </p:nvSpPr>
        <p:spPr>
          <a:xfrm>
            <a:off x="2691072" y="4223835"/>
            <a:ext cx="3882883" cy="2000548"/>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defPPr>
              <a:defRPr lang="en-US"/>
            </a:defPPr>
            <a:lvl1pPr>
              <a:defRPr sz="2000">
                <a:solidFill>
                  <a:srgbClr val="36A7D4"/>
                </a:solidFill>
                <a:latin typeface="Consolas" panose="020B0609020204030204" pitchFamily="49" charset="0"/>
                <a:cs typeface="Consolas" panose="020B0609020204030204" pitchFamily="49" charset="0"/>
              </a:defRPr>
            </a:lvl1pPr>
          </a:lstStyle>
          <a:p>
            <a:r>
              <a:rPr lang="en-GB" dirty="0"/>
              <a:t>age = 0</a:t>
            </a:r>
          </a:p>
          <a:p>
            <a:r>
              <a:rPr lang="en-GB" dirty="0"/>
              <a:t>WHILE age &lt; 12 OR age &gt; 18 	OUTPUT “Enter age”</a:t>
            </a:r>
          </a:p>
          <a:p>
            <a:r>
              <a:rPr lang="en-GB" dirty="0"/>
              <a:t>	age </a:t>
            </a:r>
            <a:r>
              <a:rPr lang="en-GB" dirty="0" smtClean="0">
                <a:sym typeface="Wingdings" panose="05000000000000000000" pitchFamily="2" charset="2"/>
              </a:rPr>
              <a:t> USERINPUT</a:t>
            </a:r>
            <a:endParaRPr lang="en-GB" dirty="0"/>
          </a:p>
          <a:p>
            <a:r>
              <a:rPr lang="en-GB" dirty="0"/>
              <a:t>ENDWHILE</a:t>
            </a:r>
          </a:p>
          <a:p>
            <a:r>
              <a:rPr lang="en-GB" dirty="0"/>
              <a:t>OUTPUT “Age is”, age</a:t>
            </a:r>
          </a:p>
        </p:txBody>
      </p:sp>
    </p:spTree>
    <p:extLst>
      <p:ext uri="{BB962C8B-B14F-4D97-AF65-F5344CB8AC3E}">
        <p14:creationId xmlns:p14="http://schemas.microsoft.com/office/powerpoint/2010/main" val="153738074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Infinite loop</a:t>
            </a:r>
            <a:endParaRPr lang="en-GB" dirty="0"/>
          </a:p>
        </p:txBody>
      </p:sp>
      <p:sp>
        <p:nvSpPr>
          <p:cNvPr id="3" name="Text Placeholder 2"/>
          <p:cNvSpPr>
            <a:spLocks noGrp="1"/>
          </p:cNvSpPr>
          <p:nvPr>
            <p:ph type="body" sz="quarter" idx="14"/>
          </p:nvPr>
        </p:nvSpPr>
        <p:spPr>
          <a:xfrm>
            <a:off x="724279" y="1704180"/>
            <a:ext cx="7816471" cy="1577863"/>
          </a:xfrm>
        </p:spPr>
        <p:txBody>
          <a:bodyPr/>
          <a:lstStyle/>
          <a:p>
            <a:r>
              <a:rPr lang="en-GB" dirty="0" smtClean="0"/>
              <a:t>You may cause an infinite loop if you make a coding error</a:t>
            </a:r>
          </a:p>
          <a:p>
            <a:r>
              <a:rPr lang="en-GB" dirty="0" smtClean="0"/>
              <a:t>What is the problem with this algorithm?</a:t>
            </a:r>
            <a:endParaRPr lang="en-GB" dirty="0"/>
          </a:p>
        </p:txBody>
      </p:sp>
      <p:sp>
        <p:nvSpPr>
          <p:cNvPr id="6" name="TextBox 5"/>
          <p:cNvSpPr txBox="1"/>
          <p:nvPr/>
        </p:nvSpPr>
        <p:spPr>
          <a:xfrm>
            <a:off x="1814189" y="3532153"/>
            <a:ext cx="5636649" cy="1938992"/>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defPPr>
              <a:defRPr lang="en-US"/>
            </a:defPPr>
            <a:lvl1pPr>
              <a:defRPr sz="2000">
                <a:solidFill>
                  <a:srgbClr val="36A7D4"/>
                </a:solidFill>
                <a:latin typeface="Consolas" panose="020B0609020204030204" pitchFamily="49" charset="0"/>
                <a:cs typeface="Consolas" panose="020B0609020204030204" pitchFamily="49" charset="0"/>
              </a:defRPr>
            </a:lvl1pPr>
          </a:lstStyle>
          <a:p>
            <a:r>
              <a:rPr lang="en-GB" dirty="0"/>
              <a:t>OUTPUT “Enter age”</a:t>
            </a:r>
          </a:p>
          <a:p>
            <a:r>
              <a:rPr lang="en-GB" dirty="0"/>
              <a:t>age </a:t>
            </a:r>
            <a:r>
              <a:rPr lang="en-GB" dirty="0" smtClean="0">
                <a:sym typeface="Wingdings" panose="05000000000000000000" pitchFamily="2" charset="2"/>
              </a:rPr>
              <a:t> USERINPUT</a:t>
            </a:r>
            <a:endParaRPr lang="en-GB" dirty="0"/>
          </a:p>
          <a:p>
            <a:r>
              <a:rPr lang="en-GB" dirty="0" smtClean="0"/>
              <a:t>WHILE </a:t>
            </a:r>
            <a:r>
              <a:rPr lang="en-GB" dirty="0"/>
              <a:t>age &lt; 11 or age &gt; 18 </a:t>
            </a:r>
          </a:p>
          <a:p>
            <a:r>
              <a:rPr lang="en-GB" dirty="0"/>
              <a:t>	OUTPUT “Invalid data. Re-enter age”</a:t>
            </a:r>
          </a:p>
          <a:p>
            <a:r>
              <a:rPr lang="en-GB" dirty="0"/>
              <a:t>ENDWHILE</a:t>
            </a:r>
          </a:p>
          <a:p>
            <a:r>
              <a:rPr lang="en-GB" dirty="0"/>
              <a:t>OUTPUT “Valid data”</a:t>
            </a:r>
          </a:p>
        </p:txBody>
      </p:sp>
    </p:spTree>
    <p:extLst>
      <p:ext uri="{BB962C8B-B14F-4D97-AF65-F5344CB8AC3E}">
        <p14:creationId xmlns:p14="http://schemas.microsoft.com/office/powerpoint/2010/main" val="46243288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Infinite loop</a:t>
            </a:r>
            <a:endParaRPr lang="en-GB" dirty="0"/>
          </a:p>
        </p:txBody>
      </p:sp>
      <p:sp>
        <p:nvSpPr>
          <p:cNvPr id="3" name="Text Placeholder 2"/>
          <p:cNvSpPr>
            <a:spLocks noGrp="1"/>
          </p:cNvSpPr>
          <p:nvPr>
            <p:ph type="body" sz="quarter" idx="14"/>
          </p:nvPr>
        </p:nvSpPr>
        <p:spPr>
          <a:xfrm>
            <a:off x="724279" y="1704180"/>
            <a:ext cx="7816471" cy="1577863"/>
          </a:xfrm>
        </p:spPr>
        <p:txBody>
          <a:bodyPr/>
          <a:lstStyle/>
          <a:p>
            <a:r>
              <a:rPr lang="en-GB" dirty="0" smtClean="0"/>
              <a:t>Infinite loops are often used in 2D games</a:t>
            </a:r>
          </a:p>
          <a:p>
            <a:pPr lvl="1"/>
            <a:r>
              <a:rPr lang="en-GB" dirty="0" smtClean="0"/>
              <a:t>An “outer” </a:t>
            </a:r>
            <a:r>
              <a:rPr lang="en-GB" dirty="0" smtClean="0">
                <a:solidFill>
                  <a:srgbClr val="246AB4"/>
                </a:solidFill>
              </a:rPr>
              <a:t>WHILE True… ENDWHILE </a:t>
            </a:r>
            <a:r>
              <a:rPr lang="en-GB" dirty="0" smtClean="0"/>
              <a:t>loop runs the game</a:t>
            </a:r>
          </a:p>
          <a:p>
            <a:pPr lvl="1"/>
            <a:r>
              <a:rPr lang="en-GB" dirty="0" smtClean="0"/>
              <a:t>A brief pause can be included to slow the loop down, so that a sprite </a:t>
            </a:r>
            <a:r>
              <a:rPr lang="en-GB" dirty="0" err="1" smtClean="0"/>
              <a:t>x,y</a:t>
            </a:r>
            <a:r>
              <a:rPr lang="en-GB" dirty="0" smtClean="0"/>
              <a:t> position can be updated about 25 times a second for smooth animation</a:t>
            </a:r>
            <a:endParaRPr lang="en-GB" dirty="0"/>
          </a:p>
        </p:txBody>
      </p:sp>
      <p:sp>
        <p:nvSpPr>
          <p:cNvPr id="6" name="TextBox 5"/>
          <p:cNvSpPr txBox="1"/>
          <p:nvPr/>
        </p:nvSpPr>
        <p:spPr>
          <a:xfrm>
            <a:off x="2729944" y="4008401"/>
            <a:ext cx="3805139" cy="1631216"/>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defPPr>
              <a:defRPr lang="en-US"/>
            </a:defPPr>
            <a:lvl1pPr>
              <a:defRPr sz="2000">
                <a:solidFill>
                  <a:srgbClr val="36A7D4"/>
                </a:solidFill>
                <a:latin typeface="Consolas" panose="020B0609020204030204" pitchFamily="49" charset="0"/>
                <a:cs typeface="Consolas" panose="020B0609020204030204" pitchFamily="49" charset="0"/>
              </a:defRPr>
            </a:lvl1pPr>
          </a:lstStyle>
          <a:p>
            <a:r>
              <a:rPr lang="en-GB" dirty="0"/>
              <a:t>WHILE True</a:t>
            </a:r>
          </a:p>
          <a:p>
            <a:r>
              <a:rPr lang="en-GB" dirty="0"/>
              <a:t>	</a:t>
            </a:r>
            <a:r>
              <a:rPr lang="en-GB" dirty="0" err="1"/>
              <a:t>updatePlayerPosition</a:t>
            </a:r>
            <a:r>
              <a:rPr lang="en-GB" dirty="0"/>
              <a:t>()</a:t>
            </a:r>
          </a:p>
          <a:p>
            <a:r>
              <a:rPr lang="en-GB" dirty="0"/>
              <a:t>	</a:t>
            </a:r>
            <a:r>
              <a:rPr lang="en-GB" dirty="0" err="1"/>
              <a:t>checkForCollision</a:t>
            </a:r>
            <a:r>
              <a:rPr lang="en-GB" dirty="0"/>
              <a:t>()</a:t>
            </a:r>
          </a:p>
          <a:p>
            <a:r>
              <a:rPr lang="en-GB" dirty="0"/>
              <a:t>	redraw()</a:t>
            </a:r>
          </a:p>
          <a:p>
            <a:r>
              <a:rPr lang="en-GB" dirty="0"/>
              <a:t>ENDWHILE</a:t>
            </a:r>
          </a:p>
        </p:txBody>
      </p:sp>
    </p:spTree>
    <p:extLst>
      <p:ext uri="{BB962C8B-B14F-4D97-AF65-F5344CB8AC3E}">
        <p14:creationId xmlns:p14="http://schemas.microsoft.com/office/powerpoint/2010/main" val="351568471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Infinite loops in control and data sensing applications</a:t>
            </a:r>
            <a:endParaRPr lang="en-GB" dirty="0"/>
          </a:p>
        </p:txBody>
      </p:sp>
      <p:sp>
        <p:nvSpPr>
          <p:cNvPr id="3" name="Text Placeholder 2"/>
          <p:cNvSpPr>
            <a:spLocks noGrp="1"/>
          </p:cNvSpPr>
          <p:nvPr>
            <p:ph type="body" sz="quarter" idx="14"/>
          </p:nvPr>
        </p:nvSpPr>
        <p:spPr>
          <a:xfrm>
            <a:off x="724279" y="2101745"/>
            <a:ext cx="7816471" cy="3411159"/>
          </a:xfrm>
        </p:spPr>
        <p:txBody>
          <a:bodyPr/>
          <a:lstStyle/>
          <a:p>
            <a:r>
              <a:rPr lang="en-GB" dirty="0" smtClean="0"/>
              <a:t>Computer control and data sensing applications use infinite loops to gather data from sensors</a:t>
            </a:r>
          </a:p>
          <a:p>
            <a:pPr lvl="1"/>
            <a:r>
              <a:rPr lang="en-GB" dirty="0" smtClean="0"/>
              <a:t>A variety of sensors can control a number of output devices such as lights, buzzers and motors</a:t>
            </a:r>
          </a:p>
          <a:p>
            <a:pPr lvl="1"/>
            <a:r>
              <a:rPr lang="en-GB" dirty="0" smtClean="0"/>
              <a:t>After the setup code is run, </a:t>
            </a:r>
            <a:br>
              <a:rPr lang="en-GB" dirty="0" smtClean="0"/>
            </a:br>
            <a:r>
              <a:rPr lang="en-GB" dirty="0" smtClean="0"/>
              <a:t>the device enters an infinite </a:t>
            </a:r>
            <a:br>
              <a:rPr lang="en-GB" dirty="0" smtClean="0"/>
            </a:br>
            <a:r>
              <a:rPr lang="en-GB" dirty="0" smtClean="0"/>
              <a:t>loop to repeatedly check the </a:t>
            </a:r>
            <a:br>
              <a:rPr lang="en-GB" dirty="0" smtClean="0"/>
            </a:br>
            <a:r>
              <a:rPr lang="en-GB" dirty="0" smtClean="0"/>
              <a:t>value of the sensors</a:t>
            </a:r>
            <a:endParaRPr lang="en-GB" dirty="0"/>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14060" t="6372" r="17030" b="3953"/>
          <a:stretch/>
        </p:blipFill>
        <p:spPr>
          <a:xfrm flipH="1">
            <a:off x="5531667" y="3491555"/>
            <a:ext cx="2272420" cy="2791551"/>
          </a:xfrm>
          <a:prstGeom prst="rect">
            <a:avLst/>
          </a:prstGeom>
        </p:spPr>
      </p:pic>
    </p:spTree>
    <p:extLst>
      <p:ext uri="{BB962C8B-B14F-4D97-AF65-F5344CB8AC3E}">
        <p14:creationId xmlns:p14="http://schemas.microsoft.com/office/powerpoint/2010/main" val="251333905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p:txBody>
          <a:bodyPr/>
          <a:lstStyle/>
          <a:p>
            <a:r>
              <a:rPr lang="en-GB" dirty="0" smtClean="0"/>
              <a:t>Worksheet 3</a:t>
            </a:r>
            <a:endParaRPr lang="en-GB" dirty="0"/>
          </a:p>
        </p:txBody>
      </p:sp>
      <p:sp>
        <p:nvSpPr>
          <p:cNvPr id="7" name="Text Placeholder 6"/>
          <p:cNvSpPr>
            <a:spLocks noGrp="1"/>
          </p:cNvSpPr>
          <p:nvPr>
            <p:ph type="body" sz="quarter" idx="14"/>
          </p:nvPr>
        </p:nvSpPr>
        <p:spPr/>
        <p:txBody>
          <a:bodyPr/>
          <a:lstStyle/>
          <a:p>
            <a:r>
              <a:rPr lang="en-GB" sz="2800" dirty="0"/>
              <a:t>Complete </a:t>
            </a:r>
            <a:r>
              <a:rPr lang="en-GB" sz="2800" b="1" dirty="0" smtClean="0"/>
              <a:t>Task 2</a:t>
            </a:r>
            <a:r>
              <a:rPr lang="en-GB" sz="2800" dirty="0" smtClean="0"/>
              <a:t>, </a:t>
            </a:r>
            <a:r>
              <a:rPr lang="en-GB" sz="2800" b="1" dirty="0" smtClean="0"/>
              <a:t>Questions</a:t>
            </a:r>
            <a:r>
              <a:rPr lang="en-GB" sz="2800" dirty="0" smtClean="0"/>
              <a:t> </a:t>
            </a:r>
            <a:r>
              <a:rPr lang="en-GB" sz="2800" b="1" dirty="0" smtClean="0"/>
              <a:t>3</a:t>
            </a:r>
            <a:r>
              <a:rPr lang="en-GB" sz="2800" dirty="0" smtClean="0"/>
              <a:t> and </a:t>
            </a:r>
            <a:r>
              <a:rPr lang="en-GB" sz="2800" b="1" dirty="0" smtClean="0"/>
              <a:t>4</a:t>
            </a:r>
            <a:endParaRPr lang="en-GB" sz="2800" b="1" dirty="0"/>
          </a:p>
        </p:txBody>
      </p:sp>
    </p:spTree>
    <p:extLst>
      <p:ext uri="{BB962C8B-B14F-4D97-AF65-F5344CB8AC3E}">
        <p14:creationId xmlns:p14="http://schemas.microsoft.com/office/powerpoint/2010/main" val="175411648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FOR .. NEXT loop</a:t>
            </a:r>
            <a:endParaRPr lang="en-GB" dirty="0"/>
          </a:p>
        </p:txBody>
      </p:sp>
      <p:sp>
        <p:nvSpPr>
          <p:cNvPr id="3" name="Text Placeholder 2"/>
          <p:cNvSpPr>
            <a:spLocks noGrp="1"/>
          </p:cNvSpPr>
          <p:nvPr>
            <p:ph type="body" sz="quarter" idx="14"/>
          </p:nvPr>
        </p:nvSpPr>
        <p:spPr/>
        <p:txBody>
          <a:bodyPr/>
          <a:lstStyle/>
          <a:p>
            <a:r>
              <a:rPr lang="en-GB" dirty="0" smtClean="0"/>
              <a:t>The </a:t>
            </a:r>
            <a:r>
              <a:rPr lang="en-GB" dirty="0" smtClean="0">
                <a:solidFill>
                  <a:srgbClr val="246AB4"/>
                </a:solidFill>
              </a:rPr>
              <a:t>FOR .. NEXT </a:t>
            </a:r>
            <a:r>
              <a:rPr lang="en-GB" dirty="0" smtClean="0"/>
              <a:t>loop is termed “</a:t>
            </a:r>
            <a:r>
              <a:rPr lang="en-GB" dirty="0" smtClean="0">
                <a:solidFill>
                  <a:srgbClr val="246AB4"/>
                </a:solidFill>
              </a:rPr>
              <a:t>definite iteration</a:t>
            </a:r>
            <a:r>
              <a:rPr lang="en-GB" dirty="0" smtClean="0"/>
              <a:t>”, and is used to repeat a block of instructions a specified number of times</a:t>
            </a:r>
          </a:p>
          <a:p>
            <a:r>
              <a:rPr lang="en-GB" dirty="0" smtClean="0"/>
              <a:t>The FOR loop uses a counter variable which is automatically incremented each time through the loop</a:t>
            </a:r>
          </a:p>
          <a:p>
            <a:r>
              <a:rPr lang="en-GB" dirty="0" smtClean="0"/>
              <a:t>Optionally, a STEP value can be specified to make the counter increase or decrease by any integer</a:t>
            </a:r>
            <a:endParaRPr lang="en-GB" dirty="0"/>
          </a:p>
        </p:txBody>
      </p:sp>
    </p:spTree>
    <p:extLst>
      <p:ext uri="{BB962C8B-B14F-4D97-AF65-F5344CB8AC3E}">
        <p14:creationId xmlns:p14="http://schemas.microsoft.com/office/powerpoint/2010/main" val="54214691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FOR .. NEXT loop</a:t>
            </a:r>
          </a:p>
        </p:txBody>
      </p:sp>
      <p:sp>
        <p:nvSpPr>
          <p:cNvPr id="5" name="Text Placeholder 4"/>
          <p:cNvSpPr>
            <a:spLocks noGrp="1"/>
          </p:cNvSpPr>
          <p:nvPr>
            <p:ph type="body" sz="quarter" idx="14"/>
          </p:nvPr>
        </p:nvSpPr>
        <p:spPr/>
        <p:txBody>
          <a:bodyPr/>
          <a:lstStyle/>
          <a:p>
            <a:r>
              <a:rPr lang="en-GB" dirty="0"/>
              <a:t>What values will </a:t>
            </a:r>
            <a:r>
              <a:rPr lang="en-GB" dirty="0">
                <a:solidFill>
                  <a:srgbClr val="246AB4"/>
                </a:solidFill>
              </a:rPr>
              <a:t>index </a:t>
            </a:r>
            <a:r>
              <a:rPr lang="en-GB" dirty="0"/>
              <a:t>and </a:t>
            </a:r>
            <a:r>
              <a:rPr lang="en-GB" dirty="0">
                <a:solidFill>
                  <a:srgbClr val="246AB4"/>
                </a:solidFill>
              </a:rPr>
              <a:t>x</a:t>
            </a:r>
            <a:r>
              <a:rPr lang="en-GB" dirty="0"/>
              <a:t> take?</a:t>
            </a:r>
          </a:p>
          <a:p>
            <a:endParaRPr lang="en-GB" dirty="0"/>
          </a:p>
        </p:txBody>
      </p:sp>
      <p:sp>
        <p:nvSpPr>
          <p:cNvPr id="6" name="TextBox 5"/>
          <p:cNvSpPr txBox="1"/>
          <p:nvPr/>
        </p:nvSpPr>
        <p:spPr>
          <a:xfrm>
            <a:off x="1606225" y="2297692"/>
            <a:ext cx="3269832" cy="1631216"/>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defPPr>
              <a:defRPr lang="en-US"/>
            </a:defPPr>
            <a:lvl1pPr>
              <a:defRPr sz="2000">
                <a:solidFill>
                  <a:srgbClr val="36A7D4"/>
                </a:solidFill>
                <a:latin typeface="Consolas" panose="020B0609020204030204" pitchFamily="49" charset="0"/>
                <a:cs typeface="Consolas" panose="020B0609020204030204" pitchFamily="49" charset="0"/>
              </a:defRPr>
            </a:lvl1pPr>
          </a:lstStyle>
          <a:p>
            <a:r>
              <a:rPr lang="en-GB" dirty="0"/>
              <a:t>FOR index </a:t>
            </a:r>
            <a:r>
              <a:rPr lang="en-GB" dirty="0">
                <a:sym typeface="Wingdings" panose="05000000000000000000" pitchFamily="2" charset="2"/>
              </a:rPr>
              <a:t> 1 TO 8</a:t>
            </a:r>
          </a:p>
          <a:p>
            <a:r>
              <a:rPr lang="en-GB" dirty="0">
                <a:sym typeface="Wingdings" panose="05000000000000000000" pitchFamily="2" charset="2"/>
              </a:rPr>
              <a:t>	x = (index ** 2) mod 3 </a:t>
            </a:r>
          </a:p>
          <a:p>
            <a:r>
              <a:rPr lang="en-GB" dirty="0">
                <a:sym typeface="Wingdings" panose="05000000000000000000" pitchFamily="2" charset="2"/>
              </a:rPr>
              <a:t>	OUTPUT x</a:t>
            </a:r>
          </a:p>
          <a:p>
            <a:r>
              <a:rPr lang="en-GB" dirty="0">
                <a:sym typeface="Wingdings" panose="05000000000000000000" pitchFamily="2" charset="2"/>
              </a:rPr>
              <a:t>NEXT index</a:t>
            </a:r>
            <a:endParaRPr lang="en-GB" dirty="0"/>
          </a:p>
        </p:txBody>
      </p:sp>
      <p:graphicFrame>
        <p:nvGraphicFramePr>
          <p:cNvPr id="4" name="Table 3"/>
          <p:cNvGraphicFramePr>
            <a:graphicFrameLocks noGrp="1"/>
          </p:cNvGraphicFramePr>
          <p:nvPr>
            <p:extLst>
              <p:ext uri="{D42A27DB-BD31-4B8C-83A1-F6EECF244321}">
                <p14:modId xmlns:p14="http://schemas.microsoft.com/office/powerpoint/2010/main" val="4207354618"/>
              </p:ext>
            </p:extLst>
          </p:nvPr>
        </p:nvGraphicFramePr>
        <p:xfrm>
          <a:off x="5251008" y="2401884"/>
          <a:ext cx="2694216" cy="3625560"/>
        </p:xfrm>
        <a:graphic>
          <a:graphicData uri="http://schemas.openxmlformats.org/drawingml/2006/table">
            <a:tbl>
              <a:tblPr>
                <a:tableStyleId>{5C22544A-7EE6-4342-B048-85BDC9FD1C3A}</a:tableStyleId>
              </a:tblPr>
              <a:tblGrid>
                <a:gridCol w="1347108"/>
                <a:gridCol w="1347108"/>
              </a:tblGrid>
              <a:tr h="402840">
                <a:tc>
                  <a:txBody>
                    <a:bodyPr/>
                    <a:lstStyle/>
                    <a:p>
                      <a:pPr algn="ctr" fontAlgn="ctr"/>
                      <a:r>
                        <a:rPr lang="en-GB" sz="2000" b="1" i="0" u="none" strike="noStrike" dirty="0" smtClean="0">
                          <a:solidFill>
                            <a:schemeClr val="bg1"/>
                          </a:solidFill>
                          <a:effectLst/>
                          <a:latin typeface="Arial" panose="020B0604020202020204" pitchFamily="34" charset="0"/>
                          <a:cs typeface="Arial" panose="020B0604020202020204" pitchFamily="34" charset="0"/>
                        </a:rPr>
                        <a:t>index</a:t>
                      </a:r>
                      <a:endParaRPr lang="en-GB" sz="2000" b="1" i="0" u="none" strike="noStrike" dirty="0">
                        <a:solidFill>
                          <a:schemeClr val="bg1"/>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36A7D4"/>
                    </a:solidFill>
                  </a:tcPr>
                </a:tc>
                <a:tc>
                  <a:txBody>
                    <a:bodyPr/>
                    <a:lstStyle/>
                    <a:p>
                      <a:pPr algn="ctr" fontAlgn="ctr"/>
                      <a:r>
                        <a:rPr lang="en-GB" sz="2000" b="1" u="none" strike="noStrike" dirty="0" smtClean="0">
                          <a:solidFill>
                            <a:schemeClr val="bg1"/>
                          </a:solidFill>
                          <a:effectLst/>
                          <a:latin typeface="Arial" panose="020B0604020202020204" pitchFamily="34" charset="0"/>
                          <a:cs typeface="Arial" panose="020B0604020202020204" pitchFamily="34" charset="0"/>
                        </a:rPr>
                        <a:t>x</a:t>
                      </a:r>
                      <a:endParaRPr lang="en-GB" sz="2000" b="1" i="0" u="none" strike="noStrike" dirty="0">
                        <a:solidFill>
                          <a:schemeClr val="bg1"/>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36A7D4"/>
                    </a:solidFill>
                  </a:tcPr>
                </a:tc>
              </a:tr>
              <a:tr h="402840">
                <a:tc>
                  <a:txBody>
                    <a:bodyPr/>
                    <a:lstStyle/>
                    <a:p>
                      <a:pPr algn="ctr" fontAlgn="ctr"/>
                      <a:r>
                        <a:rPr lang="en-GB" sz="2000" u="none" strike="noStrike" dirty="0" smtClean="0">
                          <a:effectLst/>
                          <a:latin typeface="Arial" panose="020B0604020202020204" pitchFamily="34" charset="0"/>
                          <a:cs typeface="Arial" panose="020B0604020202020204" pitchFamily="34" charset="0"/>
                        </a:rPr>
                        <a:t>1</a:t>
                      </a:r>
                      <a:endParaRPr lang="en-GB"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GB"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r>
              <a:tr h="402840">
                <a:tc>
                  <a:txBody>
                    <a:bodyPr/>
                    <a:lstStyle/>
                    <a:p>
                      <a:pPr algn="ctr" fontAlgn="ctr"/>
                      <a:endParaRPr lang="en-GB"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GB"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r>
              <a:tr h="402840">
                <a:tc>
                  <a:txBody>
                    <a:bodyPr/>
                    <a:lstStyle/>
                    <a:p>
                      <a:pPr algn="ctr" fontAlgn="ctr"/>
                      <a:endParaRPr lang="en-GB"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GB"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r>
              <a:tr h="402840">
                <a:tc>
                  <a:txBody>
                    <a:bodyPr/>
                    <a:lstStyle/>
                    <a:p>
                      <a:pPr algn="ctr" fontAlgn="ctr"/>
                      <a:endParaRPr lang="en-GB"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GB"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r>
              <a:tr h="402840">
                <a:tc>
                  <a:txBody>
                    <a:bodyPr/>
                    <a:lstStyle/>
                    <a:p>
                      <a:pPr algn="ctr" fontAlgn="ctr"/>
                      <a:endParaRPr lang="en-GB"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GB"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r>
              <a:tr h="402840">
                <a:tc>
                  <a:txBody>
                    <a:bodyPr/>
                    <a:lstStyle/>
                    <a:p>
                      <a:pPr algn="ctr" fontAlgn="ctr"/>
                      <a:endParaRPr lang="en-GB"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GB"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r>
              <a:tr h="402840">
                <a:tc>
                  <a:txBody>
                    <a:bodyPr/>
                    <a:lstStyle/>
                    <a:p>
                      <a:pPr algn="ctr" fontAlgn="ctr"/>
                      <a:endParaRPr lang="en-GB"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GB"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r>
              <a:tr h="402840">
                <a:tc>
                  <a:txBody>
                    <a:bodyPr/>
                    <a:lstStyle/>
                    <a:p>
                      <a:pPr algn="ctr" fontAlgn="ctr"/>
                      <a:endParaRPr lang="en-GB"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GB"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Tree>
    <p:extLst>
      <p:ext uri="{BB962C8B-B14F-4D97-AF65-F5344CB8AC3E}">
        <p14:creationId xmlns:p14="http://schemas.microsoft.com/office/powerpoint/2010/main" val="380548008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Using a different increment</a:t>
            </a:r>
            <a:endParaRPr lang="en-GB" dirty="0"/>
          </a:p>
        </p:txBody>
      </p:sp>
      <p:sp>
        <p:nvSpPr>
          <p:cNvPr id="5" name="Text Placeholder 4"/>
          <p:cNvSpPr>
            <a:spLocks noGrp="1"/>
          </p:cNvSpPr>
          <p:nvPr>
            <p:ph type="body" sz="quarter" idx="14"/>
          </p:nvPr>
        </p:nvSpPr>
        <p:spPr/>
        <p:txBody>
          <a:bodyPr/>
          <a:lstStyle/>
          <a:p>
            <a:pPr marL="342900" indent="-342900">
              <a:buFont typeface="Arial" panose="020B0604020202020204" pitchFamily="34" charset="0"/>
              <a:buChar char="•"/>
            </a:pPr>
            <a:r>
              <a:rPr lang="en-GB" dirty="0"/>
              <a:t>The increment in a FOR loop can be varied</a:t>
            </a:r>
          </a:p>
          <a:p>
            <a:pPr marL="342900" indent="-342900">
              <a:buFont typeface="Arial" panose="020B0604020202020204" pitchFamily="34" charset="0"/>
              <a:buChar char="•"/>
            </a:pPr>
            <a:r>
              <a:rPr lang="en-GB" dirty="0"/>
              <a:t>What values will index and x take?</a:t>
            </a:r>
          </a:p>
          <a:p>
            <a:endParaRPr lang="en-GB" dirty="0"/>
          </a:p>
        </p:txBody>
      </p:sp>
      <p:sp>
        <p:nvSpPr>
          <p:cNvPr id="6" name="TextBox 5"/>
          <p:cNvSpPr txBox="1"/>
          <p:nvPr/>
        </p:nvSpPr>
        <p:spPr>
          <a:xfrm>
            <a:off x="1258223" y="2826506"/>
            <a:ext cx="4006707" cy="1323439"/>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defPPr>
              <a:defRPr lang="en-US"/>
            </a:defPPr>
            <a:lvl1pPr>
              <a:defRPr sz="2000">
                <a:solidFill>
                  <a:srgbClr val="36A7D4"/>
                </a:solidFill>
                <a:latin typeface="Consolas" panose="020B0609020204030204" pitchFamily="49" charset="0"/>
                <a:cs typeface="Consolas" panose="020B0609020204030204" pitchFamily="49" charset="0"/>
              </a:defRPr>
            </a:lvl1pPr>
          </a:lstStyle>
          <a:p>
            <a:r>
              <a:rPr lang="en-GB" dirty="0"/>
              <a:t>FOR index </a:t>
            </a:r>
            <a:r>
              <a:rPr lang="en-GB" dirty="0" smtClean="0">
                <a:sym typeface="Wingdings" panose="05000000000000000000" pitchFamily="2" charset="2"/>
              </a:rPr>
              <a:t> 1 </a:t>
            </a:r>
            <a:r>
              <a:rPr lang="en-GB" dirty="0">
                <a:sym typeface="Wingdings" panose="05000000000000000000" pitchFamily="2" charset="2"/>
              </a:rPr>
              <a:t>to 10 step 2</a:t>
            </a:r>
          </a:p>
          <a:p>
            <a:r>
              <a:rPr lang="en-GB" dirty="0">
                <a:sym typeface="Wingdings" panose="05000000000000000000" pitchFamily="2" charset="2"/>
              </a:rPr>
              <a:t>	x = (index ** 2) mod 3 	</a:t>
            </a:r>
            <a:r>
              <a:rPr lang="en-GB" dirty="0" smtClean="0">
                <a:sym typeface="Wingdings" panose="05000000000000000000" pitchFamily="2" charset="2"/>
              </a:rPr>
              <a:t>OUTPUT </a:t>
            </a:r>
            <a:r>
              <a:rPr lang="en-GB" dirty="0">
                <a:sym typeface="Wingdings" panose="05000000000000000000" pitchFamily="2" charset="2"/>
              </a:rPr>
              <a:t>x</a:t>
            </a:r>
          </a:p>
          <a:p>
            <a:r>
              <a:rPr lang="en-GB" dirty="0">
                <a:sym typeface="Wingdings" panose="05000000000000000000" pitchFamily="2" charset="2"/>
              </a:rPr>
              <a:t>NEXT index</a:t>
            </a:r>
            <a:endParaRPr lang="en-GB" dirty="0"/>
          </a:p>
        </p:txBody>
      </p:sp>
      <p:graphicFrame>
        <p:nvGraphicFramePr>
          <p:cNvPr id="4" name="Table 3"/>
          <p:cNvGraphicFramePr>
            <a:graphicFrameLocks noGrp="1"/>
          </p:cNvGraphicFramePr>
          <p:nvPr>
            <p:extLst>
              <p:ext uri="{D42A27DB-BD31-4B8C-83A1-F6EECF244321}">
                <p14:modId xmlns:p14="http://schemas.microsoft.com/office/powerpoint/2010/main" val="145025292"/>
              </p:ext>
            </p:extLst>
          </p:nvPr>
        </p:nvGraphicFramePr>
        <p:xfrm>
          <a:off x="5264930" y="2826506"/>
          <a:ext cx="2694216" cy="3240000"/>
        </p:xfrm>
        <a:graphic>
          <a:graphicData uri="http://schemas.openxmlformats.org/drawingml/2006/table">
            <a:tbl>
              <a:tblPr>
                <a:tableStyleId>{5C22544A-7EE6-4342-B048-85BDC9FD1C3A}</a:tableStyleId>
              </a:tblPr>
              <a:tblGrid>
                <a:gridCol w="1347108"/>
                <a:gridCol w="1347108"/>
              </a:tblGrid>
              <a:tr h="360000">
                <a:tc>
                  <a:txBody>
                    <a:bodyPr/>
                    <a:lstStyle/>
                    <a:p>
                      <a:pPr algn="ctr" fontAlgn="ctr"/>
                      <a:r>
                        <a:rPr lang="en-GB" sz="2000" b="1" i="0" u="none" strike="noStrike" dirty="0" smtClean="0">
                          <a:solidFill>
                            <a:schemeClr val="bg1"/>
                          </a:solidFill>
                          <a:effectLst/>
                          <a:latin typeface="Arial" panose="020B0604020202020204" pitchFamily="34" charset="0"/>
                          <a:cs typeface="Arial" panose="020B0604020202020204" pitchFamily="34" charset="0"/>
                        </a:rPr>
                        <a:t>index</a:t>
                      </a:r>
                      <a:endParaRPr lang="en-GB" sz="2000" b="1" i="0" u="none" strike="noStrike" dirty="0">
                        <a:solidFill>
                          <a:schemeClr val="bg1"/>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solidFill>
                      <a:srgbClr val="36A7D4"/>
                    </a:solidFill>
                  </a:tcPr>
                </a:tc>
                <a:tc>
                  <a:txBody>
                    <a:bodyPr/>
                    <a:lstStyle/>
                    <a:p>
                      <a:pPr algn="ctr" fontAlgn="ctr"/>
                      <a:r>
                        <a:rPr lang="en-GB" sz="2000" b="1" u="none" strike="noStrike" dirty="0" smtClean="0">
                          <a:solidFill>
                            <a:schemeClr val="bg1"/>
                          </a:solidFill>
                          <a:effectLst/>
                          <a:latin typeface="Arial" panose="020B0604020202020204" pitchFamily="34" charset="0"/>
                          <a:cs typeface="Arial" panose="020B0604020202020204" pitchFamily="34" charset="0"/>
                        </a:rPr>
                        <a:t>x</a:t>
                      </a:r>
                      <a:endParaRPr lang="en-GB" sz="2000" b="1" i="0" u="none" strike="noStrike" dirty="0">
                        <a:solidFill>
                          <a:schemeClr val="bg1"/>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solidFill>
                      <a:srgbClr val="36A7D4"/>
                    </a:solidFill>
                  </a:tcPr>
                </a:tc>
              </a:tr>
              <a:tr h="360000">
                <a:tc>
                  <a:txBody>
                    <a:bodyPr/>
                    <a:lstStyle/>
                    <a:p>
                      <a:pPr algn="ctr" fontAlgn="ctr"/>
                      <a:r>
                        <a:rPr lang="en-GB" sz="1800" u="none" strike="noStrike" dirty="0" smtClean="0">
                          <a:effectLst/>
                          <a:latin typeface="Arial" panose="020B0604020202020204" pitchFamily="34" charset="0"/>
                          <a:cs typeface="Arial" panose="020B0604020202020204" pitchFamily="34" charset="0"/>
                        </a:rPr>
                        <a:t>1</a:t>
                      </a: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r>
              <a:tr h="360000">
                <a:tc>
                  <a:txBody>
                    <a:bodyPr/>
                    <a:lstStyle/>
                    <a:p>
                      <a:pPr algn="ctr" fontAlgn="ct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GB" sz="18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r>
              <a:tr h="360000">
                <a:tc>
                  <a:txBody>
                    <a:bodyPr/>
                    <a:lstStyle/>
                    <a:p>
                      <a:pPr algn="ctr" fontAlgn="ct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r>
              <a:tr h="360000">
                <a:tc>
                  <a:txBody>
                    <a:bodyPr/>
                    <a:lstStyle/>
                    <a:p>
                      <a:pPr algn="ctr" fontAlgn="ct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r>
              <a:tr h="360000">
                <a:tc>
                  <a:txBody>
                    <a:bodyPr/>
                    <a:lstStyle/>
                    <a:p>
                      <a:pPr algn="ctr" fontAlgn="ct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r>
              <a:tr h="360000">
                <a:tc>
                  <a:txBody>
                    <a:bodyPr/>
                    <a:lstStyle/>
                    <a:p>
                      <a:pPr algn="ctr" fontAlgn="ct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r>
              <a:tr h="360000">
                <a:tc>
                  <a:txBody>
                    <a:bodyPr/>
                    <a:lstStyle/>
                    <a:p>
                      <a:pPr algn="ctr" fontAlgn="ct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r>
              <a:tr h="360000">
                <a:tc>
                  <a:txBody>
                    <a:bodyPr/>
                    <a:lstStyle/>
                    <a:p>
                      <a:pPr algn="ctr" fontAlgn="ct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Tree>
    <p:extLst>
      <p:ext uri="{BB962C8B-B14F-4D97-AF65-F5344CB8AC3E}">
        <p14:creationId xmlns:p14="http://schemas.microsoft.com/office/powerpoint/2010/main" val="339689723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Stepping backwards</a:t>
            </a:r>
            <a:endParaRPr lang="en-GB" dirty="0"/>
          </a:p>
        </p:txBody>
      </p:sp>
      <p:sp>
        <p:nvSpPr>
          <p:cNvPr id="3" name="Text Placeholder 2"/>
          <p:cNvSpPr>
            <a:spLocks noGrp="1"/>
          </p:cNvSpPr>
          <p:nvPr>
            <p:ph type="body" sz="quarter" idx="14"/>
          </p:nvPr>
        </p:nvSpPr>
        <p:spPr>
          <a:xfrm>
            <a:off x="724280" y="1704179"/>
            <a:ext cx="7816470" cy="3453607"/>
          </a:xfrm>
        </p:spPr>
        <p:txBody>
          <a:bodyPr/>
          <a:lstStyle/>
          <a:p>
            <a:pPr marL="342900" indent="-342900">
              <a:buFont typeface="Arial" panose="020B0604020202020204" pitchFamily="34" charset="0"/>
              <a:buChar char="•"/>
            </a:pPr>
            <a:r>
              <a:rPr lang="en-GB" dirty="0"/>
              <a:t>The increment in a FOR loop can be negative</a:t>
            </a:r>
          </a:p>
          <a:p>
            <a:pPr marL="342900" indent="-342900">
              <a:buFont typeface="Arial" panose="020B0604020202020204" pitchFamily="34" charset="0"/>
              <a:buChar char="•"/>
            </a:pPr>
            <a:r>
              <a:rPr lang="en-GB" dirty="0"/>
              <a:t>What values will index and x take</a:t>
            </a:r>
            <a:r>
              <a:rPr lang="en-GB" dirty="0" smtClean="0"/>
              <a:t>?</a:t>
            </a:r>
            <a:endParaRPr lang="en-GB" dirty="0"/>
          </a:p>
        </p:txBody>
      </p:sp>
      <p:sp>
        <p:nvSpPr>
          <p:cNvPr id="6" name="TextBox 5"/>
          <p:cNvSpPr txBox="1"/>
          <p:nvPr/>
        </p:nvSpPr>
        <p:spPr>
          <a:xfrm>
            <a:off x="1036073" y="2839864"/>
            <a:ext cx="4088189" cy="1323439"/>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defPPr>
              <a:defRPr lang="en-US"/>
            </a:defPPr>
            <a:lvl1pPr>
              <a:defRPr sz="2000">
                <a:solidFill>
                  <a:srgbClr val="36A7D4"/>
                </a:solidFill>
                <a:latin typeface="Consolas" panose="020B0609020204030204" pitchFamily="49" charset="0"/>
                <a:cs typeface="Consolas" panose="020B0609020204030204" pitchFamily="49" charset="0"/>
              </a:defRPr>
            </a:lvl1pPr>
          </a:lstStyle>
          <a:p>
            <a:r>
              <a:rPr lang="en-GB" dirty="0"/>
              <a:t>FOR index </a:t>
            </a:r>
            <a:r>
              <a:rPr lang="en-GB" dirty="0" smtClean="0">
                <a:sym typeface="Wingdings" panose="05000000000000000000" pitchFamily="2" charset="2"/>
              </a:rPr>
              <a:t> 15 </a:t>
            </a:r>
            <a:r>
              <a:rPr lang="en-GB" dirty="0">
                <a:sym typeface="Wingdings" panose="05000000000000000000" pitchFamily="2" charset="2"/>
              </a:rPr>
              <a:t>to 1 Step -3</a:t>
            </a:r>
          </a:p>
          <a:p>
            <a:r>
              <a:rPr lang="en-GB" dirty="0">
                <a:sym typeface="Wingdings" panose="05000000000000000000" pitchFamily="2" charset="2"/>
              </a:rPr>
              <a:t>	x = </a:t>
            </a:r>
            <a:r>
              <a:rPr lang="en-GB" dirty="0" err="1" smtClean="0">
                <a:sym typeface="Wingdings" panose="05000000000000000000" pitchFamily="2" charset="2"/>
              </a:rPr>
              <a:t>int</a:t>
            </a:r>
            <a:r>
              <a:rPr lang="en-GB" dirty="0" smtClean="0">
                <a:sym typeface="Wingdings" panose="05000000000000000000" pitchFamily="2" charset="2"/>
              </a:rPr>
              <a:t>(index </a:t>
            </a:r>
            <a:r>
              <a:rPr lang="en-GB" dirty="0">
                <a:sym typeface="Wingdings" panose="05000000000000000000" pitchFamily="2" charset="2"/>
              </a:rPr>
              <a:t>/2) 			</a:t>
            </a:r>
            <a:r>
              <a:rPr lang="en-GB" dirty="0" smtClean="0">
                <a:sym typeface="Wingdings" panose="05000000000000000000" pitchFamily="2" charset="2"/>
              </a:rPr>
              <a:t>OUTPUT </a:t>
            </a:r>
            <a:r>
              <a:rPr lang="en-GB" dirty="0">
                <a:sym typeface="Wingdings" panose="05000000000000000000" pitchFamily="2" charset="2"/>
              </a:rPr>
              <a:t>x</a:t>
            </a:r>
          </a:p>
          <a:p>
            <a:r>
              <a:rPr lang="en-GB" dirty="0">
                <a:sym typeface="Wingdings" panose="05000000000000000000" pitchFamily="2" charset="2"/>
              </a:rPr>
              <a:t>NEXT index</a:t>
            </a:r>
            <a:endParaRPr lang="en-GB" dirty="0"/>
          </a:p>
        </p:txBody>
      </p:sp>
      <p:graphicFrame>
        <p:nvGraphicFramePr>
          <p:cNvPr id="7" name="Table 6"/>
          <p:cNvGraphicFramePr>
            <a:graphicFrameLocks noGrp="1"/>
          </p:cNvGraphicFramePr>
          <p:nvPr>
            <p:extLst>
              <p:ext uri="{D42A27DB-BD31-4B8C-83A1-F6EECF244321}">
                <p14:modId xmlns:p14="http://schemas.microsoft.com/office/powerpoint/2010/main" val="1714739511"/>
              </p:ext>
            </p:extLst>
          </p:nvPr>
        </p:nvGraphicFramePr>
        <p:xfrm>
          <a:off x="5436055" y="2837384"/>
          <a:ext cx="2694216" cy="3240000"/>
        </p:xfrm>
        <a:graphic>
          <a:graphicData uri="http://schemas.openxmlformats.org/drawingml/2006/table">
            <a:tbl>
              <a:tblPr>
                <a:tableStyleId>{5C22544A-7EE6-4342-B048-85BDC9FD1C3A}</a:tableStyleId>
              </a:tblPr>
              <a:tblGrid>
                <a:gridCol w="1347108"/>
                <a:gridCol w="1347108"/>
              </a:tblGrid>
              <a:tr h="360000">
                <a:tc>
                  <a:txBody>
                    <a:bodyPr/>
                    <a:lstStyle/>
                    <a:p>
                      <a:pPr algn="ctr" fontAlgn="ctr"/>
                      <a:r>
                        <a:rPr lang="en-GB" sz="2000" b="1" i="0" u="none" strike="noStrike" dirty="0" smtClean="0">
                          <a:solidFill>
                            <a:schemeClr val="bg1"/>
                          </a:solidFill>
                          <a:effectLst/>
                          <a:latin typeface="Arial" panose="020B0604020202020204" pitchFamily="34" charset="0"/>
                          <a:cs typeface="Arial" panose="020B0604020202020204" pitchFamily="34" charset="0"/>
                        </a:rPr>
                        <a:t>index</a:t>
                      </a:r>
                      <a:endParaRPr lang="en-GB" sz="2000" b="1" i="0" u="none" strike="noStrike" dirty="0">
                        <a:solidFill>
                          <a:schemeClr val="bg1"/>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solidFill>
                      <a:srgbClr val="36A7D4"/>
                    </a:solidFill>
                  </a:tcPr>
                </a:tc>
                <a:tc>
                  <a:txBody>
                    <a:bodyPr/>
                    <a:lstStyle/>
                    <a:p>
                      <a:pPr algn="ctr" fontAlgn="ctr"/>
                      <a:r>
                        <a:rPr lang="en-GB" sz="2000" b="1" u="none" strike="noStrike" dirty="0" smtClean="0">
                          <a:solidFill>
                            <a:schemeClr val="bg1"/>
                          </a:solidFill>
                          <a:effectLst/>
                          <a:latin typeface="Arial" panose="020B0604020202020204" pitchFamily="34" charset="0"/>
                          <a:cs typeface="Arial" panose="020B0604020202020204" pitchFamily="34" charset="0"/>
                        </a:rPr>
                        <a:t>x</a:t>
                      </a:r>
                      <a:endParaRPr lang="en-GB" sz="2000" b="1" i="0" u="none" strike="noStrike" dirty="0">
                        <a:solidFill>
                          <a:schemeClr val="bg1"/>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solidFill>
                      <a:srgbClr val="36A7D4"/>
                    </a:solidFill>
                  </a:tcPr>
                </a:tc>
              </a:tr>
              <a:tr h="360000">
                <a:tc>
                  <a:txBody>
                    <a:bodyPr/>
                    <a:lstStyle/>
                    <a:p>
                      <a:pPr algn="ctr" fontAlgn="ctr"/>
                      <a:r>
                        <a:rPr lang="en-GB" sz="1800" u="none" strike="noStrike" dirty="0" smtClean="0">
                          <a:effectLst/>
                          <a:latin typeface="Arial" panose="020B0604020202020204" pitchFamily="34" charset="0"/>
                          <a:cs typeface="Arial" panose="020B0604020202020204" pitchFamily="34" charset="0"/>
                        </a:rPr>
                        <a:t>15</a:t>
                      </a: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r>
              <a:tr h="360000">
                <a:tc>
                  <a:txBody>
                    <a:bodyPr/>
                    <a:lstStyle/>
                    <a:p>
                      <a:pPr algn="ctr" fontAlgn="ct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GB" sz="18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r>
              <a:tr h="360000">
                <a:tc>
                  <a:txBody>
                    <a:bodyPr/>
                    <a:lstStyle/>
                    <a:p>
                      <a:pPr algn="ctr" fontAlgn="ct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r>
              <a:tr h="360000">
                <a:tc>
                  <a:txBody>
                    <a:bodyPr/>
                    <a:lstStyle/>
                    <a:p>
                      <a:pPr algn="ctr" fontAlgn="ct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r>
              <a:tr h="360000">
                <a:tc>
                  <a:txBody>
                    <a:bodyPr/>
                    <a:lstStyle/>
                    <a:p>
                      <a:pPr algn="ctr" fontAlgn="ct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r>
              <a:tr h="360000">
                <a:tc>
                  <a:txBody>
                    <a:bodyPr/>
                    <a:lstStyle/>
                    <a:p>
                      <a:pPr algn="ctr" fontAlgn="ct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r>
              <a:tr h="360000">
                <a:tc>
                  <a:txBody>
                    <a:bodyPr/>
                    <a:lstStyle/>
                    <a:p>
                      <a:pPr algn="ctr" fontAlgn="ct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r>
              <a:tr h="360000">
                <a:tc>
                  <a:txBody>
                    <a:bodyPr/>
                    <a:lstStyle/>
                    <a:p>
                      <a:pPr algn="ctr" fontAlgn="ct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Tree>
    <p:extLst>
      <p:ext uri="{BB962C8B-B14F-4D97-AF65-F5344CB8AC3E}">
        <p14:creationId xmlns:p14="http://schemas.microsoft.com/office/powerpoint/2010/main" val="312347424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724280" y="906232"/>
            <a:ext cx="7816470" cy="1024167"/>
          </a:xfrm>
        </p:spPr>
        <p:txBody>
          <a:bodyPr/>
          <a:lstStyle/>
          <a:p>
            <a:r>
              <a:rPr lang="en-GB" dirty="0" smtClean="0"/>
              <a:t>Using a WHILE .. ENDWHILE loop as an alternative</a:t>
            </a:r>
            <a:endParaRPr lang="en-GB" dirty="0"/>
          </a:p>
        </p:txBody>
      </p:sp>
      <p:sp>
        <p:nvSpPr>
          <p:cNvPr id="3" name="Text Placeholder 2"/>
          <p:cNvSpPr>
            <a:spLocks noGrp="1"/>
          </p:cNvSpPr>
          <p:nvPr>
            <p:ph type="body" sz="quarter" idx="14"/>
          </p:nvPr>
        </p:nvSpPr>
        <p:spPr>
          <a:xfrm>
            <a:off x="724280" y="2246489"/>
            <a:ext cx="7797230" cy="4260328"/>
          </a:xfrm>
        </p:spPr>
        <p:txBody>
          <a:bodyPr/>
          <a:lstStyle/>
          <a:p>
            <a:r>
              <a:rPr lang="en-GB" dirty="0" smtClean="0"/>
              <a:t>Are these loops logically equivalent?</a:t>
            </a:r>
          </a:p>
          <a:p>
            <a:r>
              <a:rPr lang="en-GB" dirty="0" smtClean="0"/>
              <a:t>What number would you use in the </a:t>
            </a:r>
            <a:r>
              <a:rPr lang="en-GB" dirty="0" smtClean="0">
                <a:solidFill>
                  <a:srgbClr val="246AB4"/>
                </a:solidFill>
              </a:rPr>
              <a:t>FOR</a:t>
            </a:r>
            <a:r>
              <a:rPr lang="en-GB" dirty="0" smtClean="0"/>
              <a:t> loop to get the same results as the </a:t>
            </a:r>
            <a:r>
              <a:rPr lang="en-GB" dirty="0" smtClean="0">
                <a:solidFill>
                  <a:srgbClr val="246AB4"/>
                </a:solidFill>
              </a:rPr>
              <a:t>WHILE</a:t>
            </a:r>
            <a:r>
              <a:rPr lang="en-GB" dirty="0" smtClean="0"/>
              <a:t> loop?</a:t>
            </a:r>
          </a:p>
          <a:p>
            <a:endParaRPr lang="en-GB" dirty="0"/>
          </a:p>
          <a:p>
            <a:endParaRPr lang="en-GB" dirty="0" smtClean="0"/>
          </a:p>
          <a:p>
            <a:endParaRPr lang="en-GB" dirty="0"/>
          </a:p>
          <a:p>
            <a:r>
              <a:rPr lang="en-GB" dirty="0" smtClean="0"/>
              <a:t>Outside the </a:t>
            </a:r>
            <a:r>
              <a:rPr lang="en-GB" dirty="0" smtClean="0">
                <a:solidFill>
                  <a:srgbClr val="246AB4"/>
                </a:solidFill>
              </a:rPr>
              <a:t>FOR</a:t>
            </a:r>
            <a:r>
              <a:rPr lang="en-GB" dirty="0" smtClean="0"/>
              <a:t> loop, the variable </a:t>
            </a:r>
            <a:r>
              <a:rPr lang="en-GB" dirty="0" smtClean="0">
                <a:solidFill>
                  <a:srgbClr val="246AB4"/>
                </a:solidFill>
              </a:rPr>
              <a:t>index</a:t>
            </a:r>
            <a:r>
              <a:rPr lang="en-GB" dirty="0" smtClean="0"/>
              <a:t> is undefined</a:t>
            </a:r>
            <a:endParaRPr lang="en-GB" dirty="0"/>
          </a:p>
        </p:txBody>
      </p:sp>
      <p:sp>
        <p:nvSpPr>
          <p:cNvPr id="5" name="TextBox 4"/>
          <p:cNvSpPr txBox="1"/>
          <p:nvPr/>
        </p:nvSpPr>
        <p:spPr>
          <a:xfrm>
            <a:off x="1311510" y="3749743"/>
            <a:ext cx="3242383" cy="1631216"/>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defPPr>
              <a:defRPr lang="en-US"/>
            </a:defPPr>
            <a:lvl1pPr>
              <a:defRPr sz="2000">
                <a:solidFill>
                  <a:srgbClr val="36A7D4"/>
                </a:solidFill>
                <a:latin typeface="Consolas" panose="020B0609020204030204" pitchFamily="49" charset="0"/>
                <a:cs typeface="Consolas" panose="020B0609020204030204" pitchFamily="49" charset="0"/>
              </a:defRPr>
            </a:lvl1pPr>
          </a:lstStyle>
          <a:p>
            <a:r>
              <a:rPr lang="en-GB" dirty="0"/>
              <a:t>index </a:t>
            </a:r>
            <a:r>
              <a:rPr lang="en-GB" dirty="0">
                <a:sym typeface="Wingdings" panose="05000000000000000000" pitchFamily="2" charset="2"/>
              </a:rPr>
              <a:t> 1</a:t>
            </a:r>
            <a:endParaRPr lang="en-GB" dirty="0"/>
          </a:p>
          <a:p>
            <a:r>
              <a:rPr lang="en-GB" dirty="0"/>
              <a:t>WHILE index </a:t>
            </a:r>
            <a:r>
              <a:rPr lang="en-GB" dirty="0">
                <a:sym typeface="Wingdings" panose="05000000000000000000" pitchFamily="2" charset="2"/>
              </a:rPr>
              <a:t>&lt; 4</a:t>
            </a:r>
          </a:p>
          <a:p>
            <a:r>
              <a:rPr lang="en-GB" dirty="0">
                <a:sym typeface="Wingdings" panose="05000000000000000000" pitchFamily="2" charset="2"/>
              </a:rPr>
              <a:t>	OUTPUT index</a:t>
            </a:r>
          </a:p>
          <a:p>
            <a:r>
              <a:rPr lang="en-GB" dirty="0">
                <a:sym typeface="Wingdings" panose="05000000000000000000" pitchFamily="2" charset="2"/>
              </a:rPr>
              <a:t>	index  index + 1</a:t>
            </a:r>
          </a:p>
          <a:p>
            <a:r>
              <a:rPr lang="en-GB" dirty="0">
                <a:sym typeface="Wingdings" panose="05000000000000000000" pitchFamily="2" charset="2"/>
              </a:rPr>
              <a:t>ENDWHILE</a:t>
            </a:r>
            <a:endParaRPr lang="en-GB" dirty="0"/>
          </a:p>
        </p:txBody>
      </p:sp>
      <p:sp>
        <p:nvSpPr>
          <p:cNvPr id="6" name="TextBox 5"/>
          <p:cNvSpPr txBox="1"/>
          <p:nvPr/>
        </p:nvSpPr>
        <p:spPr>
          <a:xfrm>
            <a:off x="4990947" y="3749120"/>
            <a:ext cx="3093508" cy="1015663"/>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defPPr>
              <a:defRPr lang="en-US"/>
            </a:defPPr>
            <a:lvl1pPr>
              <a:defRPr sz="2000">
                <a:solidFill>
                  <a:srgbClr val="36A7D4"/>
                </a:solidFill>
                <a:latin typeface="Consolas" panose="020B0609020204030204" pitchFamily="49" charset="0"/>
                <a:cs typeface="Consolas" panose="020B0609020204030204" pitchFamily="49" charset="0"/>
              </a:defRPr>
            </a:lvl1pPr>
          </a:lstStyle>
          <a:p>
            <a:r>
              <a:rPr lang="en-GB" dirty="0"/>
              <a:t>FOR index </a:t>
            </a:r>
            <a:r>
              <a:rPr lang="en-GB" dirty="0">
                <a:sym typeface="Wingdings" panose="05000000000000000000" pitchFamily="2" charset="2"/>
              </a:rPr>
              <a:t> 1 to ? </a:t>
            </a:r>
          </a:p>
          <a:p>
            <a:r>
              <a:rPr lang="en-GB" dirty="0">
                <a:sym typeface="Wingdings" panose="05000000000000000000" pitchFamily="2" charset="2"/>
              </a:rPr>
              <a:t>	OUTPUT index</a:t>
            </a:r>
          </a:p>
          <a:p>
            <a:r>
              <a:rPr lang="en-GB" dirty="0" smtClean="0">
                <a:sym typeface="Wingdings" panose="05000000000000000000" pitchFamily="2" charset="2"/>
              </a:rPr>
              <a:t>NEXT index</a:t>
            </a:r>
            <a:endParaRPr lang="en-GB" dirty="0"/>
          </a:p>
        </p:txBody>
      </p:sp>
    </p:spTree>
    <p:extLst>
      <p:ext uri="{BB962C8B-B14F-4D97-AF65-F5344CB8AC3E}">
        <p14:creationId xmlns:p14="http://schemas.microsoft.com/office/powerpoint/2010/main" val="13870108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Nested FOR loop</a:t>
            </a:r>
            <a:endParaRPr lang="en-GB" dirty="0"/>
          </a:p>
        </p:txBody>
      </p:sp>
      <p:sp>
        <p:nvSpPr>
          <p:cNvPr id="3" name="Text Placeholder 2"/>
          <p:cNvSpPr>
            <a:spLocks noGrp="1"/>
          </p:cNvSpPr>
          <p:nvPr>
            <p:ph type="body" sz="quarter" idx="14"/>
          </p:nvPr>
        </p:nvSpPr>
        <p:spPr>
          <a:xfrm>
            <a:off x="724280" y="1704179"/>
            <a:ext cx="8010853" cy="1754638"/>
          </a:xfrm>
        </p:spPr>
        <p:txBody>
          <a:bodyPr/>
          <a:lstStyle/>
          <a:p>
            <a:r>
              <a:rPr lang="en-GB" dirty="0" smtClean="0"/>
              <a:t>It is possible to use nested for loops</a:t>
            </a:r>
          </a:p>
          <a:p>
            <a:pPr lvl="1"/>
            <a:r>
              <a:rPr lang="en-GB" dirty="0" smtClean="0"/>
              <a:t>These are particularly useful for looping through grids in two-dimensional arrays, which will be covered later</a:t>
            </a:r>
          </a:p>
          <a:p>
            <a:pPr lvl="1"/>
            <a:r>
              <a:rPr lang="en-GB" dirty="0" smtClean="0"/>
              <a:t>Calculate the values for i, j and Output</a:t>
            </a:r>
          </a:p>
          <a:p>
            <a:endParaRPr lang="en-GB" sz="1800" dirty="0"/>
          </a:p>
        </p:txBody>
      </p:sp>
      <p:sp>
        <p:nvSpPr>
          <p:cNvPr id="6" name="TextBox 5"/>
          <p:cNvSpPr txBox="1"/>
          <p:nvPr/>
        </p:nvSpPr>
        <p:spPr>
          <a:xfrm>
            <a:off x="1501936" y="3534502"/>
            <a:ext cx="3061010" cy="1631216"/>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defPPr>
              <a:defRPr lang="en-US"/>
            </a:defPPr>
            <a:lvl1pPr>
              <a:defRPr sz="2000">
                <a:solidFill>
                  <a:srgbClr val="36A7D4"/>
                </a:solidFill>
                <a:latin typeface="Consolas" panose="020B0609020204030204" pitchFamily="49" charset="0"/>
                <a:cs typeface="Consolas" panose="020B0609020204030204" pitchFamily="49" charset="0"/>
              </a:defRPr>
            </a:lvl1pPr>
          </a:lstStyle>
          <a:p>
            <a:r>
              <a:rPr lang="en-GB" dirty="0"/>
              <a:t>FOR </a:t>
            </a:r>
            <a:r>
              <a:rPr lang="en-GB"/>
              <a:t>i </a:t>
            </a:r>
            <a:r>
              <a:rPr lang="en-GB" smtClean="0">
                <a:sym typeface="Wingdings" panose="05000000000000000000" pitchFamily="2" charset="2"/>
              </a:rPr>
              <a:t> 1 </a:t>
            </a:r>
            <a:r>
              <a:rPr lang="en-GB" dirty="0" smtClean="0">
                <a:sym typeface="Wingdings" panose="05000000000000000000" pitchFamily="2" charset="2"/>
              </a:rPr>
              <a:t>to </a:t>
            </a:r>
            <a:r>
              <a:rPr lang="en-GB" dirty="0">
                <a:sym typeface="Wingdings" panose="05000000000000000000" pitchFamily="2" charset="2"/>
              </a:rPr>
              <a:t>3</a:t>
            </a:r>
          </a:p>
          <a:p>
            <a:r>
              <a:rPr lang="en-GB" dirty="0">
                <a:sym typeface="Wingdings" panose="05000000000000000000" pitchFamily="2" charset="2"/>
              </a:rPr>
              <a:t>	FOR j  1 to 2</a:t>
            </a:r>
          </a:p>
          <a:p>
            <a:r>
              <a:rPr lang="en-GB" dirty="0">
                <a:sym typeface="Wingdings" panose="05000000000000000000" pitchFamily="2" charset="2"/>
              </a:rPr>
              <a:t>		OUTPUT i + j</a:t>
            </a:r>
          </a:p>
          <a:p>
            <a:r>
              <a:rPr lang="en-GB" dirty="0">
                <a:sym typeface="Wingdings" panose="05000000000000000000" pitchFamily="2" charset="2"/>
              </a:rPr>
              <a:t>	</a:t>
            </a:r>
            <a:r>
              <a:rPr lang="en-GB" dirty="0" smtClean="0">
                <a:sym typeface="Wingdings" panose="05000000000000000000" pitchFamily="2" charset="2"/>
              </a:rPr>
              <a:t>NEXT j</a:t>
            </a:r>
            <a:endParaRPr lang="en-GB" dirty="0">
              <a:sym typeface="Wingdings" panose="05000000000000000000" pitchFamily="2" charset="2"/>
            </a:endParaRPr>
          </a:p>
          <a:p>
            <a:r>
              <a:rPr lang="en-GB" dirty="0" smtClean="0">
                <a:sym typeface="Wingdings" panose="05000000000000000000" pitchFamily="2" charset="2"/>
              </a:rPr>
              <a:t>NEXT i</a:t>
            </a:r>
            <a:endParaRPr lang="en-GB" dirty="0"/>
          </a:p>
        </p:txBody>
      </p:sp>
      <p:graphicFrame>
        <p:nvGraphicFramePr>
          <p:cNvPr id="8" name="Table 7"/>
          <p:cNvGraphicFramePr>
            <a:graphicFrameLocks noGrp="1"/>
          </p:cNvGraphicFramePr>
          <p:nvPr>
            <p:extLst>
              <p:ext uri="{D42A27DB-BD31-4B8C-83A1-F6EECF244321}">
                <p14:modId xmlns:p14="http://schemas.microsoft.com/office/powerpoint/2010/main" val="4289871759"/>
              </p:ext>
            </p:extLst>
          </p:nvPr>
        </p:nvGraphicFramePr>
        <p:xfrm>
          <a:off x="4729706" y="3552611"/>
          <a:ext cx="2910026" cy="2520000"/>
        </p:xfrm>
        <a:graphic>
          <a:graphicData uri="http://schemas.openxmlformats.org/drawingml/2006/table">
            <a:tbl>
              <a:tblPr>
                <a:tableStyleId>{5C22544A-7EE6-4342-B048-85BDC9FD1C3A}</a:tableStyleId>
              </a:tblPr>
              <a:tblGrid>
                <a:gridCol w="898072"/>
                <a:gridCol w="898072"/>
                <a:gridCol w="1113882"/>
              </a:tblGrid>
              <a:tr h="360000">
                <a:tc>
                  <a:txBody>
                    <a:bodyPr/>
                    <a:lstStyle/>
                    <a:p>
                      <a:pPr algn="ctr" fontAlgn="ctr"/>
                      <a:r>
                        <a:rPr lang="en-GB" sz="2000" b="1" i="0" u="none" strike="noStrike" dirty="0" smtClean="0">
                          <a:solidFill>
                            <a:schemeClr val="bg1"/>
                          </a:solidFill>
                          <a:effectLst/>
                          <a:latin typeface="Arial" panose="020B0604020202020204" pitchFamily="34" charset="0"/>
                          <a:cs typeface="Arial" panose="020B0604020202020204" pitchFamily="34" charset="0"/>
                        </a:rPr>
                        <a:t>i</a:t>
                      </a:r>
                      <a:endParaRPr lang="en-GB" sz="2000" b="1" i="0" u="none" strike="noStrike" dirty="0">
                        <a:solidFill>
                          <a:schemeClr val="bg1"/>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solidFill>
                      <a:srgbClr val="36A7D4"/>
                    </a:solidFill>
                  </a:tcPr>
                </a:tc>
                <a:tc>
                  <a:txBody>
                    <a:bodyPr/>
                    <a:lstStyle/>
                    <a:p>
                      <a:pPr algn="ctr" fontAlgn="ctr"/>
                      <a:r>
                        <a:rPr lang="en-GB" sz="2000" b="1" u="none" strike="noStrike" dirty="0" smtClean="0">
                          <a:solidFill>
                            <a:schemeClr val="bg1"/>
                          </a:solidFill>
                          <a:effectLst/>
                          <a:latin typeface="Arial" panose="020B0604020202020204" pitchFamily="34" charset="0"/>
                          <a:cs typeface="Arial" panose="020B0604020202020204" pitchFamily="34" charset="0"/>
                        </a:rPr>
                        <a:t>j</a:t>
                      </a:r>
                      <a:endParaRPr lang="en-GB" sz="2000" b="1" i="0" u="none" strike="noStrike" dirty="0">
                        <a:solidFill>
                          <a:schemeClr val="bg1"/>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solidFill>
                      <a:srgbClr val="36A7D4"/>
                    </a:solidFill>
                  </a:tcPr>
                </a:tc>
                <a:tc>
                  <a:txBody>
                    <a:bodyPr/>
                    <a:lstStyle/>
                    <a:p>
                      <a:pPr algn="ctr" fontAlgn="ctr"/>
                      <a:r>
                        <a:rPr lang="en-GB" sz="2000" b="1" i="0" u="none" strike="noStrike" dirty="0" smtClean="0">
                          <a:solidFill>
                            <a:schemeClr val="bg1"/>
                          </a:solidFill>
                          <a:effectLst/>
                          <a:latin typeface="Arial" panose="020B0604020202020204" pitchFamily="34" charset="0"/>
                          <a:cs typeface="Arial" panose="020B0604020202020204" pitchFamily="34" charset="0"/>
                        </a:rPr>
                        <a:t>Output</a:t>
                      </a:r>
                      <a:endParaRPr lang="en-GB" sz="2000" b="1" i="0" u="none" strike="noStrike" dirty="0">
                        <a:solidFill>
                          <a:schemeClr val="bg1"/>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solidFill>
                      <a:srgbClr val="36A7D4"/>
                    </a:solidFill>
                  </a:tcPr>
                </a:tc>
              </a:tr>
              <a:tr h="360000">
                <a:tc>
                  <a:txBody>
                    <a:bodyPr/>
                    <a:lstStyle/>
                    <a:p>
                      <a:pPr algn="ctr" fontAlgn="ctr"/>
                      <a:r>
                        <a:rPr lang="en-GB" sz="1800" b="0" i="0" u="none" strike="noStrike" dirty="0" smtClean="0">
                          <a:solidFill>
                            <a:srgbClr val="000000"/>
                          </a:solidFill>
                          <a:effectLst/>
                          <a:latin typeface="Arial" panose="020B0604020202020204" pitchFamily="34" charset="0"/>
                          <a:cs typeface="Arial" panose="020B0604020202020204" pitchFamily="34" charset="0"/>
                        </a:rPr>
                        <a:t>1</a:t>
                      </a: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GB" sz="1800" b="0" i="0" u="none" strike="noStrike" dirty="0" smtClean="0">
                          <a:solidFill>
                            <a:srgbClr val="000000"/>
                          </a:solidFill>
                          <a:effectLst/>
                          <a:latin typeface="Arial" panose="020B0604020202020204" pitchFamily="34" charset="0"/>
                          <a:cs typeface="Arial" panose="020B0604020202020204" pitchFamily="34" charset="0"/>
                        </a:rPr>
                        <a:t>1</a:t>
                      </a: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r>
              <a:tr h="360000">
                <a:tc>
                  <a:txBody>
                    <a:bodyPr/>
                    <a:lstStyle/>
                    <a:p>
                      <a:pPr algn="ctr" fontAlgn="ctr"/>
                      <a:r>
                        <a:rPr lang="en-GB" sz="1800" b="0" i="0" u="none" strike="noStrike" dirty="0" smtClean="0">
                          <a:solidFill>
                            <a:srgbClr val="000000"/>
                          </a:solidFill>
                          <a:effectLst/>
                          <a:latin typeface="Arial" panose="020B0604020202020204" pitchFamily="34" charset="0"/>
                          <a:cs typeface="Arial" panose="020B0604020202020204" pitchFamily="34" charset="0"/>
                        </a:rPr>
                        <a:t>1</a:t>
                      </a: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GB" sz="1800" b="0" i="0" u="none" strike="noStrike" dirty="0" smtClean="0">
                          <a:solidFill>
                            <a:srgbClr val="000000"/>
                          </a:solidFill>
                          <a:effectLst/>
                          <a:latin typeface="Arial" panose="020B0604020202020204" pitchFamily="34" charset="0"/>
                          <a:cs typeface="Arial" panose="020B0604020202020204" pitchFamily="34" charset="0"/>
                        </a:rPr>
                        <a:t>2</a:t>
                      </a: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r>
              <a:tr h="360000">
                <a:tc>
                  <a:txBody>
                    <a:bodyPr/>
                    <a:lstStyle/>
                    <a:p>
                      <a:pPr algn="ctr" fontAlgn="ct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r>
              <a:tr h="360000">
                <a:tc>
                  <a:txBody>
                    <a:bodyPr/>
                    <a:lstStyle/>
                    <a:p>
                      <a:pPr algn="ctr" fontAlgn="ct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r>
              <a:tr h="360000">
                <a:tc>
                  <a:txBody>
                    <a:bodyPr/>
                    <a:lstStyle/>
                    <a:p>
                      <a:pPr algn="ctr" fontAlgn="ct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r>
              <a:tr h="360000">
                <a:tc>
                  <a:txBody>
                    <a:bodyPr/>
                    <a:lstStyle/>
                    <a:p>
                      <a:pPr algn="ctr" fontAlgn="ct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GB"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6A7D4"/>
                      </a:solidFill>
                      <a:prstDash val="solid"/>
                      <a:round/>
                      <a:headEnd type="none" w="med" len="med"/>
                      <a:tailEnd type="none" w="med" len="med"/>
                    </a:lnT>
                    <a:lnB w="12700" cap="flat" cmpd="sng" algn="ctr">
                      <a:solidFill>
                        <a:srgbClr val="36A7D4"/>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Tree>
    <p:extLst>
      <p:ext uri="{BB962C8B-B14F-4D97-AF65-F5344CB8AC3E}">
        <p14:creationId xmlns:p14="http://schemas.microsoft.com/office/powerpoint/2010/main" val="252779228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Random number generator</a:t>
            </a:r>
            <a:endParaRPr lang="en-GB" dirty="0"/>
          </a:p>
        </p:txBody>
      </p:sp>
      <p:sp>
        <p:nvSpPr>
          <p:cNvPr id="3" name="Text Placeholder 2"/>
          <p:cNvSpPr>
            <a:spLocks noGrp="1"/>
          </p:cNvSpPr>
          <p:nvPr>
            <p:ph type="body" sz="quarter" idx="14"/>
          </p:nvPr>
        </p:nvSpPr>
        <p:spPr>
          <a:xfrm>
            <a:off x="724280" y="1704179"/>
            <a:ext cx="7261480" cy="1964709"/>
          </a:xfrm>
        </p:spPr>
        <p:txBody>
          <a:bodyPr/>
          <a:lstStyle/>
          <a:p>
            <a:r>
              <a:rPr lang="en-GB" dirty="0" smtClean="0"/>
              <a:t>It is possible to use a built-in function to produce a random number</a:t>
            </a:r>
          </a:p>
          <a:p>
            <a:r>
              <a:rPr lang="en-GB" dirty="0" smtClean="0"/>
              <a:t>In the example below, two players battle until one of them dies</a:t>
            </a:r>
          </a:p>
          <a:p>
            <a:r>
              <a:rPr lang="en-GB" dirty="0" smtClean="0"/>
              <a:t>Which player has a better chance of winning?</a:t>
            </a:r>
            <a:endParaRPr lang="en-GB" dirty="0"/>
          </a:p>
        </p:txBody>
      </p:sp>
      <p:sp>
        <p:nvSpPr>
          <p:cNvPr id="6" name="TextBox 5"/>
          <p:cNvSpPr txBox="1"/>
          <p:nvPr/>
        </p:nvSpPr>
        <p:spPr>
          <a:xfrm>
            <a:off x="2096691" y="4233702"/>
            <a:ext cx="5071648" cy="1938992"/>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defPPr>
              <a:defRPr lang="en-US"/>
            </a:defPPr>
            <a:lvl1pPr>
              <a:defRPr sz="2000">
                <a:solidFill>
                  <a:srgbClr val="36A7D4"/>
                </a:solidFill>
                <a:latin typeface="Consolas" panose="020B0609020204030204" pitchFamily="49" charset="0"/>
                <a:cs typeface="Consolas" panose="020B0609020204030204" pitchFamily="49" charset="0"/>
              </a:defRPr>
            </a:lvl1pPr>
          </a:lstStyle>
          <a:p>
            <a:r>
              <a:rPr lang="en-GB" dirty="0">
                <a:sym typeface="Wingdings" panose="05000000000000000000" pitchFamily="2" charset="2"/>
              </a:rPr>
              <a:t>Player1  10</a:t>
            </a:r>
          </a:p>
          <a:p>
            <a:r>
              <a:rPr lang="en-GB" dirty="0">
                <a:sym typeface="Wingdings" panose="05000000000000000000" pitchFamily="2" charset="2"/>
              </a:rPr>
              <a:t>Player2  10</a:t>
            </a:r>
          </a:p>
          <a:p>
            <a:r>
              <a:rPr lang="en-GB" dirty="0">
                <a:sym typeface="Wingdings" panose="05000000000000000000" pitchFamily="2" charset="2"/>
              </a:rPr>
              <a:t>REPEAT</a:t>
            </a:r>
          </a:p>
          <a:p>
            <a:r>
              <a:rPr lang="en-GB" dirty="0">
                <a:sym typeface="Wingdings" panose="05000000000000000000" pitchFamily="2" charset="2"/>
              </a:rPr>
              <a:t>	Player1 = Player1 - random(1,6)</a:t>
            </a:r>
          </a:p>
          <a:p>
            <a:r>
              <a:rPr lang="en-GB" dirty="0">
                <a:sym typeface="Wingdings" panose="05000000000000000000" pitchFamily="2" charset="2"/>
              </a:rPr>
              <a:t>	Player2 = Player2 - random(1,4)</a:t>
            </a:r>
          </a:p>
          <a:p>
            <a:r>
              <a:rPr lang="en-GB" dirty="0">
                <a:sym typeface="Wingdings" panose="05000000000000000000" pitchFamily="2" charset="2"/>
              </a:rPr>
              <a:t>UNTIL </a:t>
            </a:r>
            <a:r>
              <a:rPr lang="en-GB" dirty="0" smtClean="0">
                <a:sym typeface="Wingdings" panose="05000000000000000000" pitchFamily="2" charset="2"/>
              </a:rPr>
              <a:t>Player1 &lt;=</a:t>
            </a:r>
            <a:r>
              <a:rPr lang="en-GB" dirty="0">
                <a:sym typeface="Wingdings" panose="05000000000000000000" pitchFamily="2" charset="2"/>
              </a:rPr>
              <a:t>0 OR Player2 &lt;= 0</a:t>
            </a:r>
            <a:endParaRPr lang="en-GB" dirty="0"/>
          </a:p>
        </p:txBody>
      </p:sp>
    </p:spTree>
    <p:extLst>
      <p:ext uri="{BB962C8B-B14F-4D97-AF65-F5344CB8AC3E}">
        <p14:creationId xmlns:p14="http://schemas.microsoft.com/office/powerpoint/2010/main" val="344921904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p:txBody>
          <a:bodyPr/>
          <a:lstStyle/>
          <a:p>
            <a:r>
              <a:rPr lang="en-GB" dirty="0" smtClean="0"/>
              <a:t>Worksheet 3</a:t>
            </a:r>
            <a:endParaRPr lang="en-GB" dirty="0"/>
          </a:p>
        </p:txBody>
      </p:sp>
      <p:sp>
        <p:nvSpPr>
          <p:cNvPr id="7" name="Text Placeholder 6"/>
          <p:cNvSpPr>
            <a:spLocks noGrp="1"/>
          </p:cNvSpPr>
          <p:nvPr>
            <p:ph type="body" sz="quarter" idx="14"/>
          </p:nvPr>
        </p:nvSpPr>
        <p:spPr/>
        <p:txBody>
          <a:bodyPr/>
          <a:lstStyle/>
          <a:p>
            <a:r>
              <a:rPr lang="en-GB" sz="2800" dirty="0" smtClean="0"/>
              <a:t>Now complete </a:t>
            </a:r>
            <a:r>
              <a:rPr lang="en-GB" sz="2800" b="1" dirty="0" smtClean="0"/>
              <a:t>Task 3</a:t>
            </a:r>
            <a:r>
              <a:rPr lang="en-GB" sz="2800" dirty="0" smtClean="0"/>
              <a:t>, </a:t>
            </a:r>
            <a:r>
              <a:rPr lang="en-GB" sz="2800" b="1" dirty="0"/>
              <a:t>Q</a:t>
            </a:r>
            <a:r>
              <a:rPr lang="en-GB" sz="2800" b="1" dirty="0" smtClean="0"/>
              <a:t>uestions 5</a:t>
            </a:r>
            <a:r>
              <a:rPr lang="en-GB" sz="2800" dirty="0" smtClean="0"/>
              <a:t> and </a:t>
            </a:r>
            <a:r>
              <a:rPr lang="en-GB" sz="2800" b="1" dirty="0" smtClean="0"/>
              <a:t>6</a:t>
            </a:r>
            <a:endParaRPr lang="en-GB" sz="2800" b="1" dirty="0"/>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32831"/>
          <a:stretch/>
        </p:blipFill>
        <p:spPr>
          <a:xfrm>
            <a:off x="0" y="2761306"/>
            <a:ext cx="9144000" cy="4096693"/>
          </a:xfrm>
          <a:prstGeom prst="rect">
            <a:avLst/>
          </a:prstGeom>
        </p:spPr>
      </p:pic>
    </p:spTree>
    <p:extLst>
      <p:ext uri="{BB962C8B-B14F-4D97-AF65-F5344CB8AC3E}">
        <p14:creationId xmlns:p14="http://schemas.microsoft.com/office/powerpoint/2010/main" val="332103912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rPr lang="en-GB" dirty="0" smtClean="0"/>
              <a:t>Recap</a:t>
            </a:r>
            <a:endParaRPr lang="en-GB" dirty="0"/>
          </a:p>
        </p:txBody>
      </p:sp>
      <p:sp>
        <p:nvSpPr>
          <p:cNvPr id="5" name="Text Placeholder 4"/>
          <p:cNvSpPr>
            <a:spLocks noGrp="1"/>
          </p:cNvSpPr>
          <p:nvPr>
            <p:ph type="body" sz="quarter" idx="14"/>
          </p:nvPr>
        </p:nvSpPr>
        <p:spPr/>
        <p:txBody>
          <a:bodyPr/>
          <a:lstStyle/>
          <a:p>
            <a:r>
              <a:rPr lang="en-GB" dirty="0" smtClean="0"/>
              <a:t>There are three types of iteration:</a:t>
            </a:r>
          </a:p>
          <a:p>
            <a:pPr lvl="1"/>
            <a:r>
              <a:rPr lang="en-GB" dirty="0" smtClean="0"/>
              <a:t>Indefinite iteration with the condition tested at the start of the loop</a:t>
            </a:r>
          </a:p>
          <a:p>
            <a:pPr lvl="1"/>
            <a:r>
              <a:rPr lang="en-GB" dirty="0" smtClean="0"/>
              <a:t>Indefinite iteration with the condition tested at the end of the loop</a:t>
            </a:r>
          </a:p>
          <a:p>
            <a:pPr lvl="1"/>
            <a:r>
              <a:rPr lang="en-GB" dirty="0" smtClean="0"/>
              <a:t>Definite iteration where the loop is performed a given number of times</a:t>
            </a:r>
          </a:p>
          <a:p>
            <a:r>
              <a:rPr lang="en-GB" dirty="0" smtClean="0"/>
              <a:t>Can you give an example of each?</a:t>
            </a:r>
            <a:endParaRPr lang="en-GB" dirty="0"/>
          </a:p>
        </p:txBody>
      </p:sp>
    </p:spTree>
    <p:extLst>
      <p:ext uri="{BB962C8B-B14F-4D97-AF65-F5344CB8AC3E}">
        <p14:creationId xmlns:p14="http://schemas.microsoft.com/office/powerpoint/2010/main" val="19351360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7261621"/>
      </p:ext>
    </p:extLst>
  </p:cSld>
  <p:clrMapOvr>
    <a:masterClrMapping/>
  </p:clrMapOvr>
</p:sld>
</file>

<file path=ppt/theme/theme1.xml><?xml version="1.0" encoding="utf-8"?>
<a:theme xmlns:a="http://schemas.openxmlformats.org/drawingml/2006/main" name="Unit 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Unit 1</Template>
  <TotalTime>823</TotalTime>
  <Words>871</Words>
  <Application>Microsoft Office PowerPoint</Application>
  <PresentationFormat>On-screen Show (4:3)</PresentationFormat>
  <Paragraphs>185</Paragraphs>
  <Slides>23</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Museo 900</vt:lpstr>
      <vt:lpstr>Museo 100</vt:lpstr>
      <vt:lpstr>Calibri</vt:lpstr>
      <vt:lpstr>Consolas</vt:lpstr>
      <vt:lpstr>Museo 700</vt:lpstr>
      <vt:lpstr>Arial</vt:lpstr>
      <vt:lpstr>Wingdings</vt:lpstr>
      <vt:lpstr>Museo 500</vt:lpstr>
      <vt:lpstr>Museo900-Regular</vt:lpstr>
      <vt:lpstr>Unit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PG Online Ltd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Patricia Heathcote</dc:creator>
  <cp:lastModifiedBy>Patricia Heathcote</cp:lastModifiedBy>
  <cp:revision>29</cp:revision>
  <dcterms:created xsi:type="dcterms:W3CDTF">2015-05-23T17:01:51Z</dcterms:created>
  <dcterms:modified xsi:type="dcterms:W3CDTF">2016-04-16T15:12:01Z</dcterms:modified>
</cp:coreProperties>
</file>